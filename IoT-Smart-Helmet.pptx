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6" r:id="rId5"/>
    <p:sldId id="259" r:id="rId6"/>
    <p:sldId id="260" r:id="rId7"/>
    <p:sldId id="261" r:id="rId8"/>
    <p:sldId id="262" r:id="rId9"/>
    <p:sldId id="263" r:id="rId10"/>
    <p:sldId id="264" r:id="rId11"/>
    <p:sldId id="265" r:id="rId12"/>
  </p:sldIdLst>
  <p:sldSz cx="18288000" cy="10287000"/>
  <p:notesSz cx="6858000" cy="9144000"/>
  <p:embeddedFontLst>
    <p:embeddedFont>
      <p:font typeface="Akzidenz-Grotesk Bold" panose="020B0604020202020204" charset="0"/>
      <p:regular r:id="rId13"/>
    </p:embeddedFont>
    <p:embeddedFont>
      <p:font typeface="Akzidenz-Grotesk Heavy" panose="020B0604020202020204" charset="0"/>
      <p:regular r:id="rId14"/>
    </p:embeddedFont>
    <p:embeddedFont>
      <p:font typeface="Open Sauce" panose="020B0604020202020204" charset="0"/>
      <p:regular r:id="rId15"/>
    </p:embeddedFont>
    <p:embeddedFont>
      <p:font typeface="Open Sauce Bold" panose="020B0604020202020204" charset="0"/>
      <p:regular r:id="rId16"/>
    </p:embeddedFont>
    <p:embeddedFont>
      <p:font typeface="Open Sauce Heavy"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9.png"/><Relationship Id="rId3" Type="http://schemas.openxmlformats.org/officeDocument/2006/relationships/image" Target="../media/image14.svg"/><Relationship Id="rId7" Type="http://schemas.openxmlformats.org/officeDocument/2006/relationships/image" Target="../media/image17.png"/><Relationship Id="rId12"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7.png"/><Relationship Id="rId5" Type="http://schemas.openxmlformats.org/officeDocument/2006/relationships/image" Target="../media/image4.svg"/><Relationship Id="rId10" Type="http://schemas.openxmlformats.org/officeDocument/2006/relationships/image" Target="../media/image6.png"/><Relationship Id="rId4" Type="http://schemas.openxmlformats.org/officeDocument/2006/relationships/image" Target="../media/image15.png"/><Relationship Id="rId9" Type="http://schemas.openxmlformats.org/officeDocument/2006/relationships/image" Target="../media/image5.png"/><Relationship Id="rId1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19.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20.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2.png"/><Relationship Id="rId7"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11" Type="http://schemas.openxmlformats.org/officeDocument/2006/relationships/image" Target="../media/image23.png"/><Relationship Id="rId5" Type="http://schemas.openxmlformats.org/officeDocument/2006/relationships/image" Target="../media/image24.png"/><Relationship Id="rId10" Type="http://schemas.openxmlformats.org/officeDocument/2006/relationships/image" Target="../media/image9.png"/><Relationship Id="rId4" Type="http://schemas.openxmlformats.org/officeDocument/2006/relationships/image" Target="../media/image4.sv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6.svg"/><Relationship Id="rId7" Type="http://schemas.openxmlformats.org/officeDocument/2006/relationships/image" Target="../media/image8.png"/><Relationship Id="rId2" Type="http://schemas.openxmlformats.org/officeDocument/2006/relationships/image" Target="../media/image25.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grpSp>
        <p:nvGrpSpPr>
          <p:cNvPr id="2" name="Group 2"/>
          <p:cNvGrpSpPr/>
          <p:nvPr/>
        </p:nvGrpSpPr>
        <p:grpSpPr>
          <a:xfrm>
            <a:off x="584013" y="1956537"/>
            <a:ext cx="17292075" cy="8091720"/>
            <a:chOff x="0" y="0"/>
            <a:chExt cx="4599619" cy="2732206"/>
          </a:xfrm>
        </p:grpSpPr>
        <p:sp>
          <p:nvSpPr>
            <p:cNvPr id="3" name="Freeform 3"/>
            <p:cNvSpPr/>
            <p:nvPr/>
          </p:nvSpPr>
          <p:spPr>
            <a:xfrm>
              <a:off x="0" y="0"/>
              <a:ext cx="4599619" cy="2732206"/>
            </a:xfrm>
            <a:custGeom>
              <a:avLst/>
              <a:gdLst/>
              <a:ahLst/>
              <a:cxnLst/>
              <a:rect l="l" t="t" r="r" b="b"/>
              <a:pathLst>
                <a:path w="4599619" h="2732206">
                  <a:moveTo>
                    <a:pt x="44330" y="0"/>
                  </a:moveTo>
                  <a:lnTo>
                    <a:pt x="4555289" y="0"/>
                  </a:lnTo>
                  <a:cubicBezTo>
                    <a:pt x="4579772" y="0"/>
                    <a:pt x="4599619" y="19847"/>
                    <a:pt x="4599619" y="44330"/>
                  </a:cubicBezTo>
                  <a:lnTo>
                    <a:pt x="4599619" y="2687876"/>
                  </a:lnTo>
                  <a:cubicBezTo>
                    <a:pt x="4599619" y="2699633"/>
                    <a:pt x="4594948" y="2710909"/>
                    <a:pt x="4586635" y="2719222"/>
                  </a:cubicBezTo>
                  <a:cubicBezTo>
                    <a:pt x="4578321" y="2727536"/>
                    <a:pt x="4567046" y="2732206"/>
                    <a:pt x="4555289" y="2732206"/>
                  </a:cubicBezTo>
                  <a:lnTo>
                    <a:pt x="44330" y="2732206"/>
                  </a:lnTo>
                  <a:cubicBezTo>
                    <a:pt x="32573" y="2732206"/>
                    <a:pt x="21298" y="2727536"/>
                    <a:pt x="12984" y="2719222"/>
                  </a:cubicBezTo>
                  <a:cubicBezTo>
                    <a:pt x="4670" y="2710909"/>
                    <a:pt x="0" y="2699633"/>
                    <a:pt x="0" y="2687876"/>
                  </a:cubicBezTo>
                  <a:lnTo>
                    <a:pt x="0" y="44330"/>
                  </a:lnTo>
                  <a:cubicBezTo>
                    <a:pt x="0" y="32573"/>
                    <a:pt x="4670" y="21298"/>
                    <a:pt x="12984" y="12984"/>
                  </a:cubicBezTo>
                  <a:cubicBezTo>
                    <a:pt x="21298" y="4670"/>
                    <a:pt x="32573" y="0"/>
                    <a:pt x="44330" y="0"/>
                  </a:cubicBezTo>
                  <a:close/>
                </a:path>
              </a:pathLst>
            </a:custGeom>
            <a:solidFill>
              <a:srgbClr val="D6FF3F"/>
            </a:solidFill>
          </p:spPr>
          <p:txBody>
            <a:bodyPr/>
            <a:lstStyle/>
            <a:p>
              <a:endParaRPr lang="en-IN" dirty="0"/>
            </a:p>
          </p:txBody>
        </p:sp>
        <p:sp>
          <p:nvSpPr>
            <p:cNvPr id="4" name="TextBox 4"/>
            <p:cNvSpPr txBox="1"/>
            <p:nvPr/>
          </p:nvSpPr>
          <p:spPr>
            <a:xfrm>
              <a:off x="0" y="-38100"/>
              <a:ext cx="4599619" cy="2770306"/>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a:off x="16481053" y="1056290"/>
            <a:ext cx="283746" cy="283746"/>
          </a:xfrm>
          <a:custGeom>
            <a:avLst/>
            <a:gdLst/>
            <a:ahLst/>
            <a:cxnLst/>
            <a:rect l="l" t="t" r="r" b="b"/>
            <a:pathLst>
              <a:path w="283746" h="283746">
                <a:moveTo>
                  <a:pt x="0" y="0"/>
                </a:moveTo>
                <a:lnTo>
                  <a:pt x="283747" y="0"/>
                </a:lnTo>
                <a:lnTo>
                  <a:pt x="283747" y="283746"/>
                </a:lnTo>
                <a:lnTo>
                  <a:pt x="0" y="2837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8" name="Freeform 18"/>
          <p:cNvSpPr/>
          <p:nvPr/>
        </p:nvSpPr>
        <p:spPr>
          <a:xfrm>
            <a:off x="16829744" y="1303313"/>
            <a:ext cx="283746" cy="283746"/>
          </a:xfrm>
          <a:custGeom>
            <a:avLst/>
            <a:gdLst/>
            <a:ahLst/>
            <a:cxnLst/>
            <a:rect l="l" t="t" r="r" b="b"/>
            <a:pathLst>
              <a:path w="283746" h="283746">
                <a:moveTo>
                  <a:pt x="0" y="0"/>
                </a:moveTo>
                <a:lnTo>
                  <a:pt x="283746" y="0"/>
                </a:lnTo>
                <a:lnTo>
                  <a:pt x="283746" y="283746"/>
                </a:lnTo>
                <a:lnTo>
                  <a:pt x="0" y="283746"/>
                </a:lnTo>
                <a:lnTo>
                  <a:pt x="0" y="0"/>
                </a:lnTo>
                <a:close/>
              </a:path>
            </a:pathLst>
          </a:custGeom>
          <a:blipFill>
            <a:blip>
              <a:extLst>
                <a:ext uri="{96DAC541-7B7A-43D3-8B79-37D633B846F1}">
                  <asvg:svgBlip xmlns:asvg="http://schemas.microsoft.com/office/drawing/2016/SVG/main" r:embed="rId3"/>
                </a:ext>
              </a:extLst>
            </a:blip>
            <a:stretch>
              <a:fillRect/>
            </a:stretch>
          </a:blipFill>
          <a:ln cap="rnd">
            <a:noFill/>
            <a:prstDash val="solid"/>
            <a:round/>
          </a:ln>
        </p:spPr>
      </p:sp>
      <p:sp>
        <p:nvSpPr>
          <p:cNvPr id="19" name="Freeform 19"/>
          <p:cNvSpPr/>
          <p:nvPr/>
        </p:nvSpPr>
        <p:spPr>
          <a:xfrm>
            <a:off x="16132227" y="1056290"/>
            <a:ext cx="283746" cy="283746"/>
          </a:xfrm>
          <a:custGeom>
            <a:avLst/>
            <a:gdLst/>
            <a:ahLst/>
            <a:cxnLst/>
            <a:rect l="l" t="t" r="r" b="b"/>
            <a:pathLst>
              <a:path w="283746" h="283746">
                <a:moveTo>
                  <a:pt x="0" y="0"/>
                </a:moveTo>
                <a:lnTo>
                  <a:pt x="283746" y="0"/>
                </a:lnTo>
                <a:lnTo>
                  <a:pt x="283746" y="283746"/>
                </a:lnTo>
                <a:lnTo>
                  <a:pt x="0" y="28374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20" name="Group 20"/>
          <p:cNvGrpSpPr/>
          <p:nvPr/>
        </p:nvGrpSpPr>
        <p:grpSpPr>
          <a:xfrm>
            <a:off x="654573" y="2554374"/>
            <a:ext cx="7453135" cy="7297265"/>
            <a:chOff x="0" y="0"/>
            <a:chExt cx="1154686" cy="1130537"/>
          </a:xfrm>
        </p:grpSpPr>
        <p:sp>
          <p:nvSpPr>
            <p:cNvPr id="21" name="Freeform 21"/>
            <p:cNvSpPr/>
            <p:nvPr/>
          </p:nvSpPr>
          <p:spPr>
            <a:xfrm>
              <a:off x="0" y="0"/>
              <a:ext cx="1154686" cy="1130537"/>
            </a:xfrm>
            <a:custGeom>
              <a:avLst/>
              <a:gdLst/>
              <a:ahLst/>
              <a:cxnLst/>
              <a:rect l="l" t="t" r="r" b="b"/>
              <a:pathLst>
                <a:path w="1154686" h="1130537">
                  <a:moveTo>
                    <a:pt x="77906" y="0"/>
                  </a:moveTo>
                  <a:lnTo>
                    <a:pt x="1076780" y="0"/>
                  </a:lnTo>
                  <a:cubicBezTo>
                    <a:pt x="1097442" y="0"/>
                    <a:pt x="1117257" y="8208"/>
                    <a:pt x="1131867" y="22818"/>
                  </a:cubicBezTo>
                  <a:cubicBezTo>
                    <a:pt x="1146478" y="37428"/>
                    <a:pt x="1154686" y="57244"/>
                    <a:pt x="1154686" y="77906"/>
                  </a:cubicBezTo>
                  <a:lnTo>
                    <a:pt x="1154686" y="1052631"/>
                  </a:lnTo>
                  <a:cubicBezTo>
                    <a:pt x="1154686" y="1073293"/>
                    <a:pt x="1146478" y="1093109"/>
                    <a:pt x="1131867" y="1107719"/>
                  </a:cubicBezTo>
                  <a:cubicBezTo>
                    <a:pt x="1117257" y="1122329"/>
                    <a:pt x="1097442" y="1130537"/>
                    <a:pt x="1076780" y="1130537"/>
                  </a:cubicBezTo>
                  <a:lnTo>
                    <a:pt x="77906" y="1130537"/>
                  </a:lnTo>
                  <a:cubicBezTo>
                    <a:pt x="34880" y="1130537"/>
                    <a:pt x="0" y="1095658"/>
                    <a:pt x="0" y="1052631"/>
                  </a:cubicBezTo>
                  <a:lnTo>
                    <a:pt x="0" y="77906"/>
                  </a:lnTo>
                  <a:cubicBezTo>
                    <a:pt x="0" y="57244"/>
                    <a:pt x="8208" y="37428"/>
                    <a:pt x="22818" y="22818"/>
                  </a:cubicBezTo>
                  <a:cubicBezTo>
                    <a:pt x="37428" y="8208"/>
                    <a:pt x="57244" y="0"/>
                    <a:pt x="77906" y="0"/>
                  </a:cubicBezTo>
                  <a:close/>
                </a:path>
              </a:pathLst>
            </a:custGeom>
            <a:blipFill>
              <a:blip r:embed="rId4"/>
              <a:stretch>
                <a:fillRect l="-38624" r="-38624"/>
              </a:stretch>
            </a:blipFill>
          </p:spPr>
        </p:sp>
      </p:grpSp>
      <p:grpSp>
        <p:nvGrpSpPr>
          <p:cNvPr id="22" name="Group 22"/>
          <p:cNvGrpSpPr/>
          <p:nvPr/>
        </p:nvGrpSpPr>
        <p:grpSpPr>
          <a:xfrm>
            <a:off x="2190314" y="5746057"/>
            <a:ext cx="1344522" cy="134452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a:ln cap="sq">
              <a:noFill/>
              <a:prstDash val="solid"/>
              <a:miter/>
            </a:ln>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Freeform 25"/>
          <p:cNvSpPr/>
          <p:nvPr/>
        </p:nvSpPr>
        <p:spPr>
          <a:xfrm>
            <a:off x="1195837" y="3093835"/>
            <a:ext cx="668096" cy="668096"/>
          </a:xfrm>
          <a:custGeom>
            <a:avLst/>
            <a:gdLst/>
            <a:ahLst/>
            <a:cxnLst/>
            <a:rect l="l" t="t" r="r" b="b"/>
            <a:pathLst>
              <a:path w="668096" h="668096">
                <a:moveTo>
                  <a:pt x="0" y="0"/>
                </a:moveTo>
                <a:lnTo>
                  <a:pt x="668096" y="0"/>
                </a:lnTo>
                <a:lnTo>
                  <a:pt x="668096" y="668096"/>
                </a:lnTo>
                <a:lnTo>
                  <a:pt x="0" y="668096"/>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26" name="TextBox 26"/>
          <p:cNvSpPr txBox="1"/>
          <p:nvPr/>
        </p:nvSpPr>
        <p:spPr>
          <a:xfrm>
            <a:off x="8195657" y="1991272"/>
            <a:ext cx="9525719" cy="4924425"/>
          </a:xfrm>
          <a:prstGeom prst="rect">
            <a:avLst/>
          </a:prstGeom>
        </p:spPr>
        <p:txBody>
          <a:bodyPr wrap="square" lIns="0" tIns="0" rIns="0" bIns="0" rtlCol="0" anchor="t">
            <a:spAutoFit/>
          </a:bodyPr>
          <a:lstStyle/>
          <a:p>
            <a:pPr marL="0" lvl="0" indent="0" algn="r">
              <a:spcBef>
                <a:spcPct val="0"/>
              </a:spcBef>
            </a:pPr>
            <a:r>
              <a:rPr lang="en-US" sz="8000" b="1" spc="-246" dirty="0">
                <a:solidFill>
                  <a:srgbClr val="171717"/>
                </a:solidFill>
                <a:latin typeface="Akzidenz-Grotesk Heavy"/>
                <a:ea typeface="Akzidenz-Grotesk Heavy"/>
                <a:cs typeface="Akzidenz-Grotesk Heavy"/>
                <a:sym typeface="Akzidenz-Grotesk Heavy"/>
              </a:rPr>
              <a:t>INDUSTRIAL SMART SAFETY HELMET USING IIOT</a:t>
            </a:r>
          </a:p>
        </p:txBody>
      </p:sp>
      <p:grpSp>
        <p:nvGrpSpPr>
          <p:cNvPr id="27" name="Group 26">
            <a:extLst>
              <a:ext uri="{FF2B5EF4-FFF2-40B4-BE49-F238E27FC236}">
                <a16:creationId xmlns:a16="http://schemas.microsoft.com/office/drawing/2014/main" id="{83D0E376-2346-5D05-743F-02499D4059FD}"/>
              </a:ext>
            </a:extLst>
          </p:cNvPr>
          <p:cNvGrpSpPr/>
          <p:nvPr/>
        </p:nvGrpSpPr>
        <p:grpSpPr bwMode="auto">
          <a:xfrm>
            <a:off x="531210" y="255054"/>
            <a:ext cx="1288014" cy="1282909"/>
            <a:chOff x="-1" y="0"/>
            <a:chExt cx="1435" cy="1424"/>
          </a:xfrm>
        </p:grpSpPr>
        <p:grpSp>
          <p:nvGrpSpPr>
            <p:cNvPr id="28" name="Group 27">
              <a:extLst>
                <a:ext uri="{FF2B5EF4-FFF2-40B4-BE49-F238E27FC236}">
                  <a16:creationId xmlns:a16="http://schemas.microsoft.com/office/drawing/2014/main" id="{112FDD62-2C25-878F-016D-ABA046AD9D4F}"/>
                </a:ext>
              </a:extLst>
            </p:cNvPr>
            <p:cNvGrpSpPr>
              <a:grpSpLocks/>
            </p:cNvGrpSpPr>
            <p:nvPr/>
          </p:nvGrpSpPr>
          <p:grpSpPr bwMode="auto">
            <a:xfrm>
              <a:off x="-1" y="0"/>
              <a:ext cx="1336" cy="839"/>
              <a:chOff x="-1" y="0"/>
              <a:chExt cx="1336" cy="839"/>
            </a:xfrm>
          </p:grpSpPr>
          <p:pic>
            <p:nvPicPr>
              <p:cNvPr id="36" name="Picture 35">
                <a:extLst>
                  <a:ext uri="{FF2B5EF4-FFF2-40B4-BE49-F238E27FC236}">
                    <a16:creationId xmlns:a16="http://schemas.microsoft.com/office/drawing/2014/main" id="{B295CBE6-8F7C-9CCE-946C-6F6A6FF7DF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36">
                <a:extLst>
                  <a:ext uri="{FF2B5EF4-FFF2-40B4-BE49-F238E27FC236}">
                    <a16:creationId xmlns:a16="http://schemas.microsoft.com/office/drawing/2014/main" id="{E0B9E380-E2FD-C750-318A-73AFB691AE1D}"/>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8" name="Freeform 378">
                <a:extLst>
                  <a:ext uri="{FF2B5EF4-FFF2-40B4-BE49-F238E27FC236}">
                    <a16:creationId xmlns:a16="http://schemas.microsoft.com/office/drawing/2014/main" id="{70ACEB15-B49A-6BCC-89AF-5A2A66A0893F}"/>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9" name="Freeform 377">
                <a:extLst>
                  <a:ext uri="{FF2B5EF4-FFF2-40B4-BE49-F238E27FC236}">
                    <a16:creationId xmlns:a16="http://schemas.microsoft.com/office/drawing/2014/main" id="{925A8B8B-AA8A-ED94-CFB3-F21548A16532}"/>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0" name="Freeform 376">
                <a:extLst>
                  <a:ext uri="{FF2B5EF4-FFF2-40B4-BE49-F238E27FC236}">
                    <a16:creationId xmlns:a16="http://schemas.microsoft.com/office/drawing/2014/main" id="{51FF5B04-AC6A-C5A3-7DD6-C9AA1AD8FB15}"/>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1" name="AutoShape 375">
                <a:extLst>
                  <a:ext uri="{FF2B5EF4-FFF2-40B4-BE49-F238E27FC236}">
                    <a16:creationId xmlns:a16="http://schemas.microsoft.com/office/drawing/2014/main" id="{35EBDFF9-BA7A-E100-26C3-0E604FDBC124}"/>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9" name="Group 28">
              <a:extLst>
                <a:ext uri="{FF2B5EF4-FFF2-40B4-BE49-F238E27FC236}">
                  <a16:creationId xmlns:a16="http://schemas.microsoft.com/office/drawing/2014/main" id="{8A675257-29FF-2351-F217-B230065C1F0E}"/>
                </a:ext>
              </a:extLst>
            </p:cNvPr>
            <p:cNvGrpSpPr>
              <a:grpSpLocks/>
            </p:cNvGrpSpPr>
            <p:nvPr/>
          </p:nvGrpSpPr>
          <p:grpSpPr bwMode="auto">
            <a:xfrm>
              <a:off x="24" y="883"/>
              <a:ext cx="1410" cy="296"/>
              <a:chOff x="24" y="883"/>
              <a:chExt cx="1410" cy="296"/>
            </a:xfrm>
          </p:grpSpPr>
          <p:pic>
            <p:nvPicPr>
              <p:cNvPr id="33" name="Picture 32">
                <a:extLst>
                  <a:ext uri="{FF2B5EF4-FFF2-40B4-BE49-F238E27FC236}">
                    <a16:creationId xmlns:a16="http://schemas.microsoft.com/office/drawing/2014/main" id="{F2BF6D8A-7C0C-EA0B-BFEC-AFF36970D2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90F6EB7E-29C1-361F-C9A0-9564BC9257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5" name="AutoShape 371">
                <a:extLst>
                  <a:ext uri="{FF2B5EF4-FFF2-40B4-BE49-F238E27FC236}">
                    <a16:creationId xmlns:a16="http://schemas.microsoft.com/office/drawing/2014/main" id="{7ADD406D-14C2-D2C1-9A4B-C4427FD5EAF5}"/>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30" name="Group 29">
              <a:extLst>
                <a:ext uri="{FF2B5EF4-FFF2-40B4-BE49-F238E27FC236}">
                  <a16:creationId xmlns:a16="http://schemas.microsoft.com/office/drawing/2014/main" id="{F53E3371-D0E2-E806-2208-1557C87FF602}"/>
                </a:ext>
              </a:extLst>
            </p:cNvPr>
            <p:cNvGrpSpPr>
              <a:grpSpLocks/>
            </p:cNvGrpSpPr>
            <p:nvPr/>
          </p:nvGrpSpPr>
          <p:grpSpPr bwMode="auto">
            <a:xfrm>
              <a:off x="191" y="1279"/>
              <a:ext cx="1059" cy="145"/>
              <a:chOff x="191" y="1279"/>
              <a:chExt cx="1059" cy="145"/>
            </a:xfrm>
          </p:grpSpPr>
          <p:pic>
            <p:nvPicPr>
              <p:cNvPr id="31" name="Picture 30">
                <a:extLst>
                  <a:ext uri="{FF2B5EF4-FFF2-40B4-BE49-F238E27FC236}">
                    <a16:creationId xmlns:a16="http://schemas.microsoft.com/office/drawing/2014/main" id="{EA94E10D-8629-9D56-77CB-B147202224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F07392C9-B21E-886E-4C5E-209143E1439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4" name="Picture 43">
            <a:extLst>
              <a:ext uri="{FF2B5EF4-FFF2-40B4-BE49-F238E27FC236}">
                <a16:creationId xmlns:a16="http://schemas.microsoft.com/office/drawing/2014/main" id="{A259BD7E-23D0-E499-29B1-081B11F5330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6047288" y="255054"/>
            <a:ext cx="1828800" cy="900684"/>
          </a:xfrm>
          <a:prstGeom prst="rect">
            <a:avLst/>
          </a:prstGeom>
        </p:spPr>
      </p:pic>
      <p:sp>
        <p:nvSpPr>
          <p:cNvPr id="46" name="TextBox 45">
            <a:extLst>
              <a:ext uri="{FF2B5EF4-FFF2-40B4-BE49-F238E27FC236}">
                <a16:creationId xmlns:a16="http://schemas.microsoft.com/office/drawing/2014/main" id="{FC3383E6-DA53-2936-F996-B76B5B6E56AA}"/>
              </a:ext>
            </a:extLst>
          </p:cNvPr>
          <p:cNvSpPr txBox="1"/>
          <p:nvPr/>
        </p:nvSpPr>
        <p:spPr>
          <a:xfrm>
            <a:off x="8195657" y="7278943"/>
            <a:ext cx="5063143" cy="2771913"/>
          </a:xfrm>
          <a:prstGeom prst="rect">
            <a:avLst/>
          </a:prstGeom>
          <a:noFill/>
        </p:spPr>
        <p:txBody>
          <a:bodyPr wrap="square" rtlCol="0">
            <a:spAutoFit/>
          </a:bodyPr>
          <a:lstStyle/>
          <a:p>
            <a:r>
              <a:rPr lang="en-US" sz="2902" b="1" dirty="0">
                <a:latin typeface="Akzidenz-Grotesk Bold"/>
                <a:ea typeface="Akzidenz-Grotesk Bold"/>
                <a:cs typeface="Akzidenz-Grotesk Bold"/>
                <a:sym typeface="Akzidenz-Grotesk Bold"/>
              </a:rPr>
              <a:t>ARJUN V </a:t>
            </a:r>
          </a:p>
          <a:p>
            <a:r>
              <a:rPr lang="en-US" sz="2902" b="1" dirty="0">
                <a:latin typeface="Akzidenz-Grotesk Bold"/>
                <a:ea typeface="Akzidenz-Grotesk Bold"/>
                <a:cs typeface="Akzidenz-Grotesk Bold"/>
                <a:sym typeface="Akzidenz-Grotesk Bold"/>
              </a:rPr>
              <a:t>HARISH KUMAR S</a:t>
            </a:r>
          </a:p>
          <a:p>
            <a:r>
              <a:rPr lang="en-US" sz="2902" b="1" dirty="0">
                <a:latin typeface="Akzidenz-Grotesk Bold"/>
                <a:ea typeface="Akzidenz-Grotesk Bold"/>
                <a:cs typeface="Akzidenz-Grotesk Bold"/>
                <a:sym typeface="Akzidenz-Grotesk Bold"/>
              </a:rPr>
              <a:t>KAVYA SRI R D</a:t>
            </a:r>
          </a:p>
          <a:p>
            <a:r>
              <a:rPr lang="en-US" sz="2902" b="1" dirty="0">
                <a:latin typeface="Akzidenz-Grotesk Bold"/>
                <a:ea typeface="Akzidenz-Grotesk Bold"/>
                <a:cs typeface="Akzidenz-Grotesk Bold"/>
                <a:sym typeface="Akzidenz-Grotesk Bold"/>
              </a:rPr>
              <a:t>SAMHITA M</a:t>
            </a:r>
          </a:p>
          <a:p>
            <a:r>
              <a:rPr lang="en-US" sz="2902" b="1" dirty="0">
                <a:latin typeface="Akzidenz-Grotesk Bold"/>
                <a:ea typeface="Akzidenz-Grotesk Bold"/>
                <a:cs typeface="Akzidenz-Grotesk Bold"/>
                <a:sym typeface="Akzidenz-Grotesk Bold"/>
              </a:rPr>
              <a:t>SHREE VARSHA R K</a:t>
            </a:r>
          </a:p>
          <a:p>
            <a:pPr marL="0" lvl="1" indent="0">
              <a:spcBef>
                <a:spcPct val="0"/>
              </a:spcBef>
            </a:pPr>
            <a:r>
              <a:rPr lang="en-US" sz="2902" b="1" dirty="0">
                <a:latin typeface="Akzidenz-Grotesk Bold"/>
                <a:ea typeface="Akzidenz-Grotesk Bold"/>
                <a:cs typeface="Akzidenz-Grotesk Bold"/>
                <a:sym typeface="Akzidenz-Grotesk Bold"/>
              </a:rPr>
              <a:t>SRIDHARSHINI K</a:t>
            </a:r>
            <a:endParaRPr lang="en-IN" dirty="0"/>
          </a:p>
        </p:txBody>
      </p:sp>
      <p:sp>
        <p:nvSpPr>
          <p:cNvPr id="5" name="TextBox 4">
            <a:extLst>
              <a:ext uri="{FF2B5EF4-FFF2-40B4-BE49-F238E27FC236}">
                <a16:creationId xmlns:a16="http://schemas.microsoft.com/office/drawing/2014/main" id="{DB2AABBF-28DA-F239-3CF3-87291B7C4B8A}"/>
              </a:ext>
            </a:extLst>
          </p:cNvPr>
          <p:cNvSpPr txBox="1"/>
          <p:nvPr/>
        </p:nvSpPr>
        <p:spPr>
          <a:xfrm>
            <a:off x="8195657" y="6964530"/>
            <a:ext cx="2396143" cy="369332"/>
          </a:xfrm>
          <a:prstGeom prst="rect">
            <a:avLst/>
          </a:prstGeom>
          <a:noFill/>
        </p:spPr>
        <p:txBody>
          <a:bodyPr wrap="square" rtlCol="0">
            <a:spAutoFit/>
          </a:bodyPr>
          <a:lstStyle/>
          <a:p>
            <a:r>
              <a:rPr lang="en-IN" dirty="0"/>
              <a:t>Presentation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grpSp>
        <p:nvGrpSpPr>
          <p:cNvPr id="2" name="Group 2"/>
          <p:cNvGrpSpPr/>
          <p:nvPr/>
        </p:nvGrpSpPr>
        <p:grpSpPr>
          <a:xfrm>
            <a:off x="0" y="32385"/>
            <a:ext cx="18288000" cy="1545833"/>
            <a:chOff x="0" y="0"/>
            <a:chExt cx="4816593" cy="407133"/>
          </a:xfrm>
        </p:grpSpPr>
        <p:sp>
          <p:nvSpPr>
            <p:cNvPr id="3" name="Freeform 3"/>
            <p:cNvSpPr/>
            <p:nvPr/>
          </p:nvSpPr>
          <p:spPr>
            <a:xfrm>
              <a:off x="0" y="0"/>
              <a:ext cx="4816592" cy="407133"/>
            </a:xfrm>
            <a:custGeom>
              <a:avLst/>
              <a:gdLst/>
              <a:ahLst/>
              <a:cxnLst/>
              <a:rect l="l" t="t" r="r" b="b"/>
              <a:pathLst>
                <a:path w="4816592" h="407133">
                  <a:moveTo>
                    <a:pt x="0" y="0"/>
                  </a:moveTo>
                  <a:lnTo>
                    <a:pt x="4816592" y="0"/>
                  </a:lnTo>
                  <a:lnTo>
                    <a:pt x="4816592" y="407133"/>
                  </a:lnTo>
                  <a:lnTo>
                    <a:pt x="0" y="407133"/>
                  </a:lnTo>
                  <a:close/>
                </a:path>
              </a:pathLst>
            </a:custGeom>
            <a:solidFill>
              <a:srgbClr val="171717"/>
            </a:solidFill>
          </p:spPr>
        </p:sp>
        <p:sp>
          <p:nvSpPr>
            <p:cNvPr id="4" name="TextBox 4"/>
            <p:cNvSpPr txBox="1"/>
            <p:nvPr/>
          </p:nvSpPr>
          <p:spPr>
            <a:xfrm>
              <a:off x="0" y="-38100"/>
              <a:ext cx="4816593" cy="445233"/>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2292376" y="141891"/>
            <a:ext cx="3185304" cy="1020496"/>
            <a:chOff x="0" y="-83746"/>
            <a:chExt cx="4247072" cy="1360659"/>
          </a:xfrm>
        </p:grpSpPr>
        <p:grpSp>
          <p:nvGrpSpPr>
            <p:cNvPr id="10" name="Group 10"/>
            <p:cNvGrpSpPr/>
            <p:nvPr/>
          </p:nvGrpSpPr>
          <p:grpSpPr>
            <a:xfrm>
              <a:off x="0" y="-83746"/>
              <a:ext cx="4247072" cy="1360659"/>
              <a:chOff x="0" y="-38100"/>
              <a:chExt cx="1932203" cy="619031"/>
            </a:xfrm>
          </p:grpSpPr>
          <p:sp>
            <p:nvSpPr>
              <p:cNvPr id="11" name="Freeform 11"/>
              <p:cNvSpPr/>
              <p:nvPr/>
            </p:nvSpPr>
            <p:spPr>
              <a:xfrm>
                <a:off x="0" y="174531"/>
                <a:ext cx="1932203" cy="406400"/>
              </a:xfrm>
              <a:custGeom>
                <a:avLst/>
                <a:gdLst/>
                <a:ahLst/>
                <a:cxnLst/>
                <a:rect l="l" t="t" r="r" b="b"/>
                <a:pathLst>
                  <a:path w="1932203" h="406400">
                    <a:moveTo>
                      <a:pt x="1729003" y="0"/>
                    </a:moveTo>
                    <a:cubicBezTo>
                      <a:pt x="1841227" y="0"/>
                      <a:pt x="1932203" y="90976"/>
                      <a:pt x="1932203" y="203200"/>
                    </a:cubicBezTo>
                    <a:cubicBezTo>
                      <a:pt x="1932203" y="315424"/>
                      <a:pt x="1841227" y="406400"/>
                      <a:pt x="1729003" y="406400"/>
                    </a:cubicBezTo>
                    <a:lnTo>
                      <a:pt x="203200" y="406400"/>
                    </a:lnTo>
                    <a:cubicBezTo>
                      <a:pt x="90976" y="406400"/>
                      <a:pt x="0" y="315424"/>
                      <a:pt x="0" y="203200"/>
                    </a:cubicBezTo>
                    <a:cubicBezTo>
                      <a:pt x="0" y="90976"/>
                      <a:pt x="90976" y="0"/>
                      <a:pt x="203200" y="0"/>
                    </a:cubicBezTo>
                    <a:close/>
                  </a:path>
                </a:pathLst>
              </a:custGeom>
              <a:ln w="19050" cap="sq">
                <a:solidFill>
                  <a:srgbClr val="D6FF3F"/>
                </a:solidFill>
                <a:prstDash val="solid"/>
                <a:miter/>
              </a:ln>
            </p:spPr>
          </p:sp>
          <p:sp>
            <p:nvSpPr>
              <p:cNvPr id="12" name="TextBox 12"/>
              <p:cNvSpPr txBox="1"/>
              <p:nvPr/>
            </p:nvSpPr>
            <p:spPr>
              <a:xfrm>
                <a:off x="0" y="-38100"/>
                <a:ext cx="1932203" cy="444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14811" y="569074"/>
              <a:ext cx="4017451" cy="484294"/>
            </a:xfrm>
            <a:prstGeom prst="rect">
              <a:avLst/>
            </a:prstGeom>
          </p:spPr>
          <p:txBody>
            <a:bodyPr lIns="0" tIns="0" rIns="0" bIns="0" rtlCol="0" anchor="t">
              <a:spAutoFit/>
            </a:bodyPr>
            <a:lstStyle/>
            <a:p>
              <a:pPr algn="ctr">
                <a:lnSpc>
                  <a:spcPts val="3079"/>
                </a:lnSpc>
                <a:spcBef>
                  <a:spcPct val="0"/>
                </a:spcBef>
              </a:pPr>
              <a:r>
                <a:rPr lang="en-US" sz="2199" dirty="0">
                  <a:solidFill>
                    <a:srgbClr val="D6FF3F"/>
                  </a:solidFill>
                  <a:latin typeface="Open Sauce"/>
                  <a:ea typeface="Open Sauce"/>
                  <a:cs typeface="Open Sauce"/>
                  <a:sym typeface="Open Sauce"/>
                </a:rPr>
                <a:t>Problem Statement</a:t>
              </a:r>
            </a:p>
          </p:txBody>
        </p:sp>
      </p:grpSp>
      <p:grpSp>
        <p:nvGrpSpPr>
          <p:cNvPr id="14" name="Group 14"/>
          <p:cNvGrpSpPr/>
          <p:nvPr/>
        </p:nvGrpSpPr>
        <p:grpSpPr>
          <a:xfrm>
            <a:off x="1028700" y="1934022"/>
            <a:ext cx="8357883" cy="7941067"/>
            <a:chOff x="0" y="0"/>
            <a:chExt cx="1644438" cy="1562429"/>
          </a:xfrm>
        </p:grpSpPr>
        <p:sp>
          <p:nvSpPr>
            <p:cNvPr id="15" name="Freeform 15"/>
            <p:cNvSpPr/>
            <p:nvPr/>
          </p:nvSpPr>
          <p:spPr>
            <a:xfrm>
              <a:off x="0" y="0"/>
              <a:ext cx="1644438" cy="1562429"/>
            </a:xfrm>
            <a:custGeom>
              <a:avLst/>
              <a:gdLst/>
              <a:ahLst/>
              <a:cxnLst/>
              <a:rect l="l" t="t" r="r" b="b"/>
              <a:pathLst>
                <a:path w="1644438" h="1562429">
                  <a:moveTo>
                    <a:pt x="0" y="0"/>
                  </a:moveTo>
                  <a:lnTo>
                    <a:pt x="1644438" y="0"/>
                  </a:lnTo>
                  <a:lnTo>
                    <a:pt x="1644438" y="1562429"/>
                  </a:lnTo>
                  <a:lnTo>
                    <a:pt x="0" y="1562429"/>
                  </a:lnTo>
                  <a:close/>
                </a:path>
              </a:pathLst>
            </a:custGeom>
            <a:blipFill>
              <a:blip r:embed="rId2"/>
              <a:stretch>
                <a:fillRect t="-42121" b="-42121"/>
              </a:stretch>
            </a:blipFill>
          </p:spPr>
        </p:sp>
      </p:grpSp>
      <p:grpSp>
        <p:nvGrpSpPr>
          <p:cNvPr id="16" name="Group 16"/>
          <p:cNvGrpSpPr/>
          <p:nvPr/>
        </p:nvGrpSpPr>
        <p:grpSpPr>
          <a:xfrm>
            <a:off x="1028617" y="5690544"/>
            <a:ext cx="4131068" cy="4131068"/>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t="-21428" b="-21428"/>
              </a:stretch>
            </a:blipFill>
          </p:spPr>
        </p:sp>
      </p:grpSp>
      <p:sp>
        <p:nvSpPr>
          <p:cNvPr id="18" name="TextBox 18"/>
          <p:cNvSpPr txBox="1"/>
          <p:nvPr/>
        </p:nvSpPr>
        <p:spPr>
          <a:xfrm>
            <a:off x="10092870" y="2217500"/>
            <a:ext cx="6927196" cy="1942081"/>
          </a:xfrm>
          <a:prstGeom prst="rect">
            <a:avLst/>
          </a:prstGeom>
        </p:spPr>
        <p:txBody>
          <a:bodyPr lIns="0" tIns="0" rIns="0" bIns="0" rtlCol="0" anchor="t">
            <a:spAutoFit/>
          </a:bodyPr>
          <a:lstStyle/>
          <a:p>
            <a:pPr marL="0" lvl="0" indent="0" algn="l">
              <a:lnSpc>
                <a:spcPts val="6695"/>
              </a:lnSpc>
              <a:spcBef>
                <a:spcPct val="0"/>
              </a:spcBef>
            </a:pPr>
            <a:r>
              <a:rPr lang="en-US" sz="7785" b="1" spc="-280">
                <a:solidFill>
                  <a:srgbClr val="FFFFFF"/>
                </a:solidFill>
                <a:latin typeface="Akzidenz-Grotesk Bold"/>
                <a:ea typeface="Akzidenz-Grotesk Bold"/>
                <a:cs typeface="Akzidenz-Grotesk Bold"/>
                <a:sym typeface="Akzidenz-Grotesk Bold"/>
              </a:rPr>
              <a:t>THE SAFETY CHALLENGE</a:t>
            </a:r>
          </a:p>
        </p:txBody>
      </p:sp>
      <p:grpSp>
        <p:nvGrpSpPr>
          <p:cNvPr id="19" name="Group 19"/>
          <p:cNvGrpSpPr/>
          <p:nvPr/>
        </p:nvGrpSpPr>
        <p:grpSpPr>
          <a:xfrm>
            <a:off x="15875696" y="3585243"/>
            <a:ext cx="231692" cy="23169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FF3F"/>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0092870" y="4854286"/>
            <a:ext cx="6927196" cy="3526606"/>
          </a:xfrm>
          <a:prstGeom prst="rect">
            <a:avLst/>
          </a:prstGeom>
        </p:spPr>
        <p:txBody>
          <a:bodyPr lIns="0" tIns="0" rIns="0" bIns="0" rtlCol="0" anchor="t">
            <a:spAutoFit/>
          </a:bodyPr>
          <a:lstStyle/>
          <a:p>
            <a:pPr marL="0" lvl="0" indent="0" algn="just">
              <a:lnSpc>
                <a:spcPts val="2548"/>
              </a:lnSpc>
              <a:spcBef>
                <a:spcPct val="0"/>
              </a:spcBef>
            </a:pPr>
            <a:r>
              <a:rPr lang="en-US" sz="2400" dirty="0">
                <a:solidFill>
                  <a:srgbClr val="FFFFFF"/>
                </a:solidFill>
                <a:latin typeface="Open Sauce"/>
                <a:ea typeface="Open Sauce"/>
                <a:cs typeface="Open Sauce"/>
                <a:sym typeface="Open Sauce"/>
              </a:rPr>
              <a:t>Industrial environments like factories, mines, and construction sites are highly prone to critical accidents and severe health risks. Currently, operations suffer from a lack of real-time monitoring, leading to unmitigated worker falls, dangerous exposure to harmful gases, and unaddressed heat stress or fatigue. Because these hazards go unnoticed, emergency response is frequently delayed, escalating minor incidents into severe workplace tragedies.</a:t>
            </a:r>
          </a:p>
        </p:txBody>
      </p:sp>
      <p:sp>
        <p:nvSpPr>
          <p:cNvPr id="25" name="AutoShape 11">
            <a:extLst>
              <a:ext uri="{FF2B5EF4-FFF2-40B4-BE49-F238E27FC236}">
                <a16:creationId xmlns:a16="http://schemas.microsoft.com/office/drawing/2014/main" id="{804F1DFB-0508-AECF-63A4-BE8A26A07EA7}"/>
              </a:ext>
            </a:extLst>
          </p:cNvPr>
          <p:cNvSpPr/>
          <p:nvPr/>
        </p:nvSpPr>
        <p:spPr>
          <a:xfrm flipV="1">
            <a:off x="6248400" y="831409"/>
            <a:ext cx="7960575" cy="0"/>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26" name="Group 25">
            <a:extLst>
              <a:ext uri="{FF2B5EF4-FFF2-40B4-BE49-F238E27FC236}">
                <a16:creationId xmlns:a16="http://schemas.microsoft.com/office/drawing/2014/main" id="{C60B307B-3B0C-EC7F-2D23-E71F6C8BA401}"/>
              </a:ext>
            </a:extLst>
          </p:cNvPr>
          <p:cNvGrpSpPr/>
          <p:nvPr/>
        </p:nvGrpSpPr>
        <p:grpSpPr bwMode="auto">
          <a:xfrm>
            <a:off x="384610" y="194092"/>
            <a:ext cx="1288014" cy="1282909"/>
            <a:chOff x="-1" y="0"/>
            <a:chExt cx="1435" cy="1424"/>
          </a:xfrm>
        </p:grpSpPr>
        <p:grpSp>
          <p:nvGrpSpPr>
            <p:cNvPr id="27" name="Group 26">
              <a:extLst>
                <a:ext uri="{FF2B5EF4-FFF2-40B4-BE49-F238E27FC236}">
                  <a16:creationId xmlns:a16="http://schemas.microsoft.com/office/drawing/2014/main" id="{CC10C898-62F9-5D82-2E28-5510C98924B0}"/>
                </a:ext>
              </a:extLst>
            </p:cNvPr>
            <p:cNvGrpSpPr>
              <a:grpSpLocks/>
            </p:cNvGrpSpPr>
            <p:nvPr/>
          </p:nvGrpSpPr>
          <p:grpSpPr bwMode="auto">
            <a:xfrm>
              <a:off x="-1" y="0"/>
              <a:ext cx="1336" cy="839"/>
              <a:chOff x="-1" y="0"/>
              <a:chExt cx="1336" cy="839"/>
            </a:xfrm>
          </p:grpSpPr>
          <p:pic>
            <p:nvPicPr>
              <p:cNvPr id="35" name="Picture 34">
                <a:extLst>
                  <a:ext uri="{FF2B5EF4-FFF2-40B4-BE49-F238E27FC236}">
                    <a16:creationId xmlns:a16="http://schemas.microsoft.com/office/drawing/2014/main" id="{078300EC-DFA7-834D-8583-C2E5A640FC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5">
                <a:extLst>
                  <a:ext uri="{FF2B5EF4-FFF2-40B4-BE49-F238E27FC236}">
                    <a16:creationId xmlns:a16="http://schemas.microsoft.com/office/drawing/2014/main" id="{7E6BE6EA-3AA8-FB44-40B1-588025504108}"/>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7" name="Freeform 378">
                <a:extLst>
                  <a:ext uri="{FF2B5EF4-FFF2-40B4-BE49-F238E27FC236}">
                    <a16:creationId xmlns:a16="http://schemas.microsoft.com/office/drawing/2014/main" id="{C7BEDDD5-F00D-D2FF-B785-858FBC8986FA}"/>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8" name="Freeform 377">
                <a:extLst>
                  <a:ext uri="{FF2B5EF4-FFF2-40B4-BE49-F238E27FC236}">
                    <a16:creationId xmlns:a16="http://schemas.microsoft.com/office/drawing/2014/main" id="{CDA480A3-4D58-6C4B-F8B9-603D7C55014C}"/>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9" name="Freeform 376">
                <a:extLst>
                  <a:ext uri="{FF2B5EF4-FFF2-40B4-BE49-F238E27FC236}">
                    <a16:creationId xmlns:a16="http://schemas.microsoft.com/office/drawing/2014/main" id="{A037F134-531C-56EF-C102-C8EC51739811}"/>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0" name="AutoShape 375">
                <a:extLst>
                  <a:ext uri="{FF2B5EF4-FFF2-40B4-BE49-F238E27FC236}">
                    <a16:creationId xmlns:a16="http://schemas.microsoft.com/office/drawing/2014/main" id="{F55BED54-C629-5AF3-1B31-EDEA48358D14}"/>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8" name="Group 27">
              <a:extLst>
                <a:ext uri="{FF2B5EF4-FFF2-40B4-BE49-F238E27FC236}">
                  <a16:creationId xmlns:a16="http://schemas.microsoft.com/office/drawing/2014/main" id="{04585BF6-C99D-C8A0-5544-3A8927BB5D96}"/>
                </a:ext>
              </a:extLst>
            </p:cNvPr>
            <p:cNvGrpSpPr>
              <a:grpSpLocks/>
            </p:cNvGrpSpPr>
            <p:nvPr/>
          </p:nvGrpSpPr>
          <p:grpSpPr bwMode="auto">
            <a:xfrm>
              <a:off x="24" y="883"/>
              <a:ext cx="1410" cy="296"/>
              <a:chOff x="24" y="883"/>
              <a:chExt cx="1410" cy="296"/>
            </a:xfrm>
          </p:grpSpPr>
          <p:pic>
            <p:nvPicPr>
              <p:cNvPr id="32" name="Picture 31">
                <a:extLst>
                  <a:ext uri="{FF2B5EF4-FFF2-40B4-BE49-F238E27FC236}">
                    <a16:creationId xmlns:a16="http://schemas.microsoft.com/office/drawing/2014/main" id="{C669344A-92A3-6EFC-5509-F85B5E1E5D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61664EC3-6487-3181-EB1E-47A429544A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4" name="AutoShape 371">
                <a:extLst>
                  <a:ext uri="{FF2B5EF4-FFF2-40B4-BE49-F238E27FC236}">
                    <a16:creationId xmlns:a16="http://schemas.microsoft.com/office/drawing/2014/main" id="{8B876AE0-ED2E-0DE6-4C7A-581324BB394C}"/>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9" name="Group 28">
              <a:extLst>
                <a:ext uri="{FF2B5EF4-FFF2-40B4-BE49-F238E27FC236}">
                  <a16:creationId xmlns:a16="http://schemas.microsoft.com/office/drawing/2014/main" id="{FCECC8BB-7BB2-6127-A92E-0B9C6CD8672E}"/>
                </a:ext>
              </a:extLst>
            </p:cNvPr>
            <p:cNvGrpSpPr>
              <a:grpSpLocks/>
            </p:cNvGrpSpPr>
            <p:nvPr/>
          </p:nvGrpSpPr>
          <p:grpSpPr bwMode="auto">
            <a:xfrm>
              <a:off x="191" y="1279"/>
              <a:ext cx="1059" cy="145"/>
              <a:chOff x="191" y="1279"/>
              <a:chExt cx="1059" cy="145"/>
            </a:xfrm>
          </p:grpSpPr>
          <p:pic>
            <p:nvPicPr>
              <p:cNvPr id="30" name="Picture 29">
                <a:extLst>
                  <a:ext uri="{FF2B5EF4-FFF2-40B4-BE49-F238E27FC236}">
                    <a16:creationId xmlns:a16="http://schemas.microsoft.com/office/drawing/2014/main" id="{58150E03-0E02-111E-51D3-5B779999DA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F1A9EBC5-0AE3-48A9-385E-D222EAEE5A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2" name="Picture 41">
            <a:extLst>
              <a:ext uri="{FF2B5EF4-FFF2-40B4-BE49-F238E27FC236}">
                <a16:creationId xmlns:a16="http://schemas.microsoft.com/office/drawing/2014/main" id="{2F39EE2F-8F26-5FE6-7612-77240D851A7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111041" y="274113"/>
            <a:ext cx="1828800" cy="9006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grpSp>
        <p:nvGrpSpPr>
          <p:cNvPr id="6" name="Group 6"/>
          <p:cNvGrpSpPr/>
          <p:nvPr/>
        </p:nvGrpSpPr>
        <p:grpSpPr>
          <a:xfrm>
            <a:off x="823356" y="2335982"/>
            <a:ext cx="3185304" cy="669965"/>
            <a:chOff x="0" y="0"/>
            <a:chExt cx="4247072" cy="893286"/>
          </a:xfrm>
        </p:grpSpPr>
        <p:grpSp>
          <p:nvGrpSpPr>
            <p:cNvPr id="7" name="Group 7"/>
            <p:cNvGrpSpPr/>
            <p:nvPr/>
          </p:nvGrpSpPr>
          <p:grpSpPr>
            <a:xfrm>
              <a:off x="0" y="0"/>
              <a:ext cx="4247072" cy="893286"/>
              <a:chOff x="0" y="0"/>
              <a:chExt cx="1932203" cy="406400"/>
            </a:xfrm>
          </p:grpSpPr>
          <p:sp>
            <p:nvSpPr>
              <p:cNvPr id="8" name="Freeform 8"/>
              <p:cNvSpPr/>
              <p:nvPr/>
            </p:nvSpPr>
            <p:spPr>
              <a:xfrm>
                <a:off x="0" y="0"/>
                <a:ext cx="1932203" cy="406400"/>
              </a:xfrm>
              <a:custGeom>
                <a:avLst/>
                <a:gdLst/>
                <a:ahLst/>
                <a:cxnLst/>
                <a:rect l="l" t="t" r="r" b="b"/>
                <a:pathLst>
                  <a:path w="1932203" h="406400">
                    <a:moveTo>
                      <a:pt x="1729003" y="0"/>
                    </a:moveTo>
                    <a:cubicBezTo>
                      <a:pt x="1841227" y="0"/>
                      <a:pt x="1932203" y="90976"/>
                      <a:pt x="1932203" y="203200"/>
                    </a:cubicBezTo>
                    <a:cubicBezTo>
                      <a:pt x="1932203" y="315424"/>
                      <a:pt x="1841227" y="406400"/>
                      <a:pt x="1729003" y="406400"/>
                    </a:cubicBezTo>
                    <a:lnTo>
                      <a:pt x="203200" y="406400"/>
                    </a:lnTo>
                    <a:cubicBezTo>
                      <a:pt x="90976" y="406400"/>
                      <a:pt x="0" y="315424"/>
                      <a:pt x="0" y="203200"/>
                    </a:cubicBezTo>
                    <a:cubicBezTo>
                      <a:pt x="0" y="90976"/>
                      <a:pt x="90976" y="0"/>
                      <a:pt x="203200" y="0"/>
                    </a:cubicBezTo>
                    <a:close/>
                  </a:path>
                </a:pathLst>
              </a:custGeom>
              <a:ln w="19050" cap="sq">
                <a:solidFill>
                  <a:srgbClr val="D6FF3F"/>
                </a:solidFill>
                <a:prstDash val="solid"/>
                <a:miter/>
              </a:ln>
            </p:spPr>
          </p:sp>
          <p:sp>
            <p:nvSpPr>
              <p:cNvPr id="9" name="TextBox 9"/>
              <p:cNvSpPr txBox="1"/>
              <p:nvPr/>
            </p:nvSpPr>
            <p:spPr>
              <a:xfrm>
                <a:off x="0" y="-38100"/>
                <a:ext cx="1932203" cy="444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14811" y="185446"/>
              <a:ext cx="4017450" cy="484294"/>
            </a:xfrm>
            <a:prstGeom prst="rect">
              <a:avLst/>
            </a:prstGeom>
          </p:spPr>
          <p:txBody>
            <a:bodyPr lIns="0" tIns="0" rIns="0" bIns="0" rtlCol="0" anchor="t">
              <a:spAutoFit/>
            </a:bodyPr>
            <a:lstStyle/>
            <a:p>
              <a:pPr algn="ctr">
                <a:lnSpc>
                  <a:spcPts val="3079"/>
                </a:lnSpc>
                <a:spcBef>
                  <a:spcPct val="0"/>
                </a:spcBef>
              </a:pPr>
              <a:r>
                <a:rPr lang="en-US" sz="2199" dirty="0">
                  <a:solidFill>
                    <a:srgbClr val="D6FF3F"/>
                  </a:solidFill>
                  <a:latin typeface="Open Sauce"/>
                  <a:ea typeface="Open Sauce"/>
                  <a:cs typeface="Open Sauce"/>
                  <a:sym typeface="Open Sauce"/>
                </a:rPr>
                <a:t>Architecture</a:t>
              </a:r>
            </a:p>
          </p:txBody>
        </p:sp>
      </p:grpSp>
      <p:grpSp>
        <p:nvGrpSpPr>
          <p:cNvPr id="11" name="Group 11"/>
          <p:cNvGrpSpPr/>
          <p:nvPr/>
        </p:nvGrpSpPr>
        <p:grpSpPr>
          <a:xfrm>
            <a:off x="584978" y="3593344"/>
            <a:ext cx="3845825" cy="4544748"/>
            <a:chOff x="0" y="0"/>
            <a:chExt cx="1270563" cy="1501469"/>
          </a:xfrm>
        </p:grpSpPr>
        <p:sp>
          <p:nvSpPr>
            <p:cNvPr id="12" name="Freeform 12"/>
            <p:cNvSpPr/>
            <p:nvPr/>
          </p:nvSpPr>
          <p:spPr>
            <a:xfrm>
              <a:off x="0" y="0"/>
              <a:ext cx="1270563" cy="1501469"/>
            </a:xfrm>
            <a:custGeom>
              <a:avLst/>
              <a:gdLst/>
              <a:ahLst/>
              <a:cxnLst/>
              <a:rect l="l" t="t" r="r" b="b"/>
              <a:pathLst>
                <a:path w="1270563" h="1501469">
                  <a:moveTo>
                    <a:pt x="72471" y="0"/>
                  </a:moveTo>
                  <a:lnTo>
                    <a:pt x="1198092" y="0"/>
                  </a:lnTo>
                  <a:cubicBezTo>
                    <a:pt x="1238117" y="0"/>
                    <a:pt x="1270563" y="32446"/>
                    <a:pt x="1270563" y="72471"/>
                  </a:cubicBezTo>
                  <a:lnTo>
                    <a:pt x="1270563" y="1428999"/>
                  </a:lnTo>
                  <a:cubicBezTo>
                    <a:pt x="1270563" y="1469023"/>
                    <a:pt x="1238117" y="1501469"/>
                    <a:pt x="1198092" y="1501469"/>
                  </a:cubicBezTo>
                  <a:lnTo>
                    <a:pt x="72471" y="1501469"/>
                  </a:lnTo>
                  <a:cubicBezTo>
                    <a:pt x="32446" y="1501469"/>
                    <a:pt x="0" y="1469023"/>
                    <a:pt x="0" y="1428999"/>
                  </a:cubicBezTo>
                  <a:lnTo>
                    <a:pt x="0" y="72471"/>
                  </a:lnTo>
                  <a:cubicBezTo>
                    <a:pt x="0" y="32446"/>
                    <a:pt x="32446" y="0"/>
                    <a:pt x="72471" y="0"/>
                  </a:cubicBezTo>
                  <a:close/>
                </a:path>
              </a:pathLst>
            </a:custGeom>
            <a:solidFill>
              <a:srgbClr val="292929">
                <a:alpha val="44706"/>
              </a:srgbClr>
            </a:solidFill>
          </p:spPr>
        </p:sp>
        <p:sp>
          <p:nvSpPr>
            <p:cNvPr id="13" name="TextBox 13"/>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777321" y="3797507"/>
            <a:ext cx="3461138" cy="2500781"/>
            <a:chOff x="0" y="0"/>
            <a:chExt cx="936328" cy="676526"/>
          </a:xfrm>
        </p:grpSpPr>
        <p:sp>
          <p:nvSpPr>
            <p:cNvPr id="15" name="Freeform 15"/>
            <p:cNvSpPr/>
            <p:nvPr/>
          </p:nvSpPr>
          <p:spPr>
            <a:xfrm>
              <a:off x="0" y="0"/>
              <a:ext cx="936328" cy="676526"/>
            </a:xfrm>
            <a:custGeom>
              <a:avLst/>
              <a:gdLst/>
              <a:ahLst/>
              <a:cxnLst/>
              <a:rect l="l" t="t" r="r" b="b"/>
              <a:pathLst>
                <a:path w="936328" h="676526">
                  <a:moveTo>
                    <a:pt x="80525" y="0"/>
                  </a:moveTo>
                  <a:lnTo>
                    <a:pt x="855803" y="0"/>
                  </a:lnTo>
                  <a:cubicBezTo>
                    <a:pt x="877159" y="0"/>
                    <a:pt x="897641" y="8484"/>
                    <a:pt x="912743" y="23585"/>
                  </a:cubicBezTo>
                  <a:cubicBezTo>
                    <a:pt x="927844" y="38687"/>
                    <a:pt x="936328" y="59169"/>
                    <a:pt x="936328" y="80525"/>
                  </a:cubicBezTo>
                  <a:lnTo>
                    <a:pt x="936328" y="596001"/>
                  </a:lnTo>
                  <a:cubicBezTo>
                    <a:pt x="936328" y="640474"/>
                    <a:pt x="900275" y="676526"/>
                    <a:pt x="855803" y="676526"/>
                  </a:cubicBezTo>
                  <a:lnTo>
                    <a:pt x="80525" y="676526"/>
                  </a:lnTo>
                  <a:cubicBezTo>
                    <a:pt x="36052" y="676526"/>
                    <a:pt x="0" y="640474"/>
                    <a:pt x="0" y="596001"/>
                  </a:cubicBezTo>
                  <a:lnTo>
                    <a:pt x="0" y="80525"/>
                  </a:lnTo>
                  <a:cubicBezTo>
                    <a:pt x="0" y="36052"/>
                    <a:pt x="36052" y="0"/>
                    <a:pt x="80525" y="0"/>
                  </a:cubicBezTo>
                  <a:close/>
                </a:path>
              </a:pathLst>
            </a:custGeom>
            <a:blipFill>
              <a:blip r:embed="rId2"/>
              <a:stretch>
                <a:fillRect t="-73024" b="-73024"/>
              </a:stretch>
            </a:blipFill>
          </p:spPr>
        </p:sp>
      </p:grpSp>
      <p:grpSp>
        <p:nvGrpSpPr>
          <p:cNvPr id="16" name="Group 16"/>
          <p:cNvGrpSpPr/>
          <p:nvPr/>
        </p:nvGrpSpPr>
        <p:grpSpPr>
          <a:xfrm>
            <a:off x="958809" y="3965461"/>
            <a:ext cx="959537" cy="479768"/>
            <a:chOff x="0" y="0"/>
            <a:chExt cx="812800" cy="406400"/>
          </a:xfrm>
        </p:grpSpPr>
        <p:sp>
          <p:nvSpPr>
            <p:cNvPr id="17" name="Freeform 17"/>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D6FF3F"/>
            </a:solidFill>
          </p:spPr>
        </p:sp>
        <p:sp>
          <p:nvSpPr>
            <p:cNvPr id="18" name="TextBox 18"/>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288270" y="4055037"/>
            <a:ext cx="300616" cy="300616"/>
          </a:xfrm>
          <a:custGeom>
            <a:avLst/>
            <a:gdLst/>
            <a:ahLst/>
            <a:cxnLst/>
            <a:rect l="l" t="t" r="r" b="b"/>
            <a:pathLst>
              <a:path w="300616" h="300616">
                <a:moveTo>
                  <a:pt x="0" y="0"/>
                </a:moveTo>
                <a:lnTo>
                  <a:pt x="300615" y="0"/>
                </a:lnTo>
                <a:lnTo>
                  <a:pt x="300615" y="300616"/>
                </a:lnTo>
                <a:lnTo>
                  <a:pt x="0" y="30061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20" name="Group 20"/>
          <p:cNvGrpSpPr/>
          <p:nvPr/>
        </p:nvGrpSpPr>
        <p:grpSpPr>
          <a:xfrm rot="-10800000">
            <a:off x="4970124" y="3791038"/>
            <a:ext cx="3845825" cy="4544748"/>
            <a:chOff x="0" y="0"/>
            <a:chExt cx="1270563" cy="1501469"/>
          </a:xfrm>
        </p:grpSpPr>
        <p:sp>
          <p:nvSpPr>
            <p:cNvPr id="21" name="Freeform 21"/>
            <p:cNvSpPr/>
            <p:nvPr/>
          </p:nvSpPr>
          <p:spPr>
            <a:xfrm>
              <a:off x="0" y="0"/>
              <a:ext cx="1270563" cy="1501469"/>
            </a:xfrm>
            <a:custGeom>
              <a:avLst/>
              <a:gdLst/>
              <a:ahLst/>
              <a:cxnLst/>
              <a:rect l="l" t="t" r="r" b="b"/>
              <a:pathLst>
                <a:path w="1270563" h="1501469">
                  <a:moveTo>
                    <a:pt x="72471" y="0"/>
                  </a:moveTo>
                  <a:lnTo>
                    <a:pt x="1198092" y="0"/>
                  </a:lnTo>
                  <a:cubicBezTo>
                    <a:pt x="1238117" y="0"/>
                    <a:pt x="1270563" y="32446"/>
                    <a:pt x="1270563" y="72471"/>
                  </a:cubicBezTo>
                  <a:lnTo>
                    <a:pt x="1270563" y="1428999"/>
                  </a:lnTo>
                  <a:cubicBezTo>
                    <a:pt x="1270563" y="1469023"/>
                    <a:pt x="1238117" y="1501469"/>
                    <a:pt x="1198092" y="1501469"/>
                  </a:cubicBezTo>
                  <a:lnTo>
                    <a:pt x="72471" y="1501469"/>
                  </a:lnTo>
                  <a:cubicBezTo>
                    <a:pt x="32446" y="1501469"/>
                    <a:pt x="0" y="1469023"/>
                    <a:pt x="0" y="1428999"/>
                  </a:cubicBezTo>
                  <a:lnTo>
                    <a:pt x="0" y="72471"/>
                  </a:lnTo>
                  <a:cubicBezTo>
                    <a:pt x="0" y="32446"/>
                    <a:pt x="32446" y="0"/>
                    <a:pt x="72471" y="0"/>
                  </a:cubicBezTo>
                  <a:close/>
                </a:path>
              </a:pathLst>
            </a:custGeom>
            <a:gradFill rotWithShape="1">
              <a:gsLst>
                <a:gs pos="0">
                  <a:srgbClr val="292929">
                    <a:alpha val="100000"/>
                  </a:srgbClr>
                </a:gs>
                <a:gs pos="100000">
                  <a:srgbClr val="7D7D7D">
                    <a:alpha val="0"/>
                  </a:srgbClr>
                </a:gs>
              </a:gsLst>
              <a:lin ang="5400000"/>
            </a:gradFill>
          </p:spPr>
        </p:sp>
        <p:sp>
          <p:nvSpPr>
            <p:cNvPr id="22" name="TextBox 22"/>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4797841" y="3593344"/>
            <a:ext cx="3845825" cy="4544748"/>
            <a:chOff x="0" y="0"/>
            <a:chExt cx="1270563" cy="1501469"/>
          </a:xfrm>
        </p:grpSpPr>
        <p:sp>
          <p:nvSpPr>
            <p:cNvPr id="24" name="Freeform 24"/>
            <p:cNvSpPr/>
            <p:nvPr/>
          </p:nvSpPr>
          <p:spPr>
            <a:xfrm>
              <a:off x="0" y="0"/>
              <a:ext cx="1270563" cy="1501469"/>
            </a:xfrm>
            <a:custGeom>
              <a:avLst/>
              <a:gdLst/>
              <a:ahLst/>
              <a:cxnLst/>
              <a:rect l="l" t="t" r="r" b="b"/>
              <a:pathLst>
                <a:path w="1270563" h="1501469">
                  <a:moveTo>
                    <a:pt x="72471" y="0"/>
                  </a:moveTo>
                  <a:lnTo>
                    <a:pt x="1198092" y="0"/>
                  </a:lnTo>
                  <a:cubicBezTo>
                    <a:pt x="1238117" y="0"/>
                    <a:pt x="1270563" y="32446"/>
                    <a:pt x="1270563" y="72471"/>
                  </a:cubicBezTo>
                  <a:lnTo>
                    <a:pt x="1270563" y="1428999"/>
                  </a:lnTo>
                  <a:cubicBezTo>
                    <a:pt x="1270563" y="1469023"/>
                    <a:pt x="1238117" y="1501469"/>
                    <a:pt x="1198092" y="1501469"/>
                  </a:cubicBezTo>
                  <a:lnTo>
                    <a:pt x="72471" y="1501469"/>
                  </a:lnTo>
                  <a:cubicBezTo>
                    <a:pt x="32446" y="1501469"/>
                    <a:pt x="0" y="1469023"/>
                    <a:pt x="0" y="1428999"/>
                  </a:cubicBezTo>
                  <a:lnTo>
                    <a:pt x="0" y="72471"/>
                  </a:lnTo>
                  <a:cubicBezTo>
                    <a:pt x="0" y="32446"/>
                    <a:pt x="32446" y="0"/>
                    <a:pt x="72471" y="0"/>
                  </a:cubicBezTo>
                  <a:close/>
                </a:path>
              </a:pathLst>
            </a:custGeom>
            <a:solidFill>
              <a:srgbClr val="D6FF3F"/>
            </a:solidFill>
          </p:spPr>
        </p:sp>
        <p:sp>
          <p:nvSpPr>
            <p:cNvPr id="25" name="TextBox 25"/>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4990184" y="3791038"/>
            <a:ext cx="3461138" cy="2500781"/>
            <a:chOff x="0" y="0"/>
            <a:chExt cx="936328" cy="676526"/>
          </a:xfrm>
        </p:grpSpPr>
        <p:sp>
          <p:nvSpPr>
            <p:cNvPr id="27" name="Freeform 27"/>
            <p:cNvSpPr/>
            <p:nvPr/>
          </p:nvSpPr>
          <p:spPr>
            <a:xfrm>
              <a:off x="0" y="0"/>
              <a:ext cx="936328" cy="676526"/>
            </a:xfrm>
            <a:custGeom>
              <a:avLst/>
              <a:gdLst/>
              <a:ahLst/>
              <a:cxnLst/>
              <a:rect l="l" t="t" r="r" b="b"/>
              <a:pathLst>
                <a:path w="936328" h="676526">
                  <a:moveTo>
                    <a:pt x="80525" y="0"/>
                  </a:moveTo>
                  <a:lnTo>
                    <a:pt x="855803" y="0"/>
                  </a:lnTo>
                  <a:cubicBezTo>
                    <a:pt x="877159" y="0"/>
                    <a:pt x="897641" y="8484"/>
                    <a:pt x="912743" y="23585"/>
                  </a:cubicBezTo>
                  <a:cubicBezTo>
                    <a:pt x="927844" y="38687"/>
                    <a:pt x="936328" y="59169"/>
                    <a:pt x="936328" y="80525"/>
                  </a:cubicBezTo>
                  <a:lnTo>
                    <a:pt x="936328" y="596001"/>
                  </a:lnTo>
                  <a:cubicBezTo>
                    <a:pt x="936328" y="640474"/>
                    <a:pt x="900275" y="676526"/>
                    <a:pt x="855803" y="676526"/>
                  </a:cubicBezTo>
                  <a:lnTo>
                    <a:pt x="80525" y="676526"/>
                  </a:lnTo>
                  <a:cubicBezTo>
                    <a:pt x="36052" y="676526"/>
                    <a:pt x="0" y="640474"/>
                    <a:pt x="0" y="596001"/>
                  </a:cubicBezTo>
                  <a:lnTo>
                    <a:pt x="0" y="80525"/>
                  </a:lnTo>
                  <a:cubicBezTo>
                    <a:pt x="0" y="36052"/>
                    <a:pt x="36052" y="0"/>
                    <a:pt x="80525" y="0"/>
                  </a:cubicBezTo>
                  <a:close/>
                </a:path>
              </a:pathLst>
            </a:custGeom>
            <a:blipFill>
              <a:blip r:embed="rId4"/>
              <a:stretch>
                <a:fillRect t="-23286" b="-23286"/>
              </a:stretch>
            </a:blipFill>
          </p:spPr>
        </p:sp>
      </p:grpSp>
      <p:grpSp>
        <p:nvGrpSpPr>
          <p:cNvPr id="28" name="Group 28"/>
          <p:cNvGrpSpPr/>
          <p:nvPr/>
        </p:nvGrpSpPr>
        <p:grpSpPr>
          <a:xfrm>
            <a:off x="5171673" y="3958991"/>
            <a:ext cx="959537" cy="479768"/>
            <a:chOff x="0" y="0"/>
            <a:chExt cx="812800" cy="406400"/>
          </a:xfrm>
        </p:grpSpPr>
        <p:sp>
          <p:nvSpPr>
            <p:cNvPr id="29" name="Freeform 2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292929"/>
            </a:solidFill>
          </p:spPr>
        </p:sp>
        <p:sp>
          <p:nvSpPr>
            <p:cNvPr id="30" name="TextBox 30"/>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31" name="Freeform 31"/>
          <p:cNvSpPr/>
          <p:nvPr/>
        </p:nvSpPr>
        <p:spPr>
          <a:xfrm>
            <a:off x="5501133" y="4048568"/>
            <a:ext cx="300616" cy="300616"/>
          </a:xfrm>
          <a:custGeom>
            <a:avLst/>
            <a:gdLst/>
            <a:ahLst/>
            <a:cxnLst/>
            <a:rect l="l" t="t" r="r" b="b"/>
            <a:pathLst>
              <a:path w="300616" h="300616">
                <a:moveTo>
                  <a:pt x="0" y="0"/>
                </a:moveTo>
                <a:lnTo>
                  <a:pt x="300616" y="0"/>
                </a:lnTo>
                <a:lnTo>
                  <a:pt x="300616" y="300615"/>
                </a:lnTo>
                <a:lnTo>
                  <a:pt x="0" y="300615"/>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32" name="Group 32"/>
          <p:cNvGrpSpPr/>
          <p:nvPr/>
        </p:nvGrpSpPr>
        <p:grpSpPr>
          <a:xfrm>
            <a:off x="9228471" y="3593344"/>
            <a:ext cx="3845825" cy="4544748"/>
            <a:chOff x="0" y="0"/>
            <a:chExt cx="1270563" cy="1501469"/>
          </a:xfrm>
        </p:grpSpPr>
        <p:sp>
          <p:nvSpPr>
            <p:cNvPr id="33" name="Freeform 33"/>
            <p:cNvSpPr/>
            <p:nvPr/>
          </p:nvSpPr>
          <p:spPr>
            <a:xfrm>
              <a:off x="0" y="0"/>
              <a:ext cx="1270563" cy="1501469"/>
            </a:xfrm>
            <a:custGeom>
              <a:avLst/>
              <a:gdLst/>
              <a:ahLst/>
              <a:cxnLst/>
              <a:rect l="l" t="t" r="r" b="b"/>
              <a:pathLst>
                <a:path w="1270563" h="1501469">
                  <a:moveTo>
                    <a:pt x="72471" y="0"/>
                  </a:moveTo>
                  <a:lnTo>
                    <a:pt x="1198092" y="0"/>
                  </a:lnTo>
                  <a:cubicBezTo>
                    <a:pt x="1238117" y="0"/>
                    <a:pt x="1270563" y="32446"/>
                    <a:pt x="1270563" y="72471"/>
                  </a:cubicBezTo>
                  <a:lnTo>
                    <a:pt x="1270563" y="1428999"/>
                  </a:lnTo>
                  <a:cubicBezTo>
                    <a:pt x="1270563" y="1469023"/>
                    <a:pt x="1238117" y="1501469"/>
                    <a:pt x="1198092" y="1501469"/>
                  </a:cubicBezTo>
                  <a:lnTo>
                    <a:pt x="72471" y="1501469"/>
                  </a:lnTo>
                  <a:cubicBezTo>
                    <a:pt x="32446" y="1501469"/>
                    <a:pt x="0" y="1469023"/>
                    <a:pt x="0" y="1428999"/>
                  </a:cubicBezTo>
                  <a:lnTo>
                    <a:pt x="0" y="72471"/>
                  </a:lnTo>
                  <a:cubicBezTo>
                    <a:pt x="0" y="32446"/>
                    <a:pt x="32446" y="0"/>
                    <a:pt x="72471" y="0"/>
                  </a:cubicBezTo>
                  <a:close/>
                </a:path>
              </a:pathLst>
            </a:custGeom>
            <a:solidFill>
              <a:srgbClr val="292929">
                <a:alpha val="44706"/>
              </a:srgbClr>
            </a:solidFill>
          </p:spPr>
        </p:sp>
        <p:sp>
          <p:nvSpPr>
            <p:cNvPr id="34" name="TextBox 34"/>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9420814" y="3797507"/>
            <a:ext cx="3461138" cy="2500781"/>
            <a:chOff x="0" y="0"/>
            <a:chExt cx="936328" cy="676526"/>
          </a:xfrm>
        </p:grpSpPr>
        <p:sp>
          <p:nvSpPr>
            <p:cNvPr id="36" name="Freeform 36"/>
            <p:cNvSpPr/>
            <p:nvPr/>
          </p:nvSpPr>
          <p:spPr>
            <a:xfrm>
              <a:off x="0" y="0"/>
              <a:ext cx="936328" cy="676526"/>
            </a:xfrm>
            <a:custGeom>
              <a:avLst/>
              <a:gdLst/>
              <a:ahLst/>
              <a:cxnLst/>
              <a:rect l="l" t="t" r="r" b="b"/>
              <a:pathLst>
                <a:path w="936328" h="676526">
                  <a:moveTo>
                    <a:pt x="80525" y="0"/>
                  </a:moveTo>
                  <a:lnTo>
                    <a:pt x="855803" y="0"/>
                  </a:lnTo>
                  <a:cubicBezTo>
                    <a:pt x="877159" y="0"/>
                    <a:pt x="897641" y="8484"/>
                    <a:pt x="912743" y="23585"/>
                  </a:cubicBezTo>
                  <a:cubicBezTo>
                    <a:pt x="927844" y="38687"/>
                    <a:pt x="936328" y="59169"/>
                    <a:pt x="936328" y="80525"/>
                  </a:cubicBezTo>
                  <a:lnTo>
                    <a:pt x="936328" y="596001"/>
                  </a:lnTo>
                  <a:cubicBezTo>
                    <a:pt x="936328" y="640474"/>
                    <a:pt x="900275" y="676526"/>
                    <a:pt x="855803" y="676526"/>
                  </a:cubicBezTo>
                  <a:lnTo>
                    <a:pt x="80525" y="676526"/>
                  </a:lnTo>
                  <a:cubicBezTo>
                    <a:pt x="36052" y="676526"/>
                    <a:pt x="0" y="640474"/>
                    <a:pt x="0" y="596001"/>
                  </a:cubicBezTo>
                  <a:lnTo>
                    <a:pt x="0" y="80525"/>
                  </a:lnTo>
                  <a:cubicBezTo>
                    <a:pt x="0" y="36052"/>
                    <a:pt x="36052" y="0"/>
                    <a:pt x="80525" y="0"/>
                  </a:cubicBezTo>
                  <a:close/>
                </a:path>
              </a:pathLst>
            </a:custGeom>
            <a:blipFill>
              <a:blip r:embed="rId6"/>
              <a:stretch>
                <a:fillRect t="-73024" b="-73024"/>
              </a:stretch>
            </a:blipFill>
          </p:spPr>
        </p:sp>
      </p:grpSp>
      <p:grpSp>
        <p:nvGrpSpPr>
          <p:cNvPr id="37" name="Group 37"/>
          <p:cNvGrpSpPr/>
          <p:nvPr/>
        </p:nvGrpSpPr>
        <p:grpSpPr>
          <a:xfrm>
            <a:off x="9602303" y="3965461"/>
            <a:ext cx="959537" cy="479768"/>
            <a:chOff x="0" y="0"/>
            <a:chExt cx="812800" cy="406400"/>
          </a:xfrm>
        </p:grpSpPr>
        <p:sp>
          <p:nvSpPr>
            <p:cNvPr id="38" name="Freeform 3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D6FF3F"/>
            </a:solidFill>
          </p:spPr>
        </p:sp>
        <p:sp>
          <p:nvSpPr>
            <p:cNvPr id="39" name="TextBox 3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40" name="Freeform 40"/>
          <p:cNvSpPr/>
          <p:nvPr/>
        </p:nvSpPr>
        <p:spPr>
          <a:xfrm>
            <a:off x="9931763" y="4055037"/>
            <a:ext cx="300616" cy="300616"/>
          </a:xfrm>
          <a:custGeom>
            <a:avLst/>
            <a:gdLst/>
            <a:ahLst/>
            <a:cxnLst/>
            <a:rect l="l" t="t" r="r" b="b"/>
            <a:pathLst>
              <a:path w="300616" h="300616">
                <a:moveTo>
                  <a:pt x="0" y="0"/>
                </a:moveTo>
                <a:lnTo>
                  <a:pt x="300616" y="0"/>
                </a:lnTo>
                <a:lnTo>
                  <a:pt x="300616" y="300616"/>
                </a:lnTo>
                <a:lnTo>
                  <a:pt x="0" y="300616"/>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1" name="Group 41"/>
          <p:cNvGrpSpPr/>
          <p:nvPr/>
        </p:nvGrpSpPr>
        <p:grpSpPr>
          <a:xfrm rot="-10800000">
            <a:off x="13857198" y="3791038"/>
            <a:ext cx="3845825" cy="4544748"/>
            <a:chOff x="0" y="0"/>
            <a:chExt cx="1270563" cy="1501469"/>
          </a:xfrm>
        </p:grpSpPr>
        <p:sp>
          <p:nvSpPr>
            <p:cNvPr id="42" name="Freeform 42"/>
            <p:cNvSpPr/>
            <p:nvPr/>
          </p:nvSpPr>
          <p:spPr>
            <a:xfrm>
              <a:off x="0" y="0"/>
              <a:ext cx="1270563" cy="1501469"/>
            </a:xfrm>
            <a:custGeom>
              <a:avLst/>
              <a:gdLst/>
              <a:ahLst/>
              <a:cxnLst/>
              <a:rect l="l" t="t" r="r" b="b"/>
              <a:pathLst>
                <a:path w="1270563" h="1501469">
                  <a:moveTo>
                    <a:pt x="72471" y="0"/>
                  </a:moveTo>
                  <a:lnTo>
                    <a:pt x="1198092" y="0"/>
                  </a:lnTo>
                  <a:cubicBezTo>
                    <a:pt x="1238117" y="0"/>
                    <a:pt x="1270563" y="32446"/>
                    <a:pt x="1270563" y="72471"/>
                  </a:cubicBezTo>
                  <a:lnTo>
                    <a:pt x="1270563" y="1428999"/>
                  </a:lnTo>
                  <a:cubicBezTo>
                    <a:pt x="1270563" y="1469023"/>
                    <a:pt x="1238117" y="1501469"/>
                    <a:pt x="1198092" y="1501469"/>
                  </a:cubicBezTo>
                  <a:lnTo>
                    <a:pt x="72471" y="1501469"/>
                  </a:lnTo>
                  <a:cubicBezTo>
                    <a:pt x="32446" y="1501469"/>
                    <a:pt x="0" y="1469023"/>
                    <a:pt x="0" y="1428999"/>
                  </a:cubicBezTo>
                  <a:lnTo>
                    <a:pt x="0" y="72471"/>
                  </a:lnTo>
                  <a:cubicBezTo>
                    <a:pt x="0" y="32446"/>
                    <a:pt x="32446" y="0"/>
                    <a:pt x="72471" y="0"/>
                  </a:cubicBezTo>
                  <a:close/>
                </a:path>
              </a:pathLst>
            </a:custGeom>
            <a:gradFill rotWithShape="1">
              <a:gsLst>
                <a:gs pos="0">
                  <a:srgbClr val="292929">
                    <a:alpha val="100000"/>
                  </a:srgbClr>
                </a:gs>
                <a:gs pos="100000">
                  <a:srgbClr val="7D7D7D">
                    <a:alpha val="0"/>
                  </a:srgbClr>
                </a:gs>
              </a:gsLst>
              <a:lin ang="5400000"/>
            </a:gradFill>
          </p:spPr>
        </p:sp>
        <p:sp>
          <p:nvSpPr>
            <p:cNvPr id="43" name="TextBox 43"/>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44" name="Group 44"/>
          <p:cNvGrpSpPr/>
          <p:nvPr/>
        </p:nvGrpSpPr>
        <p:grpSpPr>
          <a:xfrm>
            <a:off x="13684915" y="3593344"/>
            <a:ext cx="3845825" cy="4544748"/>
            <a:chOff x="0" y="0"/>
            <a:chExt cx="1270563" cy="1501469"/>
          </a:xfrm>
        </p:grpSpPr>
        <p:sp>
          <p:nvSpPr>
            <p:cNvPr id="45" name="Freeform 45"/>
            <p:cNvSpPr/>
            <p:nvPr/>
          </p:nvSpPr>
          <p:spPr>
            <a:xfrm>
              <a:off x="0" y="0"/>
              <a:ext cx="1270563" cy="1501469"/>
            </a:xfrm>
            <a:custGeom>
              <a:avLst/>
              <a:gdLst/>
              <a:ahLst/>
              <a:cxnLst/>
              <a:rect l="l" t="t" r="r" b="b"/>
              <a:pathLst>
                <a:path w="1270563" h="1501469">
                  <a:moveTo>
                    <a:pt x="72471" y="0"/>
                  </a:moveTo>
                  <a:lnTo>
                    <a:pt x="1198092" y="0"/>
                  </a:lnTo>
                  <a:cubicBezTo>
                    <a:pt x="1238117" y="0"/>
                    <a:pt x="1270563" y="32446"/>
                    <a:pt x="1270563" y="72471"/>
                  </a:cubicBezTo>
                  <a:lnTo>
                    <a:pt x="1270563" y="1428999"/>
                  </a:lnTo>
                  <a:cubicBezTo>
                    <a:pt x="1270563" y="1469023"/>
                    <a:pt x="1238117" y="1501469"/>
                    <a:pt x="1198092" y="1501469"/>
                  </a:cubicBezTo>
                  <a:lnTo>
                    <a:pt x="72471" y="1501469"/>
                  </a:lnTo>
                  <a:cubicBezTo>
                    <a:pt x="32446" y="1501469"/>
                    <a:pt x="0" y="1469023"/>
                    <a:pt x="0" y="1428999"/>
                  </a:cubicBezTo>
                  <a:lnTo>
                    <a:pt x="0" y="72471"/>
                  </a:lnTo>
                  <a:cubicBezTo>
                    <a:pt x="0" y="32446"/>
                    <a:pt x="32446" y="0"/>
                    <a:pt x="72471" y="0"/>
                  </a:cubicBezTo>
                  <a:close/>
                </a:path>
              </a:pathLst>
            </a:custGeom>
            <a:solidFill>
              <a:srgbClr val="D6FF3F"/>
            </a:solidFill>
          </p:spPr>
        </p:sp>
        <p:sp>
          <p:nvSpPr>
            <p:cNvPr id="46" name="TextBox 46"/>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47" name="Group 47"/>
          <p:cNvGrpSpPr/>
          <p:nvPr/>
        </p:nvGrpSpPr>
        <p:grpSpPr>
          <a:xfrm>
            <a:off x="13877258" y="3791038"/>
            <a:ext cx="3461138" cy="2500781"/>
            <a:chOff x="0" y="0"/>
            <a:chExt cx="936328" cy="676526"/>
          </a:xfrm>
        </p:grpSpPr>
        <p:sp>
          <p:nvSpPr>
            <p:cNvPr id="48" name="Freeform 48"/>
            <p:cNvSpPr/>
            <p:nvPr/>
          </p:nvSpPr>
          <p:spPr>
            <a:xfrm>
              <a:off x="0" y="0"/>
              <a:ext cx="936328" cy="676526"/>
            </a:xfrm>
            <a:custGeom>
              <a:avLst/>
              <a:gdLst/>
              <a:ahLst/>
              <a:cxnLst/>
              <a:rect l="l" t="t" r="r" b="b"/>
              <a:pathLst>
                <a:path w="936328" h="676526">
                  <a:moveTo>
                    <a:pt x="80525" y="0"/>
                  </a:moveTo>
                  <a:lnTo>
                    <a:pt x="855803" y="0"/>
                  </a:lnTo>
                  <a:cubicBezTo>
                    <a:pt x="877159" y="0"/>
                    <a:pt x="897641" y="8484"/>
                    <a:pt x="912743" y="23585"/>
                  </a:cubicBezTo>
                  <a:cubicBezTo>
                    <a:pt x="927844" y="38687"/>
                    <a:pt x="936328" y="59169"/>
                    <a:pt x="936328" y="80525"/>
                  </a:cubicBezTo>
                  <a:lnTo>
                    <a:pt x="936328" y="596001"/>
                  </a:lnTo>
                  <a:cubicBezTo>
                    <a:pt x="936328" y="640474"/>
                    <a:pt x="900275" y="676526"/>
                    <a:pt x="855803" y="676526"/>
                  </a:cubicBezTo>
                  <a:lnTo>
                    <a:pt x="80525" y="676526"/>
                  </a:lnTo>
                  <a:cubicBezTo>
                    <a:pt x="36052" y="676526"/>
                    <a:pt x="0" y="640474"/>
                    <a:pt x="0" y="596001"/>
                  </a:cubicBezTo>
                  <a:lnTo>
                    <a:pt x="0" y="80525"/>
                  </a:lnTo>
                  <a:cubicBezTo>
                    <a:pt x="0" y="36052"/>
                    <a:pt x="36052" y="0"/>
                    <a:pt x="80525" y="0"/>
                  </a:cubicBezTo>
                  <a:close/>
                </a:path>
              </a:pathLst>
            </a:custGeom>
            <a:blipFill>
              <a:blip r:embed="rId7"/>
              <a:stretch>
                <a:fillRect t="-1900" b="-1900"/>
              </a:stretch>
            </a:blipFill>
          </p:spPr>
        </p:sp>
      </p:grpSp>
      <p:grpSp>
        <p:nvGrpSpPr>
          <p:cNvPr id="49" name="Group 49"/>
          <p:cNvGrpSpPr/>
          <p:nvPr/>
        </p:nvGrpSpPr>
        <p:grpSpPr>
          <a:xfrm>
            <a:off x="14058747" y="3958991"/>
            <a:ext cx="959537" cy="479768"/>
            <a:chOff x="0" y="0"/>
            <a:chExt cx="812800" cy="406400"/>
          </a:xfrm>
        </p:grpSpPr>
        <p:sp>
          <p:nvSpPr>
            <p:cNvPr id="50" name="Freeform 50"/>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292929"/>
            </a:solidFill>
          </p:spPr>
        </p:sp>
        <p:sp>
          <p:nvSpPr>
            <p:cNvPr id="51" name="TextBox 51"/>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52" name="Freeform 52"/>
          <p:cNvSpPr/>
          <p:nvPr/>
        </p:nvSpPr>
        <p:spPr>
          <a:xfrm>
            <a:off x="14388207" y="4048568"/>
            <a:ext cx="300616" cy="300616"/>
          </a:xfrm>
          <a:custGeom>
            <a:avLst/>
            <a:gdLst/>
            <a:ahLst/>
            <a:cxnLst/>
            <a:rect l="l" t="t" r="r" b="b"/>
            <a:pathLst>
              <a:path w="300616" h="300616">
                <a:moveTo>
                  <a:pt x="0" y="0"/>
                </a:moveTo>
                <a:lnTo>
                  <a:pt x="300616" y="0"/>
                </a:lnTo>
                <a:lnTo>
                  <a:pt x="300616" y="300615"/>
                </a:lnTo>
                <a:lnTo>
                  <a:pt x="0" y="30061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53" name="Freeform 53"/>
          <p:cNvSpPr/>
          <p:nvPr/>
        </p:nvSpPr>
        <p:spPr>
          <a:xfrm>
            <a:off x="1849528" y="7997631"/>
            <a:ext cx="4181107" cy="1223795"/>
          </a:xfrm>
          <a:custGeom>
            <a:avLst/>
            <a:gdLst/>
            <a:ahLst/>
            <a:cxnLst/>
            <a:rect l="l" t="t" r="r" b="b"/>
            <a:pathLst>
              <a:path w="4181107" h="1223795">
                <a:moveTo>
                  <a:pt x="0" y="0"/>
                </a:moveTo>
                <a:lnTo>
                  <a:pt x="4181107" y="0"/>
                </a:lnTo>
                <a:lnTo>
                  <a:pt x="4181107" y="1223795"/>
                </a:lnTo>
                <a:lnTo>
                  <a:pt x="0" y="1223795"/>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54" name="Freeform 54"/>
          <p:cNvSpPr/>
          <p:nvPr/>
        </p:nvSpPr>
        <p:spPr>
          <a:xfrm>
            <a:off x="7053447" y="7997631"/>
            <a:ext cx="4181107" cy="1223795"/>
          </a:xfrm>
          <a:custGeom>
            <a:avLst/>
            <a:gdLst/>
            <a:ahLst/>
            <a:cxnLst/>
            <a:rect l="l" t="t" r="r" b="b"/>
            <a:pathLst>
              <a:path w="4181107" h="1223795">
                <a:moveTo>
                  <a:pt x="0" y="0"/>
                </a:moveTo>
                <a:lnTo>
                  <a:pt x="4181106" y="0"/>
                </a:lnTo>
                <a:lnTo>
                  <a:pt x="4181106" y="1223795"/>
                </a:lnTo>
                <a:lnTo>
                  <a:pt x="0" y="1223795"/>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55" name="Freeform 55"/>
          <p:cNvSpPr/>
          <p:nvPr/>
        </p:nvSpPr>
        <p:spPr>
          <a:xfrm>
            <a:off x="11968193" y="8029537"/>
            <a:ext cx="4181107" cy="1223795"/>
          </a:xfrm>
          <a:custGeom>
            <a:avLst/>
            <a:gdLst/>
            <a:ahLst/>
            <a:cxnLst/>
            <a:rect l="l" t="t" r="r" b="b"/>
            <a:pathLst>
              <a:path w="4181107" h="1223795">
                <a:moveTo>
                  <a:pt x="0" y="0"/>
                </a:moveTo>
                <a:lnTo>
                  <a:pt x="4181107" y="0"/>
                </a:lnTo>
                <a:lnTo>
                  <a:pt x="4181107" y="1223794"/>
                </a:lnTo>
                <a:lnTo>
                  <a:pt x="0" y="122379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58" name="TextBox 58"/>
          <p:cNvSpPr txBox="1"/>
          <p:nvPr/>
        </p:nvSpPr>
        <p:spPr>
          <a:xfrm>
            <a:off x="10321508" y="1561721"/>
            <a:ext cx="9393552" cy="2602828"/>
          </a:xfrm>
          <a:prstGeom prst="rect">
            <a:avLst/>
          </a:prstGeom>
        </p:spPr>
        <p:txBody>
          <a:bodyPr lIns="0" tIns="0" rIns="0" bIns="0" rtlCol="0" anchor="t">
            <a:spAutoFit/>
          </a:bodyPr>
          <a:lstStyle/>
          <a:p>
            <a:pPr algn="l">
              <a:lnSpc>
                <a:spcPts val="6695"/>
              </a:lnSpc>
            </a:pPr>
            <a:r>
              <a:rPr lang="en-US" sz="6600" b="1" spc="-280" dirty="0">
                <a:solidFill>
                  <a:srgbClr val="FFFFFF"/>
                </a:solidFill>
                <a:latin typeface="Akzidenz-Grotesk Bold"/>
                <a:ea typeface="Akzidenz-Grotesk Bold"/>
                <a:cs typeface="Akzidenz-Grotesk Bold"/>
                <a:sym typeface="Akzidenz-Grotesk Bold"/>
              </a:rPr>
              <a:t>SYSTEM ARCHITECTURE</a:t>
            </a:r>
          </a:p>
          <a:p>
            <a:pPr marL="0" lvl="0" indent="0" algn="l">
              <a:lnSpc>
                <a:spcPts val="6695"/>
              </a:lnSpc>
              <a:spcBef>
                <a:spcPct val="0"/>
              </a:spcBef>
            </a:pPr>
            <a:endParaRPr lang="en-US" sz="6600" b="1" spc="-280" dirty="0">
              <a:solidFill>
                <a:srgbClr val="FFFFFF"/>
              </a:solidFill>
              <a:latin typeface="Akzidenz-Grotesk Bold"/>
              <a:ea typeface="Akzidenz-Grotesk Bold"/>
              <a:cs typeface="Akzidenz-Grotesk Bold"/>
              <a:sym typeface="Akzidenz-Grotesk Bold"/>
            </a:endParaRPr>
          </a:p>
        </p:txBody>
      </p:sp>
      <p:sp>
        <p:nvSpPr>
          <p:cNvPr id="59" name="TextBox 59"/>
          <p:cNvSpPr txBox="1"/>
          <p:nvPr/>
        </p:nvSpPr>
        <p:spPr>
          <a:xfrm>
            <a:off x="1265890" y="6548868"/>
            <a:ext cx="2947315" cy="883449"/>
          </a:xfrm>
          <a:prstGeom prst="rect">
            <a:avLst/>
          </a:prstGeom>
        </p:spPr>
        <p:txBody>
          <a:bodyPr lIns="0" tIns="0" rIns="0" bIns="0" rtlCol="0" anchor="t">
            <a:spAutoFit/>
          </a:bodyPr>
          <a:lstStyle/>
          <a:p>
            <a:pPr algn="l">
              <a:lnSpc>
                <a:spcPts val="3564"/>
              </a:lnSpc>
            </a:pPr>
            <a:r>
              <a:rPr lang="en-US" sz="2970" spc="-26">
                <a:solidFill>
                  <a:srgbClr val="EDEDED"/>
                </a:solidFill>
                <a:latin typeface="Open Sauce"/>
                <a:ea typeface="Open Sauce"/>
                <a:cs typeface="Open Sauce"/>
                <a:sym typeface="Open Sauce"/>
              </a:rPr>
              <a:t>Worker</a:t>
            </a:r>
          </a:p>
          <a:p>
            <a:pPr marL="0" lvl="1" indent="0" algn="l">
              <a:lnSpc>
                <a:spcPts val="3564"/>
              </a:lnSpc>
              <a:spcBef>
                <a:spcPct val="0"/>
              </a:spcBef>
            </a:pPr>
            <a:endParaRPr lang="en-US" sz="2970" spc="-26">
              <a:solidFill>
                <a:srgbClr val="EDEDED"/>
              </a:solidFill>
              <a:latin typeface="Open Sauce"/>
              <a:ea typeface="Open Sauce"/>
              <a:cs typeface="Open Sauce"/>
              <a:sym typeface="Open Sauce"/>
            </a:endParaRPr>
          </a:p>
        </p:txBody>
      </p:sp>
      <p:sp>
        <p:nvSpPr>
          <p:cNvPr id="60" name="TextBox 60"/>
          <p:cNvSpPr txBox="1"/>
          <p:nvPr/>
        </p:nvSpPr>
        <p:spPr>
          <a:xfrm>
            <a:off x="1288270" y="6991338"/>
            <a:ext cx="2651812" cy="758643"/>
          </a:xfrm>
          <a:prstGeom prst="rect">
            <a:avLst/>
          </a:prstGeom>
        </p:spPr>
        <p:txBody>
          <a:bodyPr lIns="0" tIns="0" rIns="0" bIns="0" rtlCol="0" anchor="t">
            <a:spAutoFit/>
          </a:bodyPr>
          <a:lstStyle/>
          <a:p>
            <a:pPr marL="0" lvl="0" indent="0" algn="l">
              <a:lnSpc>
                <a:spcPts val="3071"/>
              </a:lnSpc>
              <a:spcBef>
                <a:spcPct val="0"/>
              </a:spcBef>
            </a:pPr>
            <a:r>
              <a:rPr lang="en-US" sz="2047">
                <a:solidFill>
                  <a:srgbClr val="EDEDED"/>
                </a:solidFill>
                <a:latin typeface="Open Sauce"/>
                <a:ea typeface="Open Sauce"/>
                <a:cs typeface="Open Sauce"/>
                <a:sym typeface="Open Sauce"/>
              </a:rPr>
              <a:t>Equipped with Wearable Node</a:t>
            </a:r>
          </a:p>
        </p:txBody>
      </p:sp>
      <p:sp>
        <p:nvSpPr>
          <p:cNvPr id="61" name="TextBox 61"/>
          <p:cNvSpPr txBox="1"/>
          <p:nvPr/>
        </p:nvSpPr>
        <p:spPr>
          <a:xfrm>
            <a:off x="5355979" y="6548868"/>
            <a:ext cx="2947315" cy="727547"/>
          </a:xfrm>
          <a:prstGeom prst="rect">
            <a:avLst/>
          </a:prstGeom>
        </p:spPr>
        <p:txBody>
          <a:bodyPr lIns="0" tIns="0" rIns="0" bIns="0" rtlCol="0" anchor="t">
            <a:spAutoFit/>
          </a:bodyPr>
          <a:lstStyle/>
          <a:p>
            <a:pPr algn="l">
              <a:lnSpc>
                <a:spcPts val="3237"/>
              </a:lnSpc>
              <a:spcBef>
                <a:spcPct val="0"/>
              </a:spcBef>
            </a:pPr>
            <a:r>
              <a:rPr lang="en-US" sz="2698" spc="-24">
                <a:solidFill>
                  <a:srgbClr val="292929"/>
                </a:solidFill>
                <a:latin typeface="Open Sauce"/>
                <a:ea typeface="Open Sauce"/>
                <a:cs typeface="Open Sauce"/>
                <a:sym typeface="Open Sauce"/>
              </a:rPr>
              <a:t>S</a:t>
            </a:r>
            <a:r>
              <a:rPr lang="en-US" sz="2698" u="none" strike="noStrike" spc="-24">
                <a:solidFill>
                  <a:srgbClr val="292929"/>
                </a:solidFill>
                <a:latin typeface="Open Sauce"/>
                <a:ea typeface="Open Sauce"/>
                <a:cs typeface="Open Sauce"/>
                <a:sym typeface="Open Sauce"/>
              </a:rPr>
              <a:t>iWx917</a:t>
            </a:r>
          </a:p>
          <a:p>
            <a:pPr marL="0" lvl="1" indent="0" algn="l">
              <a:lnSpc>
                <a:spcPts val="2582"/>
              </a:lnSpc>
              <a:spcBef>
                <a:spcPct val="0"/>
              </a:spcBef>
            </a:pPr>
            <a:endParaRPr lang="en-US" sz="2698" u="none" strike="noStrike" spc="-24">
              <a:solidFill>
                <a:srgbClr val="292929"/>
              </a:solidFill>
              <a:latin typeface="Open Sauce"/>
              <a:ea typeface="Open Sauce"/>
              <a:cs typeface="Open Sauce"/>
              <a:sym typeface="Open Sauce"/>
            </a:endParaRPr>
          </a:p>
        </p:txBody>
      </p:sp>
      <p:sp>
        <p:nvSpPr>
          <p:cNvPr id="62" name="TextBox 62"/>
          <p:cNvSpPr txBox="1"/>
          <p:nvPr/>
        </p:nvSpPr>
        <p:spPr>
          <a:xfrm>
            <a:off x="5394847" y="6991338"/>
            <a:ext cx="2651812" cy="758643"/>
          </a:xfrm>
          <a:prstGeom prst="rect">
            <a:avLst/>
          </a:prstGeom>
        </p:spPr>
        <p:txBody>
          <a:bodyPr lIns="0" tIns="0" rIns="0" bIns="0" rtlCol="0" anchor="t">
            <a:spAutoFit/>
          </a:bodyPr>
          <a:lstStyle/>
          <a:p>
            <a:pPr marL="0" lvl="0" indent="0" algn="l">
              <a:lnSpc>
                <a:spcPts val="3071"/>
              </a:lnSpc>
              <a:spcBef>
                <a:spcPct val="0"/>
              </a:spcBef>
            </a:pPr>
            <a:r>
              <a:rPr lang="en-US" sz="2047">
                <a:solidFill>
                  <a:srgbClr val="292929"/>
                </a:solidFill>
                <a:latin typeface="Open Sauce"/>
                <a:ea typeface="Open Sauce"/>
                <a:cs typeface="Open Sauce"/>
                <a:sym typeface="Open Sauce"/>
              </a:rPr>
              <a:t>Local Processing &amp; Analysis</a:t>
            </a:r>
          </a:p>
        </p:txBody>
      </p:sp>
      <p:sp>
        <p:nvSpPr>
          <p:cNvPr id="63" name="TextBox 63"/>
          <p:cNvSpPr txBox="1"/>
          <p:nvPr/>
        </p:nvSpPr>
        <p:spPr>
          <a:xfrm>
            <a:off x="9825477" y="6584377"/>
            <a:ext cx="2947315" cy="380232"/>
          </a:xfrm>
          <a:prstGeom prst="rect">
            <a:avLst/>
          </a:prstGeom>
        </p:spPr>
        <p:txBody>
          <a:bodyPr lIns="0" tIns="0" rIns="0" bIns="0" rtlCol="0" anchor="t">
            <a:spAutoFit/>
          </a:bodyPr>
          <a:lstStyle/>
          <a:p>
            <a:pPr marL="0" lvl="1" indent="0" algn="l">
              <a:lnSpc>
                <a:spcPts val="3073"/>
              </a:lnSpc>
              <a:spcBef>
                <a:spcPct val="0"/>
              </a:spcBef>
            </a:pPr>
            <a:r>
              <a:rPr lang="en-US" sz="2561" b="1" spc="-23">
                <a:solidFill>
                  <a:srgbClr val="EDEDED"/>
                </a:solidFill>
                <a:latin typeface="Open Sauce Heavy"/>
                <a:ea typeface="Open Sauce Heavy"/>
                <a:cs typeface="Open Sauce Heavy"/>
                <a:sym typeface="Open Sauce Heavy"/>
              </a:rPr>
              <a:t>Cloud</a:t>
            </a:r>
          </a:p>
        </p:txBody>
      </p:sp>
      <p:sp>
        <p:nvSpPr>
          <p:cNvPr id="64" name="TextBox 64"/>
          <p:cNvSpPr txBox="1"/>
          <p:nvPr/>
        </p:nvSpPr>
        <p:spPr>
          <a:xfrm>
            <a:off x="9825477" y="6994669"/>
            <a:ext cx="2651812" cy="758643"/>
          </a:xfrm>
          <a:prstGeom prst="rect">
            <a:avLst/>
          </a:prstGeom>
        </p:spPr>
        <p:txBody>
          <a:bodyPr lIns="0" tIns="0" rIns="0" bIns="0" rtlCol="0" anchor="t">
            <a:spAutoFit/>
          </a:bodyPr>
          <a:lstStyle/>
          <a:p>
            <a:pPr marL="0" lvl="0" indent="0" algn="l">
              <a:lnSpc>
                <a:spcPts val="3071"/>
              </a:lnSpc>
              <a:spcBef>
                <a:spcPct val="0"/>
              </a:spcBef>
            </a:pPr>
            <a:r>
              <a:rPr lang="en-US" sz="2047">
                <a:solidFill>
                  <a:srgbClr val="EDEDED"/>
                </a:solidFill>
                <a:latin typeface="Open Sauce"/>
                <a:ea typeface="Open Sauce"/>
                <a:cs typeface="Open Sauce"/>
                <a:sym typeface="Open Sauce"/>
              </a:rPr>
              <a:t>Real-time Dashboard Upload</a:t>
            </a:r>
          </a:p>
        </p:txBody>
      </p:sp>
      <p:sp>
        <p:nvSpPr>
          <p:cNvPr id="65" name="TextBox 65"/>
          <p:cNvSpPr txBox="1"/>
          <p:nvPr/>
        </p:nvSpPr>
        <p:spPr>
          <a:xfrm>
            <a:off x="14306453" y="6532409"/>
            <a:ext cx="2947315" cy="380232"/>
          </a:xfrm>
          <a:prstGeom prst="rect">
            <a:avLst/>
          </a:prstGeom>
        </p:spPr>
        <p:txBody>
          <a:bodyPr lIns="0" tIns="0" rIns="0" bIns="0" rtlCol="0" anchor="t">
            <a:spAutoFit/>
          </a:bodyPr>
          <a:lstStyle/>
          <a:p>
            <a:pPr marL="0" lvl="1" indent="0" algn="l">
              <a:lnSpc>
                <a:spcPts val="3073"/>
              </a:lnSpc>
              <a:spcBef>
                <a:spcPct val="0"/>
              </a:spcBef>
            </a:pPr>
            <a:r>
              <a:rPr lang="en-US" sz="2561" spc="-23">
                <a:solidFill>
                  <a:srgbClr val="292929"/>
                </a:solidFill>
                <a:latin typeface="Open Sauce"/>
                <a:ea typeface="Open Sauce"/>
                <a:cs typeface="Open Sauce"/>
                <a:sym typeface="Open Sauce"/>
              </a:rPr>
              <a:t>Dashboard</a:t>
            </a:r>
          </a:p>
        </p:txBody>
      </p:sp>
      <p:sp>
        <p:nvSpPr>
          <p:cNvPr id="66" name="TextBox 66"/>
          <p:cNvSpPr txBox="1"/>
          <p:nvPr/>
        </p:nvSpPr>
        <p:spPr>
          <a:xfrm>
            <a:off x="14306453" y="7027579"/>
            <a:ext cx="2651812" cy="702347"/>
          </a:xfrm>
          <a:prstGeom prst="rect">
            <a:avLst/>
          </a:prstGeom>
        </p:spPr>
        <p:txBody>
          <a:bodyPr lIns="0" tIns="0" rIns="0" bIns="0" rtlCol="0" anchor="t">
            <a:spAutoFit/>
          </a:bodyPr>
          <a:lstStyle/>
          <a:p>
            <a:pPr marL="0" lvl="0" indent="0" algn="l">
              <a:lnSpc>
                <a:spcPts val="2867"/>
              </a:lnSpc>
              <a:spcBef>
                <a:spcPct val="0"/>
              </a:spcBef>
            </a:pPr>
            <a:r>
              <a:rPr lang="en-US" sz="1911">
                <a:solidFill>
                  <a:srgbClr val="292929"/>
                </a:solidFill>
                <a:latin typeface="Open Sauce"/>
                <a:ea typeface="Open Sauce"/>
                <a:cs typeface="Open Sauce"/>
                <a:sym typeface="Open Sauce"/>
              </a:rPr>
              <a:t>Supervisor Emergency Notify</a:t>
            </a:r>
          </a:p>
        </p:txBody>
      </p:sp>
      <p:grpSp>
        <p:nvGrpSpPr>
          <p:cNvPr id="68" name="Group 67">
            <a:extLst>
              <a:ext uri="{FF2B5EF4-FFF2-40B4-BE49-F238E27FC236}">
                <a16:creationId xmlns:a16="http://schemas.microsoft.com/office/drawing/2014/main" id="{D4128556-6078-3521-2D94-2981E4B1C56F}"/>
              </a:ext>
            </a:extLst>
          </p:cNvPr>
          <p:cNvGrpSpPr/>
          <p:nvPr/>
        </p:nvGrpSpPr>
        <p:grpSpPr bwMode="auto">
          <a:xfrm>
            <a:off x="584013" y="355390"/>
            <a:ext cx="1288014" cy="1282909"/>
            <a:chOff x="-1" y="0"/>
            <a:chExt cx="1435" cy="1424"/>
          </a:xfrm>
        </p:grpSpPr>
        <p:grpSp>
          <p:nvGrpSpPr>
            <p:cNvPr id="69" name="Group 68">
              <a:extLst>
                <a:ext uri="{FF2B5EF4-FFF2-40B4-BE49-F238E27FC236}">
                  <a16:creationId xmlns:a16="http://schemas.microsoft.com/office/drawing/2014/main" id="{97C5615F-9BA6-F573-E3C1-39DB1951897C}"/>
                </a:ext>
              </a:extLst>
            </p:cNvPr>
            <p:cNvGrpSpPr>
              <a:grpSpLocks/>
            </p:cNvGrpSpPr>
            <p:nvPr/>
          </p:nvGrpSpPr>
          <p:grpSpPr bwMode="auto">
            <a:xfrm>
              <a:off x="-1" y="0"/>
              <a:ext cx="1336" cy="839"/>
              <a:chOff x="-1" y="0"/>
              <a:chExt cx="1336" cy="839"/>
            </a:xfrm>
          </p:grpSpPr>
          <p:pic>
            <p:nvPicPr>
              <p:cNvPr id="77" name="Picture 76">
                <a:extLst>
                  <a:ext uri="{FF2B5EF4-FFF2-40B4-BE49-F238E27FC236}">
                    <a16:creationId xmlns:a16="http://schemas.microsoft.com/office/drawing/2014/main" id="{B78B0026-4029-A58D-CC5A-A535BB15B2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78" name="Rectangle 77">
                <a:extLst>
                  <a:ext uri="{FF2B5EF4-FFF2-40B4-BE49-F238E27FC236}">
                    <a16:creationId xmlns:a16="http://schemas.microsoft.com/office/drawing/2014/main" id="{801797F9-4EA4-F3B9-CC91-ED4D966500C7}"/>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79" name="Freeform 378">
                <a:extLst>
                  <a:ext uri="{FF2B5EF4-FFF2-40B4-BE49-F238E27FC236}">
                    <a16:creationId xmlns:a16="http://schemas.microsoft.com/office/drawing/2014/main" id="{22BA30F0-C67E-8534-F7B9-63B2AAA5214E}"/>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80" name="Freeform 377">
                <a:extLst>
                  <a:ext uri="{FF2B5EF4-FFF2-40B4-BE49-F238E27FC236}">
                    <a16:creationId xmlns:a16="http://schemas.microsoft.com/office/drawing/2014/main" id="{31B3A673-B8C6-6BE8-4EFD-9EA8C640A668}"/>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81" name="Freeform 376">
                <a:extLst>
                  <a:ext uri="{FF2B5EF4-FFF2-40B4-BE49-F238E27FC236}">
                    <a16:creationId xmlns:a16="http://schemas.microsoft.com/office/drawing/2014/main" id="{8EF1F489-2F33-C000-D853-8835B9C5011A}"/>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82" name="AutoShape 375">
                <a:extLst>
                  <a:ext uri="{FF2B5EF4-FFF2-40B4-BE49-F238E27FC236}">
                    <a16:creationId xmlns:a16="http://schemas.microsoft.com/office/drawing/2014/main" id="{E02366E6-5BEF-926F-49D6-02F3D70682AF}"/>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70" name="Group 69">
              <a:extLst>
                <a:ext uri="{FF2B5EF4-FFF2-40B4-BE49-F238E27FC236}">
                  <a16:creationId xmlns:a16="http://schemas.microsoft.com/office/drawing/2014/main" id="{FA3C99E8-00D8-443C-361B-58298E0D7573}"/>
                </a:ext>
              </a:extLst>
            </p:cNvPr>
            <p:cNvGrpSpPr>
              <a:grpSpLocks/>
            </p:cNvGrpSpPr>
            <p:nvPr/>
          </p:nvGrpSpPr>
          <p:grpSpPr bwMode="auto">
            <a:xfrm>
              <a:off x="24" y="883"/>
              <a:ext cx="1410" cy="296"/>
              <a:chOff x="24" y="883"/>
              <a:chExt cx="1410" cy="296"/>
            </a:xfrm>
          </p:grpSpPr>
          <p:pic>
            <p:nvPicPr>
              <p:cNvPr id="74" name="Picture 73">
                <a:extLst>
                  <a:ext uri="{FF2B5EF4-FFF2-40B4-BE49-F238E27FC236}">
                    <a16:creationId xmlns:a16="http://schemas.microsoft.com/office/drawing/2014/main" id="{D8DA6041-B03A-54ED-9E5A-56E13FEA05D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a:extLst>
                  <a:ext uri="{FF2B5EF4-FFF2-40B4-BE49-F238E27FC236}">
                    <a16:creationId xmlns:a16="http://schemas.microsoft.com/office/drawing/2014/main" id="{6DB85F69-8D46-74BB-E0E2-10EA693E3F7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76" name="AutoShape 371">
                <a:extLst>
                  <a:ext uri="{FF2B5EF4-FFF2-40B4-BE49-F238E27FC236}">
                    <a16:creationId xmlns:a16="http://schemas.microsoft.com/office/drawing/2014/main" id="{422ED778-2A97-D49B-AE3F-029BEEB2DB0C}"/>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71" name="Group 70">
              <a:extLst>
                <a:ext uri="{FF2B5EF4-FFF2-40B4-BE49-F238E27FC236}">
                  <a16:creationId xmlns:a16="http://schemas.microsoft.com/office/drawing/2014/main" id="{990D4848-8746-5209-FE86-09B0EF9DDC3C}"/>
                </a:ext>
              </a:extLst>
            </p:cNvPr>
            <p:cNvGrpSpPr>
              <a:grpSpLocks/>
            </p:cNvGrpSpPr>
            <p:nvPr/>
          </p:nvGrpSpPr>
          <p:grpSpPr bwMode="auto">
            <a:xfrm>
              <a:off x="191" y="1279"/>
              <a:ext cx="1059" cy="145"/>
              <a:chOff x="191" y="1279"/>
              <a:chExt cx="1059" cy="145"/>
            </a:xfrm>
          </p:grpSpPr>
          <p:pic>
            <p:nvPicPr>
              <p:cNvPr id="72" name="Picture 71">
                <a:extLst>
                  <a:ext uri="{FF2B5EF4-FFF2-40B4-BE49-F238E27FC236}">
                    <a16:creationId xmlns:a16="http://schemas.microsoft.com/office/drawing/2014/main" id="{2EB1FBCF-EC2E-1AEE-EA52-613DE90D7B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a:extLst>
                  <a:ext uri="{FF2B5EF4-FFF2-40B4-BE49-F238E27FC236}">
                    <a16:creationId xmlns:a16="http://schemas.microsoft.com/office/drawing/2014/main" id="{E3F75326-D932-FCCE-6D36-9902ED45AF7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84" name="Picture 83">
            <a:extLst>
              <a:ext uri="{FF2B5EF4-FFF2-40B4-BE49-F238E27FC236}">
                <a16:creationId xmlns:a16="http://schemas.microsoft.com/office/drawing/2014/main" id="{0D9691FB-64A2-F616-E543-708B4B2EC85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6043865" y="282533"/>
            <a:ext cx="1828800" cy="9006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AutoShape 11">
            <a:extLst>
              <a:ext uri="{FF2B5EF4-FFF2-40B4-BE49-F238E27FC236}">
                <a16:creationId xmlns:a16="http://schemas.microsoft.com/office/drawing/2014/main" id="{95D9181C-D336-CA93-ADE7-EFEEE2E020DE}"/>
              </a:ext>
            </a:extLst>
          </p:cNvPr>
          <p:cNvSpPr/>
          <p:nvPr/>
        </p:nvSpPr>
        <p:spPr>
          <a:xfrm>
            <a:off x="9679196" y="1076002"/>
            <a:ext cx="5903175" cy="15082"/>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3" name="Group 2">
            <a:extLst>
              <a:ext uri="{FF2B5EF4-FFF2-40B4-BE49-F238E27FC236}">
                <a16:creationId xmlns:a16="http://schemas.microsoft.com/office/drawing/2014/main" id="{0CDCE0EB-B4D1-0DDD-BEAD-9F795C622C6B}"/>
              </a:ext>
            </a:extLst>
          </p:cNvPr>
          <p:cNvGrpSpPr/>
          <p:nvPr/>
        </p:nvGrpSpPr>
        <p:grpSpPr bwMode="auto">
          <a:xfrm>
            <a:off x="584013" y="355390"/>
            <a:ext cx="1288014" cy="1282909"/>
            <a:chOff x="-1" y="0"/>
            <a:chExt cx="1435" cy="1424"/>
          </a:xfrm>
        </p:grpSpPr>
        <p:grpSp>
          <p:nvGrpSpPr>
            <p:cNvPr id="4" name="Group 3">
              <a:extLst>
                <a:ext uri="{FF2B5EF4-FFF2-40B4-BE49-F238E27FC236}">
                  <a16:creationId xmlns:a16="http://schemas.microsoft.com/office/drawing/2014/main" id="{D1B67BCE-CF0A-F579-3DE3-AE30C1C500E1}"/>
                </a:ext>
              </a:extLst>
            </p:cNvPr>
            <p:cNvGrpSpPr>
              <a:grpSpLocks/>
            </p:cNvGrpSpPr>
            <p:nvPr/>
          </p:nvGrpSpPr>
          <p:grpSpPr bwMode="auto">
            <a:xfrm>
              <a:off x="-1" y="0"/>
              <a:ext cx="1336" cy="839"/>
              <a:chOff x="-1" y="0"/>
              <a:chExt cx="1336" cy="839"/>
            </a:xfrm>
          </p:grpSpPr>
          <p:pic>
            <p:nvPicPr>
              <p:cNvPr id="12" name="Picture 11">
                <a:extLst>
                  <a:ext uri="{FF2B5EF4-FFF2-40B4-BE49-F238E27FC236}">
                    <a16:creationId xmlns:a16="http://schemas.microsoft.com/office/drawing/2014/main" id="{69F3FE60-2AB0-CD8C-DD04-50DEAD998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AFCE124C-0432-B90D-7A8E-54EE13059E8E}"/>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14" name="Freeform 378">
                <a:extLst>
                  <a:ext uri="{FF2B5EF4-FFF2-40B4-BE49-F238E27FC236}">
                    <a16:creationId xmlns:a16="http://schemas.microsoft.com/office/drawing/2014/main" id="{BD5D1BAB-B400-C1A0-3A77-2200D9F96102}"/>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15" name="Freeform 377">
                <a:extLst>
                  <a:ext uri="{FF2B5EF4-FFF2-40B4-BE49-F238E27FC236}">
                    <a16:creationId xmlns:a16="http://schemas.microsoft.com/office/drawing/2014/main" id="{9C5856A8-54AA-6A4D-5277-C3D27CE0AA32}"/>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16" name="Freeform 376">
                <a:extLst>
                  <a:ext uri="{FF2B5EF4-FFF2-40B4-BE49-F238E27FC236}">
                    <a16:creationId xmlns:a16="http://schemas.microsoft.com/office/drawing/2014/main" id="{1C2BC919-3B3C-2027-D3D8-9F57184C877F}"/>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17" name="AutoShape 375">
                <a:extLst>
                  <a:ext uri="{FF2B5EF4-FFF2-40B4-BE49-F238E27FC236}">
                    <a16:creationId xmlns:a16="http://schemas.microsoft.com/office/drawing/2014/main" id="{9ECA1A27-0664-3393-7D54-BA99C8915B15}"/>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5" name="Group 4">
              <a:extLst>
                <a:ext uri="{FF2B5EF4-FFF2-40B4-BE49-F238E27FC236}">
                  <a16:creationId xmlns:a16="http://schemas.microsoft.com/office/drawing/2014/main" id="{DEC0621D-B191-D21C-22DE-A284C27C720F}"/>
                </a:ext>
              </a:extLst>
            </p:cNvPr>
            <p:cNvGrpSpPr>
              <a:grpSpLocks/>
            </p:cNvGrpSpPr>
            <p:nvPr/>
          </p:nvGrpSpPr>
          <p:grpSpPr bwMode="auto">
            <a:xfrm>
              <a:off x="24" y="883"/>
              <a:ext cx="1410" cy="296"/>
              <a:chOff x="24" y="883"/>
              <a:chExt cx="1410" cy="296"/>
            </a:xfrm>
          </p:grpSpPr>
          <p:pic>
            <p:nvPicPr>
              <p:cNvPr id="9" name="Picture 8">
                <a:extLst>
                  <a:ext uri="{FF2B5EF4-FFF2-40B4-BE49-F238E27FC236}">
                    <a16:creationId xmlns:a16="http://schemas.microsoft.com/office/drawing/2014/main" id="{5C36D715-6563-B7CA-8FFC-586CFA896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EEBE203-5E35-6B58-A01D-EFADC5905B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11" name="AutoShape 371">
                <a:extLst>
                  <a:ext uri="{FF2B5EF4-FFF2-40B4-BE49-F238E27FC236}">
                    <a16:creationId xmlns:a16="http://schemas.microsoft.com/office/drawing/2014/main" id="{9B695756-77BD-6DE2-87D3-7617A9A0CDBD}"/>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6" name="Group 5">
              <a:extLst>
                <a:ext uri="{FF2B5EF4-FFF2-40B4-BE49-F238E27FC236}">
                  <a16:creationId xmlns:a16="http://schemas.microsoft.com/office/drawing/2014/main" id="{2CBB7C5F-EE48-F7E7-CC20-6C5525742AF5}"/>
                </a:ext>
              </a:extLst>
            </p:cNvPr>
            <p:cNvGrpSpPr>
              <a:grpSpLocks/>
            </p:cNvGrpSpPr>
            <p:nvPr/>
          </p:nvGrpSpPr>
          <p:grpSpPr bwMode="auto">
            <a:xfrm>
              <a:off x="191" y="1279"/>
              <a:ext cx="1059" cy="145"/>
              <a:chOff x="191" y="1279"/>
              <a:chExt cx="1059" cy="145"/>
            </a:xfrm>
          </p:grpSpPr>
          <p:pic>
            <p:nvPicPr>
              <p:cNvPr id="7" name="Picture 6">
                <a:extLst>
                  <a:ext uri="{FF2B5EF4-FFF2-40B4-BE49-F238E27FC236}">
                    <a16:creationId xmlns:a16="http://schemas.microsoft.com/office/drawing/2014/main" id="{69478424-05D4-2DE4-8D0D-4FF8741665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2D59B1E-B459-0E4F-B3FA-AE59BEF566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9" name="TextBox 58">
            <a:extLst>
              <a:ext uri="{FF2B5EF4-FFF2-40B4-BE49-F238E27FC236}">
                <a16:creationId xmlns:a16="http://schemas.microsoft.com/office/drawing/2014/main" id="{D9722486-2BC4-79BA-29B2-C38FBD7BEE87}"/>
              </a:ext>
            </a:extLst>
          </p:cNvPr>
          <p:cNvSpPr txBox="1"/>
          <p:nvPr/>
        </p:nvSpPr>
        <p:spPr>
          <a:xfrm>
            <a:off x="2156557" y="693496"/>
            <a:ext cx="9393552" cy="864404"/>
          </a:xfrm>
          <a:prstGeom prst="rect">
            <a:avLst/>
          </a:prstGeom>
        </p:spPr>
        <p:txBody>
          <a:bodyPr lIns="0" tIns="0" rIns="0" bIns="0" rtlCol="0" anchor="t">
            <a:spAutoFit/>
          </a:bodyPr>
          <a:lstStyle/>
          <a:p>
            <a:pPr>
              <a:lnSpc>
                <a:spcPts val="6695"/>
              </a:lnSpc>
            </a:pPr>
            <a:r>
              <a:rPr lang="en-US" sz="6600" b="1" spc="-280" dirty="0">
                <a:solidFill>
                  <a:srgbClr val="FFFFFF"/>
                </a:solidFill>
                <a:latin typeface="Akzidenz-Grotesk Bold"/>
                <a:ea typeface="Akzidenz-Grotesk Bold"/>
                <a:cs typeface="Akzidenz-Grotesk Bold"/>
                <a:sym typeface="Akzidenz-Grotesk Bold"/>
              </a:rPr>
              <a:t>Work Flow Diagram</a:t>
            </a:r>
          </a:p>
        </p:txBody>
      </p:sp>
      <p:grpSp>
        <p:nvGrpSpPr>
          <p:cNvPr id="78" name="Group 77">
            <a:extLst>
              <a:ext uri="{FF2B5EF4-FFF2-40B4-BE49-F238E27FC236}">
                <a16:creationId xmlns:a16="http://schemas.microsoft.com/office/drawing/2014/main" id="{FE49497D-B2EB-77EC-D0A8-4DDD11046B93}"/>
              </a:ext>
            </a:extLst>
          </p:cNvPr>
          <p:cNvGrpSpPr/>
          <p:nvPr/>
        </p:nvGrpSpPr>
        <p:grpSpPr bwMode="auto">
          <a:xfrm>
            <a:off x="584013" y="355390"/>
            <a:ext cx="1288014" cy="1282909"/>
            <a:chOff x="-1" y="0"/>
            <a:chExt cx="1435" cy="1424"/>
          </a:xfrm>
        </p:grpSpPr>
        <p:grpSp>
          <p:nvGrpSpPr>
            <p:cNvPr id="79" name="Group 78">
              <a:extLst>
                <a:ext uri="{FF2B5EF4-FFF2-40B4-BE49-F238E27FC236}">
                  <a16:creationId xmlns:a16="http://schemas.microsoft.com/office/drawing/2014/main" id="{768289C2-9D5B-9AB8-CDE6-53173CE71F89}"/>
                </a:ext>
              </a:extLst>
            </p:cNvPr>
            <p:cNvGrpSpPr>
              <a:grpSpLocks/>
            </p:cNvGrpSpPr>
            <p:nvPr/>
          </p:nvGrpSpPr>
          <p:grpSpPr bwMode="auto">
            <a:xfrm>
              <a:off x="-1" y="0"/>
              <a:ext cx="1336" cy="839"/>
              <a:chOff x="-1" y="0"/>
              <a:chExt cx="1336" cy="839"/>
            </a:xfrm>
          </p:grpSpPr>
          <p:pic>
            <p:nvPicPr>
              <p:cNvPr id="87" name="Picture 86">
                <a:extLst>
                  <a:ext uri="{FF2B5EF4-FFF2-40B4-BE49-F238E27FC236}">
                    <a16:creationId xmlns:a16="http://schemas.microsoft.com/office/drawing/2014/main" id="{959AFCB7-EA94-37DC-C7AF-15EE1C31C5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88" name="Rectangle 87">
                <a:extLst>
                  <a:ext uri="{FF2B5EF4-FFF2-40B4-BE49-F238E27FC236}">
                    <a16:creationId xmlns:a16="http://schemas.microsoft.com/office/drawing/2014/main" id="{C411517B-9E53-33EA-A4A4-32DC97D37B0B}"/>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89" name="Freeform 378">
                <a:extLst>
                  <a:ext uri="{FF2B5EF4-FFF2-40B4-BE49-F238E27FC236}">
                    <a16:creationId xmlns:a16="http://schemas.microsoft.com/office/drawing/2014/main" id="{AE86D73B-C488-4387-9FC3-5F5872B35754}"/>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90" name="Freeform 377">
                <a:extLst>
                  <a:ext uri="{FF2B5EF4-FFF2-40B4-BE49-F238E27FC236}">
                    <a16:creationId xmlns:a16="http://schemas.microsoft.com/office/drawing/2014/main" id="{BFA1159E-A46B-4FFB-3B90-3BB79D8B0F7E}"/>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91" name="Freeform 376">
                <a:extLst>
                  <a:ext uri="{FF2B5EF4-FFF2-40B4-BE49-F238E27FC236}">
                    <a16:creationId xmlns:a16="http://schemas.microsoft.com/office/drawing/2014/main" id="{0DF48A4E-5018-8E3D-C0E4-286AE547F242}"/>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92" name="AutoShape 375">
                <a:extLst>
                  <a:ext uri="{FF2B5EF4-FFF2-40B4-BE49-F238E27FC236}">
                    <a16:creationId xmlns:a16="http://schemas.microsoft.com/office/drawing/2014/main" id="{EF639D09-3197-FACD-5D87-39CFD38AD03D}"/>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80" name="Group 79">
              <a:extLst>
                <a:ext uri="{FF2B5EF4-FFF2-40B4-BE49-F238E27FC236}">
                  <a16:creationId xmlns:a16="http://schemas.microsoft.com/office/drawing/2014/main" id="{78DBAE03-A4C7-A039-D688-3B882B4DC11C}"/>
                </a:ext>
              </a:extLst>
            </p:cNvPr>
            <p:cNvGrpSpPr>
              <a:grpSpLocks/>
            </p:cNvGrpSpPr>
            <p:nvPr/>
          </p:nvGrpSpPr>
          <p:grpSpPr bwMode="auto">
            <a:xfrm>
              <a:off x="24" y="883"/>
              <a:ext cx="1410" cy="296"/>
              <a:chOff x="24" y="883"/>
              <a:chExt cx="1410" cy="296"/>
            </a:xfrm>
          </p:grpSpPr>
          <p:pic>
            <p:nvPicPr>
              <p:cNvPr id="84" name="Picture 83">
                <a:extLst>
                  <a:ext uri="{FF2B5EF4-FFF2-40B4-BE49-F238E27FC236}">
                    <a16:creationId xmlns:a16="http://schemas.microsoft.com/office/drawing/2014/main" id="{93BBE9C0-DC84-E292-F8A8-DFC824B08B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a:extLst>
                  <a:ext uri="{FF2B5EF4-FFF2-40B4-BE49-F238E27FC236}">
                    <a16:creationId xmlns:a16="http://schemas.microsoft.com/office/drawing/2014/main" id="{EE94DD61-5A6C-02E0-93D0-22149FCB08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86" name="AutoShape 371">
                <a:extLst>
                  <a:ext uri="{FF2B5EF4-FFF2-40B4-BE49-F238E27FC236}">
                    <a16:creationId xmlns:a16="http://schemas.microsoft.com/office/drawing/2014/main" id="{5643641D-1C53-7FBD-DFB1-128A5F34C2DA}"/>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81" name="Group 80">
              <a:extLst>
                <a:ext uri="{FF2B5EF4-FFF2-40B4-BE49-F238E27FC236}">
                  <a16:creationId xmlns:a16="http://schemas.microsoft.com/office/drawing/2014/main" id="{D9D67706-9418-74E4-D0EB-DC75C5364009}"/>
                </a:ext>
              </a:extLst>
            </p:cNvPr>
            <p:cNvGrpSpPr>
              <a:grpSpLocks/>
            </p:cNvGrpSpPr>
            <p:nvPr/>
          </p:nvGrpSpPr>
          <p:grpSpPr bwMode="auto">
            <a:xfrm>
              <a:off x="191" y="1279"/>
              <a:ext cx="1059" cy="145"/>
              <a:chOff x="191" y="1279"/>
              <a:chExt cx="1059" cy="145"/>
            </a:xfrm>
          </p:grpSpPr>
          <p:pic>
            <p:nvPicPr>
              <p:cNvPr id="82" name="Picture 81">
                <a:extLst>
                  <a:ext uri="{FF2B5EF4-FFF2-40B4-BE49-F238E27FC236}">
                    <a16:creationId xmlns:a16="http://schemas.microsoft.com/office/drawing/2014/main" id="{8324E264-0B30-0C47-89D6-14031D0988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82">
                <a:extLst>
                  <a:ext uri="{FF2B5EF4-FFF2-40B4-BE49-F238E27FC236}">
                    <a16:creationId xmlns:a16="http://schemas.microsoft.com/office/drawing/2014/main" id="{056E84B9-7BCC-BCF1-B8AA-11F47F1BC0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95" name="Picture 94">
            <a:extLst>
              <a:ext uri="{FF2B5EF4-FFF2-40B4-BE49-F238E27FC236}">
                <a16:creationId xmlns:a16="http://schemas.microsoft.com/office/drawing/2014/main" id="{EDD814FB-2632-41FF-7FE9-AEE941167E9D}"/>
              </a:ext>
            </a:extLst>
          </p:cNvPr>
          <p:cNvPicPr>
            <a:picLocks noChangeAspect="1"/>
          </p:cNvPicPr>
          <p:nvPr/>
        </p:nvPicPr>
        <p:blipFill>
          <a:blip r:embed="rId7">
            <a:extLst>
              <a:ext uri="{28A0092B-C50C-407E-A947-70E740481C1C}">
                <a14:useLocalDpi xmlns:a14="http://schemas.microsoft.com/office/drawing/2010/main" val="0"/>
              </a:ext>
            </a:extLst>
          </a:blip>
          <a:srcRect t="7810" b="6940"/>
          <a:stretch>
            <a:fillRect/>
          </a:stretch>
        </p:blipFill>
        <p:spPr>
          <a:xfrm>
            <a:off x="2344391" y="2356943"/>
            <a:ext cx="13575247" cy="7715233"/>
          </a:xfrm>
          <a:prstGeom prst="rect">
            <a:avLst/>
          </a:prstGeom>
        </p:spPr>
      </p:pic>
      <p:pic>
        <p:nvPicPr>
          <p:cNvPr id="96" name="Picture 95">
            <a:extLst>
              <a:ext uri="{FF2B5EF4-FFF2-40B4-BE49-F238E27FC236}">
                <a16:creationId xmlns:a16="http://schemas.microsoft.com/office/drawing/2014/main" id="{49A5037D-00AB-8861-0B4C-D81F8DAFFED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025898" y="297479"/>
            <a:ext cx="1828800" cy="900684"/>
          </a:xfrm>
          <a:prstGeom prst="rect">
            <a:avLst/>
          </a:prstGeom>
        </p:spPr>
      </p:pic>
    </p:spTree>
    <p:extLst>
      <p:ext uri="{BB962C8B-B14F-4D97-AF65-F5344CB8AC3E}">
        <p14:creationId xmlns:p14="http://schemas.microsoft.com/office/powerpoint/2010/main" val="28507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grpSp>
        <p:nvGrpSpPr>
          <p:cNvPr id="6" name="Group 6"/>
          <p:cNvGrpSpPr/>
          <p:nvPr/>
        </p:nvGrpSpPr>
        <p:grpSpPr>
          <a:xfrm>
            <a:off x="2401098" y="597554"/>
            <a:ext cx="3185304" cy="669965"/>
            <a:chOff x="0" y="0"/>
            <a:chExt cx="4247072" cy="893286"/>
          </a:xfrm>
        </p:grpSpPr>
        <p:grpSp>
          <p:nvGrpSpPr>
            <p:cNvPr id="7" name="Group 7"/>
            <p:cNvGrpSpPr/>
            <p:nvPr/>
          </p:nvGrpSpPr>
          <p:grpSpPr>
            <a:xfrm>
              <a:off x="0" y="0"/>
              <a:ext cx="4247072" cy="893286"/>
              <a:chOff x="0" y="0"/>
              <a:chExt cx="1932203" cy="406400"/>
            </a:xfrm>
          </p:grpSpPr>
          <p:sp>
            <p:nvSpPr>
              <p:cNvPr id="8" name="Freeform 8"/>
              <p:cNvSpPr/>
              <p:nvPr/>
            </p:nvSpPr>
            <p:spPr>
              <a:xfrm>
                <a:off x="0" y="0"/>
                <a:ext cx="1932203" cy="406400"/>
              </a:xfrm>
              <a:custGeom>
                <a:avLst/>
                <a:gdLst/>
                <a:ahLst/>
                <a:cxnLst/>
                <a:rect l="l" t="t" r="r" b="b"/>
                <a:pathLst>
                  <a:path w="1932203" h="406400">
                    <a:moveTo>
                      <a:pt x="1729003" y="0"/>
                    </a:moveTo>
                    <a:cubicBezTo>
                      <a:pt x="1841227" y="0"/>
                      <a:pt x="1932203" y="90976"/>
                      <a:pt x="1932203" y="203200"/>
                    </a:cubicBezTo>
                    <a:cubicBezTo>
                      <a:pt x="1932203" y="315424"/>
                      <a:pt x="1841227" y="406400"/>
                      <a:pt x="1729003" y="406400"/>
                    </a:cubicBezTo>
                    <a:lnTo>
                      <a:pt x="203200" y="406400"/>
                    </a:lnTo>
                    <a:cubicBezTo>
                      <a:pt x="90976" y="406400"/>
                      <a:pt x="0" y="315424"/>
                      <a:pt x="0" y="203200"/>
                    </a:cubicBezTo>
                    <a:cubicBezTo>
                      <a:pt x="0" y="90976"/>
                      <a:pt x="90976" y="0"/>
                      <a:pt x="203200" y="0"/>
                    </a:cubicBezTo>
                    <a:close/>
                  </a:path>
                </a:pathLst>
              </a:custGeom>
              <a:ln w="19050" cap="sq">
                <a:solidFill>
                  <a:srgbClr val="D6FF3F"/>
                </a:solidFill>
                <a:prstDash val="solid"/>
                <a:miter/>
              </a:ln>
            </p:spPr>
          </p:sp>
          <p:sp>
            <p:nvSpPr>
              <p:cNvPr id="9" name="TextBox 9"/>
              <p:cNvSpPr txBox="1"/>
              <p:nvPr/>
            </p:nvSpPr>
            <p:spPr>
              <a:xfrm>
                <a:off x="0" y="-38100"/>
                <a:ext cx="1932203" cy="444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14811" y="185446"/>
              <a:ext cx="4017450" cy="484294"/>
            </a:xfrm>
            <a:prstGeom prst="rect">
              <a:avLst/>
            </a:prstGeom>
          </p:spPr>
          <p:txBody>
            <a:bodyPr lIns="0" tIns="0" rIns="0" bIns="0" rtlCol="0" anchor="t">
              <a:spAutoFit/>
            </a:bodyPr>
            <a:lstStyle/>
            <a:p>
              <a:pPr algn="ctr">
                <a:lnSpc>
                  <a:spcPts val="3079"/>
                </a:lnSpc>
                <a:spcBef>
                  <a:spcPct val="0"/>
                </a:spcBef>
              </a:pPr>
              <a:r>
                <a:rPr lang="en-US" sz="2199" dirty="0">
                  <a:solidFill>
                    <a:srgbClr val="D6FF3F"/>
                  </a:solidFill>
                  <a:latin typeface="Open Sauce"/>
                  <a:ea typeface="Open Sauce"/>
                  <a:cs typeface="Open Sauce"/>
                  <a:sym typeface="Open Sauce"/>
                </a:rPr>
                <a:t>Firmware Structure</a:t>
              </a:r>
            </a:p>
          </p:txBody>
        </p:sp>
      </p:grpSp>
      <p:sp>
        <p:nvSpPr>
          <p:cNvPr id="13" name="TextBox 13"/>
          <p:cNvSpPr txBox="1"/>
          <p:nvPr/>
        </p:nvSpPr>
        <p:spPr>
          <a:xfrm>
            <a:off x="411911" y="2041015"/>
            <a:ext cx="16528387" cy="1800493"/>
          </a:xfrm>
          <a:prstGeom prst="rect">
            <a:avLst/>
          </a:prstGeom>
        </p:spPr>
        <p:txBody>
          <a:bodyPr lIns="0" tIns="0" rIns="0" bIns="0" rtlCol="0" anchor="t">
            <a:spAutoFit/>
          </a:bodyPr>
          <a:lstStyle/>
          <a:p>
            <a:pPr marL="0" lvl="0" indent="0" algn="r">
              <a:lnSpc>
                <a:spcPts val="13563"/>
              </a:lnSpc>
              <a:spcBef>
                <a:spcPct val="0"/>
              </a:spcBef>
            </a:pPr>
            <a:r>
              <a:rPr lang="en-US" sz="14100" b="1" spc="-346" dirty="0">
                <a:solidFill>
                  <a:srgbClr val="FFFFFF"/>
                </a:solidFill>
                <a:latin typeface="Akzidenz-Grotesk Heavy"/>
                <a:ea typeface="Akzidenz-Grotesk Heavy"/>
                <a:cs typeface="Akzidenz-Grotesk Heavy"/>
                <a:sym typeface="Akzidenz-Grotesk Heavy"/>
              </a:rPr>
              <a:t>THE FIRMWARE</a:t>
            </a:r>
          </a:p>
        </p:txBody>
      </p:sp>
      <p:grpSp>
        <p:nvGrpSpPr>
          <p:cNvPr id="14" name="Group 14"/>
          <p:cNvGrpSpPr/>
          <p:nvPr/>
        </p:nvGrpSpPr>
        <p:grpSpPr>
          <a:xfrm>
            <a:off x="17009784" y="3313570"/>
            <a:ext cx="231692" cy="23169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FF3F"/>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028700" y="6132150"/>
            <a:ext cx="5911842" cy="3175934"/>
          </a:xfrm>
          <a:prstGeom prst="rect">
            <a:avLst/>
          </a:prstGeom>
        </p:spPr>
        <p:txBody>
          <a:bodyPr lIns="0" tIns="0" rIns="0" bIns="0" rtlCol="0" anchor="t">
            <a:spAutoFit/>
          </a:bodyPr>
          <a:lstStyle/>
          <a:p>
            <a:pPr algn="just">
              <a:lnSpc>
                <a:spcPts val="2548"/>
              </a:lnSpc>
            </a:pPr>
            <a:r>
              <a:rPr lang="en-US" dirty="0">
                <a:solidFill>
                  <a:srgbClr val="FFFFFF"/>
                </a:solidFill>
                <a:latin typeface="Open Sauce"/>
                <a:ea typeface="Open Sauce"/>
                <a:cs typeface="Open Sauce"/>
                <a:sym typeface="Open Sauce"/>
              </a:rPr>
              <a:t>The system's core execution architecture is built natively inside the Simplicity Studio IDE, leveraging the official SiWx917 SDK. The software framework follows a modular structural layout:</a:t>
            </a:r>
          </a:p>
          <a:p>
            <a:pPr marL="366776" lvl="1" indent="-183388" algn="just">
              <a:lnSpc>
                <a:spcPts val="2548"/>
              </a:lnSpc>
              <a:buFont typeface="Arial"/>
              <a:buChar char="•"/>
            </a:pPr>
            <a:r>
              <a:rPr lang="en-US" dirty="0" err="1">
                <a:solidFill>
                  <a:srgbClr val="FFFFFF"/>
                </a:solidFill>
                <a:latin typeface="Open Sauce"/>
                <a:ea typeface="Open Sauce"/>
                <a:cs typeface="Open Sauce"/>
                <a:sym typeface="Open Sauce"/>
              </a:rPr>
              <a:t>main.c</a:t>
            </a:r>
            <a:r>
              <a:rPr lang="en-US" dirty="0">
                <a:solidFill>
                  <a:srgbClr val="FFFFFF"/>
                </a:solidFill>
                <a:latin typeface="Open Sauce"/>
                <a:ea typeface="Open Sauce"/>
                <a:cs typeface="Open Sauce"/>
                <a:sym typeface="Open Sauce"/>
              </a:rPr>
              <a:t> – Main execution loop control</a:t>
            </a:r>
          </a:p>
          <a:p>
            <a:pPr marL="366776" lvl="1" indent="-183388" algn="just">
              <a:lnSpc>
                <a:spcPts val="2548"/>
              </a:lnSpc>
              <a:buFont typeface="Arial"/>
              <a:buChar char="•"/>
            </a:pPr>
            <a:r>
              <a:rPr lang="en-US" dirty="0" err="1">
                <a:solidFill>
                  <a:srgbClr val="FFFFFF"/>
                </a:solidFill>
                <a:latin typeface="Open Sauce"/>
                <a:ea typeface="Open Sauce"/>
                <a:cs typeface="Open Sauce"/>
                <a:sym typeface="Open Sauce"/>
              </a:rPr>
              <a:t>sensors.c</a:t>
            </a:r>
            <a:r>
              <a:rPr lang="en-US" dirty="0">
                <a:solidFill>
                  <a:srgbClr val="FFFFFF"/>
                </a:solidFill>
                <a:latin typeface="Open Sauce"/>
                <a:ea typeface="Open Sauce"/>
                <a:cs typeface="Open Sauce"/>
                <a:sym typeface="Open Sauce"/>
              </a:rPr>
              <a:t> – Dynamic sensor polling &amp; drivers</a:t>
            </a:r>
          </a:p>
          <a:p>
            <a:pPr marL="366776" lvl="1" indent="-183388" algn="just">
              <a:lnSpc>
                <a:spcPts val="2548"/>
              </a:lnSpc>
              <a:buFont typeface="Arial"/>
              <a:buChar char="•"/>
            </a:pPr>
            <a:r>
              <a:rPr lang="en-US" dirty="0" err="1">
                <a:solidFill>
                  <a:srgbClr val="FFFFFF"/>
                </a:solidFill>
                <a:latin typeface="Open Sauce"/>
                <a:ea typeface="Open Sauce"/>
                <a:cs typeface="Open Sauce"/>
                <a:sym typeface="Open Sauce"/>
              </a:rPr>
              <a:t>wifi.c</a:t>
            </a:r>
            <a:r>
              <a:rPr lang="en-US" dirty="0">
                <a:solidFill>
                  <a:srgbClr val="FFFFFF"/>
                </a:solidFill>
                <a:latin typeface="Open Sauce"/>
                <a:ea typeface="Open Sauce"/>
                <a:cs typeface="Open Sauce"/>
                <a:sym typeface="Open Sauce"/>
              </a:rPr>
              <a:t> – Wi-Fi 6 wireless connectivity layer</a:t>
            </a:r>
          </a:p>
          <a:p>
            <a:pPr marL="366776" lvl="1" indent="-183388" algn="just">
              <a:lnSpc>
                <a:spcPts val="2548"/>
              </a:lnSpc>
              <a:buFont typeface="Arial"/>
              <a:buChar char="•"/>
            </a:pPr>
            <a:r>
              <a:rPr lang="en-US" dirty="0" err="1">
                <a:solidFill>
                  <a:srgbClr val="FFFFFF"/>
                </a:solidFill>
                <a:latin typeface="Open Sauce"/>
                <a:ea typeface="Open Sauce"/>
                <a:cs typeface="Open Sauce"/>
                <a:sym typeface="Open Sauce"/>
              </a:rPr>
              <a:t>alert_system.c</a:t>
            </a:r>
            <a:r>
              <a:rPr lang="en-US" dirty="0">
                <a:solidFill>
                  <a:srgbClr val="FFFFFF"/>
                </a:solidFill>
                <a:latin typeface="Open Sauce"/>
                <a:ea typeface="Open Sauce"/>
                <a:cs typeface="Open Sauce"/>
                <a:sym typeface="Open Sauce"/>
              </a:rPr>
              <a:t> – Edge-level hazard logic</a:t>
            </a:r>
          </a:p>
          <a:p>
            <a:pPr marL="366776" lvl="1" indent="-183388" algn="just">
              <a:lnSpc>
                <a:spcPts val="2548"/>
              </a:lnSpc>
              <a:buFont typeface="Arial"/>
              <a:buChar char="•"/>
            </a:pPr>
            <a:r>
              <a:rPr lang="en-US" dirty="0" err="1">
                <a:solidFill>
                  <a:srgbClr val="FFFFFF"/>
                </a:solidFill>
                <a:latin typeface="Open Sauce"/>
                <a:ea typeface="Open Sauce"/>
                <a:cs typeface="Open Sauce"/>
                <a:sym typeface="Open Sauce"/>
              </a:rPr>
              <a:t>cloud_upload.c</a:t>
            </a:r>
            <a:r>
              <a:rPr lang="en-US" dirty="0">
                <a:solidFill>
                  <a:srgbClr val="FFFFFF"/>
                </a:solidFill>
                <a:latin typeface="Open Sauce"/>
                <a:ea typeface="Open Sauce"/>
                <a:cs typeface="Open Sauce"/>
                <a:sym typeface="Open Sauce"/>
              </a:rPr>
              <a:t> – Dashboard synchronization</a:t>
            </a:r>
          </a:p>
          <a:p>
            <a:pPr marL="0" lvl="0" indent="0" algn="just">
              <a:lnSpc>
                <a:spcPts val="2548"/>
              </a:lnSpc>
              <a:spcBef>
                <a:spcPct val="0"/>
              </a:spcBef>
            </a:pPr>
            <a:endParaRPr lang="en-US" dirty="0">
              <a:solidFill>
                <a:srgbClr val="FFFFFF"/>
              </a:solidFill>
              <a:latin typeface="Open Sauce"/>
              <a:ea typeface="Open Sauce"/>
              <a:cs typeface="Open Sauce"/>
              <a:sym typeface="Open Sauce"/>
            </a:endParaRPr>
          </a:p>
        </p:txBody>
      </p:sp>
      <p:sp>
        <p:nvSpPr>
          <p:cNvPr id="18" name="TextBox 18"/>
          <p:cNvSpPr txBox="1"/>
          <p:nvPr/>
        </p:nvSpPr>
        <p:spPr>
          <a:xfrm>
            <a:off x="11320333" y="5412453"/>
            <a:ext cx="6182259" cy="4140749"/>
          </a:xfrm>
          <a:prstGeom prst="rect">
            <a:avLst/>
          </a:prstGeom>
        </p:spPr>
        <p:txBody>
          <a:bodyPr lIns="0" tIns="0" rIns="0" bIns="0" rtlCol="0" anchor="t">
            <a:spAutoFit/>
          </a:bodyPr>
          <a:lstStyle/>
          <a:p>
            <a:pPr marL="0" lvl="0" indent="0" algn="just">
              <a:lnSpc>
                <a:spcPts val="2548"/>
              </a:lnSpc>
              <a:spcBef>
                <a:spcPct val="0"/>
              </a:spcBef>
            </a:pPr>
            <a:r>
              <a:rPr lang="en-US" dirty="0">
                <a:solidFill>
                  <a:srgbClr val="FFFFFF"/>
                </a:solidFill>
                <a:latin typeface="Open Sauce"/>
                <a:ea typeface="Open Sauce"/>
                <a:cs typeface="Open Sauce"/>
                <a:sym typeface="Open Sauce"/>
              </a:rPr>
              <a:t>Th</a:t>
            </a:r>
            <a:r>
              <a:rPr lang="en-US" u="none" strike="noStrike" dirty="0">
                <a:solidFill>
                  <a:srgbClr val="FFFFFF"/>
                </a:solidFill>
                <a:latin typeface="Open Sauce"/>
                <a:ea typeface="Open Sauce"/>
                <a:cs typeface="Open Sauce"/>
                <a:sym typeface="Open Sauce"/>
              </a:rPr>
              <a:t>e firmware is designed around a lean, ultra-low-latency execution cycle optimized for real-time edge analytics. The processing pipeline manages four asynchronous operational mandates:</a:t>
            </a:r>
          </a:p>
          <a:p>
            <a:pPr marL="366776" lvl="1" indent="-183388" algn="just">
              <a:lnSpc>
                <a:spcPts val="2548"/>
              </a:lnSpc>
              <a:spcBef>
                <a:spcPct val="0"/>
              </a:spcBef>
              <a:buFont typeface="Arial"/>
              <a:buChar char="•"/>
            </a:pPr>
            <a:r>
              <a:rPr lang="en-US" u="none" strike="noStrike" dirty="0">
                <a:solidFill>
                  <a:srgbClr val="FFFFFF"/>
                </a:solidFill>
                <a:latin typeface="Open Sauce"/>
                <a:ea typeface="Open Sauce"/>
                <a:cs typeface="Open Sauce"/>
                <a:sym typeface="Open Sauce"/>
              </a:rPr>
              <a:t>Read Sensor Data: Constantly polls vital metrics and ambient environmental parameters.</a:t>
            </a:r>
          </a:p>
          <a:p>
            <a:pPr marL="366776" lvl="1" indent="-183388" algn="just">
              <a:lnSpc>
                <a:spcPts val="2548"/>
              </a:lnSpc>
              <a:spcBef>
                <a:spcPct val="0"/>
              </a:spcBef>
              <a:buFont typeface="Arial"/>
              <a:buChar char="•"/>
            </a:pPr>
            <a:r>
              <a:rPr lang="en-US" u="none" strike="noStrike" dirty="0">
                <a:solidFill>
                  <a:srgbClr val="FFFFFF"/>
                </a:solidFill>
                <a:latin typeface="Open Sauce"/>
                <a:ea typeface="Open Sauce"/>
                <a:cs typeface="Open Sauce"/>
                <a:sym typeface="Open Sauce"/>
              </a:rPr>
              <a:t>Analyze Safety Conditions: Parses data instantly against configured emergency thresholds.</a:t>
            </a:r>
          </a:p>
          <a:p>
            <a:pPr marL="366776" lvl="1" indent="-183388" algn="just">
              <a:lnSpc>
                <a:spcPts val="2548"/>
              </a:lnSpc>
              <a:spcBef>
                <a:spcPct val="0"/>
              </a:spcBef>
              <a:buFont typeface="Arial"/>
              <a:buChar char="•"/>
            </a:pPr>
            <a:r>
              <a:rPr lang="en-US" u="none" strike="noStrike" dirty="0">
                <a:solidFill>
                  <a:srgbClr val="FFFFFF"/>
                </a:solidFill>
                <a:latin typeface="Open Sauce"/>
                <a:ea typeface="Open Sauce"/>
                <a:cs typeface="Open Sauce"/>
                <a:sym typeface="Open Sauce"/>
              </a:rPr>
              <a:t>Generate Alerts: Spits out low-latency interrupt notifications upon anomaly detection.</a:t>
            </a:r>
          </a:p>
          <a:p>
            <a:pPr marL="366776" lvl="1" indent="-183388" algn="just">
              <a:lnSpc>
                <a:spcPts val="2548"/>
              </a:lnSpc>
              <a:spcBef>
                <a:spcPct val="0"/>
              </a:spcBef>
              <a:buFont typeface="Arial"/>
              <a:buChar char="•"/>
            </a:pPr>
            <a:r>
              <a:rPr lang="en-US" u="none" strike="noStrike" dirty="0">
                <a:solidFill>
                  <a:srgbClr val="FFFFFF"/>
                </a:solidFill>
                <a:latin typeface="Open Sauce"/>
                <a:ea typeface="Open Sauce"/>
                <a:cs typeface="Open Sauce"/>
                <a:sym typeface="Open Sauce"/>
              </a:rPr>
              <a:t>Upload Cloud Data: Pushes secure telemetry frames over wireless channels to the web terminal.</a:t>
            </a:r>
          </a:p>
          <a:p>
            <a:pPr marL="0" lvl="0" indent="0" algn="just">
              <a:lnSpc>
                <a:spcPts val="2548"/>
              </a:lnSpc>
              <a:spcBef>
                <a:spcPct val="0"/>
              </a:spcBef>
            </a:pPr>
            <a:endParaRPr lang="en-US" u="none" strike="noStrike" dirty="0">
              <a:solidFill>
                <a:srgbClr val="FFFFFF"/>
              </a:solidFill>
              <a:latin typeface="Open Sauce"/>
              <a:ea typeface="Open Sauce"/>
              <a:cs typeface="Open Sauce"/>
              <a:sym typeface="Open Sauce"/>
            </a:endParaRPr>
          </a:p>
        </p:txBody>
      </p:sp>
      <p:sp>
        <p:nvSpPr>
          <p:cNvPr id="19" name="TextBox 19"/>
          <p:cNvSpPr txBox="1"/>
          <p:nvPr/>
        </p:nvSpPr>
        <p:spPr>
          <a:xfrm>
            <a:off x="1028700" y="5458789"/>
            <a:ext cx="3236618" cy="428625"/>
          </a:xfrm>
          <a:prstGeom prst="rect">
            <a:avLst/>
          </a:prstGeom>
        </p:spPr>
        <p:txBody>
          <a:bodyPr lIns="0" tIns="0" rIns="0" bIns="0" rtlCol="0" anchor="t">
            <a:spAutoFit/>
          </a:bodyPr>
          <a:lstStyle/>
          <a:p>
            <a:pPr marL="0" lvl="1" indent="0" algn="l">
              <a:lnSpc>
                <a:spcPts val="3359"/>
              </a:lnSpc>
            </a:pPr>
            <a:r>
              <a:rPr lang="en-US" sz="2799" b="1" spc="-33">
                <a:solidFill>
                  <a:srgbClr val="FFFFFF"/>
                </a:solidFill>
                <a:latin typeface="Open Sauce Bold"/>
                <a:ea typeface="Open Sauce Bold"/>
                <a:cs typeface="Open Sauce Bold"/>
                <a:sym typeface="Open Sauce Bold"/>
              </a:rPr>
              <a:t>THE FIRMWARE.</a:t>
            </a:r>
          </a:p>
        </p:txBody>
      </p:sp>
      <p:sp>
        <p:nvSpPr>
          <p:cNvPr id="20" name="TextBox 20"/>
          <p:cNvSpPr txBox="1"/>
          <p:nvPr/>
        </p:nvSpPr>
        <p:spPr>
          <a:xfrm>
            <a:off x="9144000" y="5450553"/>
            <a:ext cx="3236618" cy="847725"/>
          </a:xfrm>
          <a:prstGeom prst="rect">
            <a:avLst/>
          </a:prstGeom>
        </p:spPr>
        <p:txBody>
          <a:bodyPr lIns="0" tIns="0" rIns="0" bIns="0" rtlCol="0" anchor="t">
            <a:spAutoFit/>
          </a:bodyPr>
          <a:lstStyle/>
          <a:p>
            <a:pPr marL="0" lvl="1" indent="0" algn="l">
              <a:lnSpc>
                <a:spcPts val="3359"/>
              </a:lnSpc>
            </a:pPr>
            <a:r>
              <a:rPr lang="en-US" sz="2799" b="1" spc="-33">
                <a:solidFill>
                  <a:srgbClr val="FFFFFF"/>
                </a:solidFill>
                <a:latin typeface="Open Sauce Bold"/>
                <a:ea typeface="Open Sauce Bold"/>
                <a:cs typeface="Open Sauce Bold"/>
                <a:sym typeface="Open Sauce Bold"/>
              </a:rPr>
              <a:t>Cor</a:t>
            </a:r>
            <a:r>
              <a:rPr lang="en-US" sz="2799" b="1" strike="noStrike" spc="-33">
                <a:solidFill>
                  <a:srgbClr val="FFFFFF"/>
                </a:solidFill>
                <a:latin typeface="Open Sauce Bold"/>
                <a:ea typeface="Open Sauce Bold"/>
                <a:cs typeface="Open Sauce Bold"/>
                <a:sym typeface="Open Sauce Bold"/>
              </a:rPr>
              <a:t>e Logic Functions</a:t>
            </a:r>
          </a:p>
        </p:txBody>
      </p:sp>
      <p:sp>
        <p:nvSpPr>
          <p:cNvPr id="21" name="TextBox 21"/>
          <p:cNvSpPr txBox="1"/>
          <p:nvPr/>
        </p:nvSpPr>
        <p:spPr>
          <a:xfrm>
            <a:off x="0" y="5000311"/>
            <a:ext cx="1364970" cy="272537"/>
          </a:xfrm>
          <a:prstGeom prst="rect">
            <a:avLst/>
          </a:prstGeom>
        </p:spPr>
        <p:txBody>
          <a:bodyPr lIns="0" tIns="0" rIns="0" bIns="0" rtlCol="0" anchor="t">
            <a:spAutoFit/>
          </a:bodyPr>
          <a:lstStyle/>
          <a:p>
            <a:pPr marL="0" lvl="0" indent="0" algn="r">
              <a:lnSpc>
                <a:spcPts val="2013"/>
              </a:lnSpc>
              <a:spcBef>
                <a:spcPct val="0"/>
              </a:spcBef>
            </a:pPr>
            <a:r>
              <a:rPr lang="en-US" sz="2341" spc="-154">
                <a:solidFill>
                  <a:srgbClr val="D6FF3F"/>
                </a:solidFill>
                <a:latin typeface="Open Sauce"/>
                <a:ea typeface="Open Sauce"/>
                <a:cs typeface="Open Sauce"/>
                <a:sym typeface="Open Sauce"/>
              </a:rPr>
              <a:t>/1</a:t>
            </a:r>
          </a:p>
        </p:txBody>
      </p:sp>
      <p:sp>
        <p:nvSpPr>
          <p:cNvPr id="22" name="TextBox 22"/>
          <p:cNvSpPr txBox="1"/>
          <p:nvPr/>
        </p:nvSpPr>
        <p:spPr>
          <a:xfrm>
            <a:off x="8055603" y="5029200"/>
            <a:ext cx="1364970" cy="272537"/>
          </a:xfrm>
          <a:prstGeom prst="rect">
            <a:avLst/>
          </a:prstGeom>
        </p:spPr>
        <p:txBody>
          <a:bodyPr lIns="0" tIns="0" rIns="0" bIns="0" rtlCol="0" anchor="t">
            <a:spAutoFit/>
          </a:bodyPr>
          <a:lstStyle/>
          <a:p>
            <a:pPr marL="0" lvl="0" indent="0" algn="r">
              <a:lnSpc>
                <a:spcPts val="2013"/>
              </a:lnSpc>
              <a:spcBef>
                <a:spcPct val="0"/>
              </a:spcBef>
            </a:pPr>
            <a:r>
              <a:rPr lang="en-US" sz="2341" spc="-154">
                <a:solidFill>
                  <a:srgbClr val="D6FF3F"/>
                </a:solidFill>
                <a:latin typeface="Open Sauce"/>
                <a:ea typeface="Open Sauce"/>
                <a:cs typeface="Open Sauce"/>
                <a:sym typeface="Open Sauce"/>
              </a:rPr>
              <a:t>/2</a:t>
            </a:r>
          </a:p>
        </p:txBody>
      </p:sp>
      <p:sp>
        <p:nvSpPr>
          <p:cNvPr id="23" name="AutoShape 11">
            <a:extLst>
              <a:ext uri="{FF2B5EF4-FFF2-40B4-BE49-F238E27FC236}">
                <a16:creationId xmlns:a16="http://schemas.microsoft.com/office/drawing/2014/main" id="{2F825609-5FD9-06E7-EC86-84BD6AC09F1C}"/>
              </a:ext>
            </a:extLst>
          </p:cNvPr>
          <p:cNvSpPr/>
          <p:nvPr/>
        </p:nvSpPr>
        <p:spPr>
          <a:xfrm>
            <a:off x="6085136" y="955548"/>
            <a:ext cx="9158978" cy="23367"/>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24" name="Group 23">
            <a:extLst>
              <a:ext uri="{FF2B5EF4-FFF2-40B4-BE49-F238E27FC236}">
                <a16:creationId xmlns:a16="http://schemas.microsoft.com/office/drawing/2014/main" id="{165A86A4-900A-E40C-F9AB-C68B5F2BD192}"/>
              </a:ext>
            </a:extLst>
          </p:cNvPr>
          <p:cNvGrpSpPr/>
          <p:nvPr/>
        </p:nvGrpSpPr>
        <p:grpSpPr bwMode="auto">
          <a:xfrm>
            <a:off x="584013" y="399430"/>
            <a:ext cx="1288014" cy="1282909"/>
            <a:chOff x="-1" y="0"/>
            <a:chExt cx="1435" cy="1424"/>
          </a:xfrm>
        </p:grpSpPr>
        <p:grpSp>
          <p:nvGrpSpPr>
            <p:cNvPr id="25" name="Group 24">
              <a:extLst>
                <a:ext uri="{FF2B5EF4-FFF2-40B4-BE49-F238E27FC236}">
                  <a16:creationId xmlns:a16="http://schemas.microsoft.com/office/drawing/2014/main" id="{AADA9145-4144-FCCC-3145-2F4F59C7FE52}"/>
                </a:ext>
              </a:extLst>
            </p:cNvPr>
            <p:cNvGrpSpPr>
              <a:grpSpLocks/>
            </p:cNvGrpSpPr>
            <p:nvPr/>
          </p:nvGrpSpPr>
          <p:grpSpPr bwMode="auto">
            <a:xfrm>
              <a:off x="-1" y="0"/>
              <a:ext cx="1336" cy="839"/>
              <a:chOff x="-1" y="0"/>
              <a:chExt cx="1336" cy="839"/>
            </a:xfrm>
          </p:grpSpPr>
          <p:pic>
            <p:nvPicPr>
              <p:cNvPr id="33" name="Picture 32">
                <a:extLst>
                  <a:ext uri="{FF2B5EF4-FFF2-40B4-BE49-F238E27FC236}">
                    <a16:creationId xmlns:a16="http://schemas.microsoft.com/office/drawing/2014/main" id="{7AE0FC77-98E5-64BC-55F9-13C387AF3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407749F0-BB54-3E7A-F9A8-B2554B99E7C5}"/>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5" name="Freeform 378">
                <a:extLst>
                  <a:ext uri="{FF2B5EF4-FFF2-40B4-BE49-F238E27FC236}">
                    <a16:creationId xmlns:a16="http://schemas.microsoft.com/office/drawing/2014/main" id="{5446AB69-22E3-FA26-65EB-6171E7024A12}"/>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6" name="Freeform 377">
                <a:extLst>
                  <a:ext uri="{FF2B5EF4-FFF2-40B4-BE49-F238E27FC236}">
                    <a16:creationId xmlns:a16="http://schemas.microsoft.com/office/drawing/2014/main" id="{FE88F52B-A560-72AF-5F6D-5625E911FBAA}"/>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7" name="Freeform 376">
                <a:extLst>
                  <a:ext uri="{FF2B5EF4-FFF2-40B4-BE49-F238E27FC236}">
                    <a16:creationId xmlns:a16="http://schemas.microsoft.com/office/drawing/2014/main" id="{F31420CC-3481-67FE-B992-8E6B58A10111}"/>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8" name="AutoShape 375">
                <a:extLst>
                  <a:ext uri="{FF2B5EF4-FFF2-40B4-BE49-F238E27FC236}">
                    <a16:creationId xmlns:a16="http://schemas.microsoft.com/office/drawing/2014/main" id="{582B4ACE-2217-9CA0-BC0B-6B516D1EB74F}"/>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6" name="Group 25">
              <a:extLst>
                <a:ext uri="{FF2B5EF4-FFF2-40B4-BE49-F238E27FC236}">
                  <a16:creationId xmlns:a16="http://schemas.microsoft.com/office/drawing/2014/main" id="{CC90638F-B42B-265A-4302-9A86390D1D0C}"/>
                </a:ext>
              </a:extLst>
            </p:cNvPr>
            <p:cNvGrpSpPr>
              <a:grpSpLocks/>
            </p:cNvGrpSpPr>
            <p:nvPr/>
          </p:nvGrpSpPr>
          <p:grpSpPr bwMode="auto">
            <a:xfrm>
              <a:off x="24" y="883"/>
              <a:ext cx="1410" cy="296"/>
              <a:chOff x="24" y="883"/>
              <a:chExt cx="1410" cy="296"/>
            </a:xfrm>
          </p:grpSpPr>
          <p:pic>
            <p:nvPicPr>
              <p:cNvPr id="30" name="Picture 29">
                <a:extLst>
                  <a:ext uri="{FF2B5EF4-FFF2-40B4-BE49-F238E27FC236}">
                    <a16:creationId xmlns:a16="http://schemas.microsoft.com/office/drawing/2014/main" id="{2A6936E6-1CBF-01E6-087B-BDB419AC8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5AE0C894-C3A1-A472-07AA-18F0E38678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2" name="AutoShape 371">
                <a:extLst>
                  <a:ext uri="{FF2B5EF4-FFF2-40B4-BE49-F238E27FC236}">
                    <a16:creationId xmlns:a16="http://schemas.microsoft.com/office/drawing/2014/main" id="{09CF149E-AD90-8EEE-F38C-4DD7BA551E11}"/>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7" name="Group 26">
              <a:extLst>
                <a:ext uri="{FF2B5EF4-FFF2-40B4-BE49-F238E27FC236}">
                  <a16:creationId xmlns:a16="http://schemas.microsoft.com/office/drawing/2014/main" id="{EBAD6D4D-C358-61CE-B895-B1B95A6260C0}"/>
                </a:ext>
              </a:extLst>
            </p:cNvPr>
            <p:cNvGrpSpPr>
              <a:grpSpLocks/>
            </p:cNvGrpSpPr>
            <p:nvPr/>
          </p:nvGrpSpPr>
          <p:grpSpPr bwMode="auto">
            <a:xfrm>
              <a:off x="191" y="1279"/>
              <a:ext cx="1059" cy="145"/>
              <a:chOff x="191" y="1279"/>
              <a:chExt cx="1059" cy="145"/>
            </a:xfrm>
          </p:grpSpPr>
          <p:pic>
            <p:nvPicPr>
              <p:cNvPr id="28" name="Picture 27">
                <a:extLst>
                  <a:ext uri="{FF2B5EF4-FFF2-40B4-BE49-F238E27FC236}">
                    <a16:creationId xmlns:a16="http://schemas.microsoft.com/office/drawing/2014/main" id="{9968F8CB-8662-5FF3-8F06-BD23C4058F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A809D46E-C618-45E4-19E6-08F8301719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0" name="Picture 39">
            <a:extLst>
              <a:ext uri="{FF2B5EF4-FFF2-40B4-BE49-F238E27FC236}">
                <a16:creationId xmlns:a16="http://schemas.microsoft.com/office/drawing/2014/main" id="{39569267-996C-E4F6-D4C6-33335FF8142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025898" y="297479"/>
            <a:ext cx="1828800" cy="9006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grpSp>
        <p:nvGrpSpPr>
          <p:cNvPr id="2" name="Group 2"/>
          <p:cNvGrpSpPr/>
          <p:nvPr/>
        </p:nvGrpSpPr>
        <p:grpSpPr>
          <a:xfrm>
            <a:off x="424202" y="1682690"/>
            <a:ext cx="17464177" cy="8642410"/>
            <a:chOff x="0" y="0"/>
            <a:chExt cx="4599619" cy="2732206"/>
          </a:xfrm>
        </p:grpSpPr>
        <p:sp>
          <p:nvSpPr>
            <p:cNvPr id="3" name="Freeform 3"/>
            <p:cNvSpPr/>
            <p:nvPr/>
          </p:nvSpPr>
          <p:spPr>
            <a:xfrm>
              <a:off x="0" y="0"/>
              <a:ext cx="4599619" cy="2732206"/>
            </a:xfrm>
            <a:custGeom>
              <a:avLst/>
              <a:gdLst/>
              <a:ahLst/>
              <a:cxnLst/>
              <a:rect l="l" t="t" r="r" b="b"/>
              <a:pathLst>
                <a:path w="4599619" h="2732206">
                  <a:moveTo>
                    <a:pt x="44330" y="0"/>
                  </a:moveTo>
                  <a:lnTo>
                    <a:pt x="4555289" y="0"/>
                  </a:lnTo>
                  <a:cubicBezTo>
                    <a:pt x="4579772" y="0"/>
                    <a:pt x="4599619" y="19847"/>
                    <a:pt x="4599619" y="44330"/>
                  </a:cubicBezTo>
                  <a:lnTo>
                    <a:pt x="4599619" y="2687876"/>
                  </a:lnTo>
                  <a:cubicBezTo>
                    <a:pt x="4599619" y="2699633"/>
                    <a:pt x="4594948" y="2710909"/>
                    <a:pt x="4586635" y="2719222"/>
                  </a:cubicBezTo>
                  <a:cubicBezTo>
                    <a:pt x="4578321" y="2727536"/>
                    <a:pt x="4567046" y="2732206"/>
                    <a:pt x="4555289" y="2732206"/>
                  </a:cubicBezTo>
                  <a:lnTo>
                    <a:pt x="44330" y="2732206"/>
                  </a:lnTo>
                  <a:cubicBezTo>
                    <a:pt x="32573" y="2732206"/>
                    <a:pt x="21298" y="2727536"/>
                    <a:pt x="12984" y="2719222"/>
                  </a:cubicBezTo>
                  <a:cubicBezTo>
                    <a:pt x="4670" y="2710909"/>
                    <a:pt x="0" y="2699633"/>
                    <a:pt x="0" y="2687876"/>
                  </a:cubicBezTo>
                  <a:lnTo>
                    <a:pt x="0" y="44330"/>
                  </a:lnTo>
                  <a:cubicBezTo>
                    <a:pt x="0" y="32573"/>
                    <a:pt x="4670" y="21298"/>
                    <a:pt x="12984" y="12984"/>
                  </a:cubicBezTo>
                  <a:cubicBezTo>
                    <a:pt x="21298" y="4670"/>
                    <a:pt x="32573" y="0"/>
                    <a:pt x="44330" y="0"/>
                  </a:cubicBezTo>
                  <a:close/>
                </a:path>
              </a:pathLst>
            </a:custGeom>
            <a:solidFill>
              <a:srgbClr val="D6FF3F"/>
            </a:solidFill>
          </p:spPr>
        </p:sp>
        <p:sp>
          <p:nvSpPr>
            <p:cNvPr id="4" name="TextBox 4"/>
            <p:cNvSpPr txBox="1"/>
            <p:nvPr/>
          </p:nvSpPr>
          <p:spPr>
            <a:xfrm>
              <a:off x="0" y="-38100"/>
              <a:ext cx="4599619" cy="277030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436881" y="596836"/>
            <a:ext cx="2925045" cy="669965"/>
            <a:chOff x="0" y="0"/>
            <a:chExt cx="3900061" cy="893286"/>
          </a:xfrm>
        </p:grpSpPr>
        <p:grpSp>
          <p:nvGrpSpPr>
            <p:cNvPr id="6" name="Group 6"/>
            <p:cNvGrpSpPr/>
            <p:nvPr/>
          </p:nvGrpSpPr>
          <p:grpSpPr>
            <a:xfrm>
              <a:off x="0" y="0"/>
              <a:ext cx="3900061" cy="893286"/>
              <a:chOff x="0" y="0"/>
              <a:chExt cx="1774330" cy="406400"/>
            </a:xfrm>
          </p:grpSpPr>
          <p:sp>
            <p:nvSpPr>
              <p:cNvPr id="7" name="Freeform 7"/>
              <p:cNvSpPr/>
              <p:nvPr/>
            </p:nvSpPr>
            <p:spPr>
              <a:xfrm>
                <a:off x="0" y="0"/>
                <a:ext cx="1774330" cy="406400"/>
              </a:xfrm>
              <a:custGeom>
                <a:avLst/>
                <a:gdLst/>
                <a:ahLst/>
                <a:cxnLst/>
                <a:rect l="l" t="t" r="r" b="b"/>
                <a:pathLst>
                  <a:path w="1774330" h="406400">
                    <a:moveTo>
                      <a:pt x="1571130" y="0"/>
                    </a:moveTo>
                    <a:cubicBezTo>
                      <a:pt x="1683354" y="0"/>
                      <a:pt x="1774330" y="90976"/>
                      <a:pt x="1774330" y="203200"/>
                    </a:cubicBezTo>
                    <a:cubicBezTo>
                      <a:pt x="1774330" y="315424"/>
                      <a:pt x="1683354" y="406400"/>
                      <a:pt x="1571130" y="406400"/>
                    </a:cubicBezTo>
                    <a:lnTo>
                      <a:pt x="203200" y="406400"/>
                    </a:lnTo>
                    <a:cubicBezTo>
                      <a:pt x="90976" y="406400"/>
                      <a:pt x="0" y="315424"/>
                      <a:pt x="0" y="203200"/>
                    </a:cubicBezTo>
                    <a:cubicBezTo>
                      <a:pt x="0" y="90976"/>
                      <a:pt x="90976" y="0"/>
                      <a:pt x="203200" y="0"/>
                    </a:cubicBezTo>
                    <a:close/>
                  </a:path>
                </a:pathLst>
              </a:custGeom>
              <a:ln w="19050" cap="sq">
                <a:solidFill>
                  <a:srgbClr val="D6FF3F"/>
                </a:solidFill>
                <a:prstDash val="solid"/>
                <a:miter/>
              </a:ln>
            </p:spPr>
          </p:sp>
          <p:sp>
            <p:nvSpPr>
              <p:cNvPr id="8" name="TextBox 8"/>
              <p:cNvSpPr txBox="1"/>
              <p:nvPr/>
            </p:nvSpPr>
            <p:spPr>
              <a:xfrm>
                <a:off x="0" y="-38100"/>
                <a:ext cx="1774330" cy="4445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04090" y="185446"/>
              <a:ext cx="3495970" cy="484294"/>
            </a:xfrm>
            <a:prstGeom prst="rect">
              <a:avLst/>
            </a:prstGeom>
          </p:spPr>
          <p:txBody>
            <a:bodyPr lIns="0" tIns="0" rIns="0" bIns="0" rtlCol="0" anchor="t">
              <a:spAutoFit/>
            </a:bodyPr>
            <a:lstStyle/>
            <a:p>
              <a:pPr algn="l">
                <a:lnSpc>
                  <a:spcPts val="3079"/>
                </a:lnSpc>
                <a:spcBef>
                  <a:spcPct val="0"/>
                </a:spcBef>
              </a:pPr>
              <a:r>
                <a:rPr lang="en-US" sz="2199" dirty="0">
                  <a:solidFill>
                    <a:srgbClr val="D6FF3F"/>
                  </a:solidFill>
                  <a:latin typeface="Open Sauce"/>
                  <a:ea typeface="Open Sauce"/>
                  <a:cs typeface="Open Sauce"/>
                  <a:sym typeface="Open Sauce"/>
                </a:rPr>
                <a:t>Alert Conditions</a:t>
              </a:r>
            </a:p>
          </p:txBody>
        </p:sp>
      </p:grpSp>
      <p:sp>
        <p:nvSpPr>
          <p:cNvPr id="16" name="Freeform 16"/>
          <p:cNvSpPr/>
          <p:nvPr/>
        </p:nvSpPr>
        <p:spPr>
          <a:xfrm>
            <a:off x="14139868" y="663119"/>
            <a:ext cx="283746" cy="283746"/>
          </a:xfrm>
          <a:custGeom>
            <a:avLst/>
            <a:gdLst/>
            <a:ahLst/>
            <a:cxnLst/>
            <a:rect l="l" t="t" r="r" b="b"/>
            <a:pathLst>
              <a:path w="283746" h="283746">
                <a:moveTo>
                  <a:pt x="0" y="0"/>
                </a:moveTo>
                <a:lnTo>
                  <a:pt x="283747" y="0"/>
                </a:lnTo>
                <a:lnTo>
                  <a:pt x="283747" y="283746"/>
                </a:lnTo>
                <a:lnTo>
                  <a:pt x="0" y="2837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7" name="Freeform 17"/>
          <p:cNvSpPr/>
          <p:nvPr/>
        </p:nvSpPr>
        <p:spPr>
          <a:xfrm>
            <a:off x="14485617" y="646387"/>
            <a:ext cx="283746" cy="283746"/>
          </a:xfrm>
          <a:custGeom>
            <a:avLst/>
            <a:gdLst/>
            <a:ahLst/>
            <a:cxnLst/>
            <a:rect l="l" t="t" r="r" b="b"/>
            <a:pathLst>
              <a:path w="283746" h="283746">
                <a:moveTo>
                  <a:pt x="0" y="0"/>
                </a:moveTo>
                <a:lnTo>
                  <a:pt x="283746" y="0"/>
                </a:lnTo>
                <a:lnTo>
                  <a:pt x="283746" y="283746"/>
                </a:lnTo>
                <a:lnTo>
                  <a:pt x="0" y="283746"/>
                </a:lnTo>
                <a:lnTo>
                  <a:pt x="0" y="0"/>
                </a:lnTo>
                <a:close/>
              </a:path>
            </a:pathLst>
          </a:custGeom>
          <a:blipFill>
            <a:blip>
              <a:extLst>
                <a:ext uri="{96DAC541-7B7A-43D3-8B79-37D633B846F1}">
                  <asvg:svgBlip xmlns:asvg="http://schemas.microsoft.com/office/drawing/2016/SVG/main" r:embed="rId3"/>
                </a:ext>
              </a:extLst>
            </a:blip>
            <a:stretch>
              <a:fillRect/>
            </a:stretch>
          </a:blipFill>
          <a:ln cap="rnd">
            <a:noFill/>
            <a:prstDash val="solid"/>
            <a:round/>
          </a:ln>
        </p:spPr>
      </p:sp>
      <p:sp>
        <p:nvSpPr>
          <p:cNvPr id="18" name="Freeform 18"/>
          <p:cNvSpPr/>
          <p:nvPr/>
        </p:nvSpPr>
        <p:spPr>
          <a:xfrm>
            <a:off x="13734376" y="659575"/>
            <a:ext cx="283746" cy="283746"/>
          </a:xfrm>
          <a:custGeom>
            <a:avLst/>
            <a:gdLst/>
            <a:ahLst/>
            <a:cxnLst/>
            <a:rect l="l" t="t" r="r" b="b"/>
            <a:pathLst>
              <a:path w="283746" h="283746">
                <a:moveTo>
                  <a:pt x="0" y="0"/>
                </a:moveTo>
                <a:lnTo>
                  <a:pt x="283746" y="0"/>
                </a:lnTo>
                <a:lnTo>
                  <a:pt x="283746" y="283746"/>
                </a:lnTo>
                <a:lnTo>
                  <a:pt x="0" y="28374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9" name="Group 19"/>
          <p:cNvGrpSpPr/>
          <p:nvPr/>
        </p:nvGrpSpPr>
        <p:grpSpPr>
          <a:xfrm>
            <a:off x="654573" y="2566217"/>
            <a:ext cx="7453135" cy="7297265"/>
            <a:chOff x="0" y="0"/>
            <a:chExt cx="1154686" cy="1130537"/>
          </a:xfrm>
        </p:grpSpPr>
        <p:sp>
          <p:nvSpPr>
            <p:cNvPr id="20" name="Freeform 20"/>
            <p:cNvSpPr/>
            <p:nvPr/>
          </p:nvSpPr>
          <p:spPr>
            <a:xfrm>
              <a:off x="0" y="0"/>
              <a:ext cx="1154686" cy="1130537"/>
            </a:xfrm>
            <a:custGeom>
              <a:avLst/>
              <a:gdLst/>
              <a:ahLst/>
              <a:cxnLst/>
              <a:rect l="l" t="t" r="r" b="b"/>
              <a:pathLst>
                <a:path w="1154686" h="1130537">
                  <a:moveTo>
                    <a:pt x="77906" y="0"/>
                  </a:moveTo>
                  <a:lnTo>
                    <a:pt x="1076780" y="0"/>
                  </a:lnTo>
                  <a:cubicBezTo>
                    <a:pt x="1097442" y="0"/>
                    <a:pt x="1117257" y="8208"/>
                    <a:pt x="1131867" y="22818"/>
                  </a:cubicBezTo>
                  <a:cubicBezTo>
                    <a:pt x="1146478" y="37428"/>
                    <a:pt x="1154686" y="57244"/>
                    <a:pt x="1154686" y="77906"/>
                  </a:cubicBezTo>
                  <a:lnTo>
                    <a:pt x="1154686" y="1052631"/>
                  </a:lnTo>
                  <a:cubicBezTo>
                    <a:pt x="1154686" y="1073293"/>
                    <a:pt x="1146478" y="1093109"/>
                    <a:pt x="1131867" y="1107719"/>
                  </a:cubicBezTo>
                  <a:cubicBezTo>
                    <a:pt x="1117257" y="1122329"/>
                    <a:pt x="1097442" y="1130537"/>
                    <a:pt x="1076780" y="1130537"/>
                  </a:cubicBezTo>
                  <a:lnTo>
                    <a:pt x="77906" y="1130537"/>
                  </a:lnTo>
                  <a:cubicBezTo>
                    <a:pt x="34880" y="1130537"/>
                    <a:pt x="0" y="1095658"/>
                    <a:pt x="0" y="1052631"/>
                  </a:cubicBezTo>
                  <a:lnTo>
                    <a:pt x="0" y="77906"/>
                  </a:lnTo>
                  <a:cubicBezTo>
                    <a:pt x="0" y="57244"/>
                    <a:pt x="8208" y="37428"/>
                    <a:pt x="22818" y="22818"/>
                  </a:cubicBezTo>
                  <a:cubicBezTo>
                    <a:pt x="37428" y="8208"/>
                    <a:pt x="57244" y="0"/>
                    <a:pt x="77906" y="0"/>
                  </a:cubicBezTo>
                  <a:close/>
                </a:path>
              </a:pathLst>
            </a:custGeom>
            <a:blipFill>
              <a:blip r:embed="rId4"/>
              <a:stretch>
                <a:fillRect l="-37029" r="-37029"/>
              </a:stretch>
            </a:blipFill>
          </p:spPr>
        </p:sp>
      </p:grpSp>
      <p:grpSp>
        <p:nvGrpSpPr>
          <p:cNvPr id="21" name="Group 21"/>
          <p:cNvGrpSpPr/>
          <p:nvPr/>
        </p:nvGrpSpPr>
        <p:grpSpPr>
          <a:xfrm>
            <a:off x="857624" y="2808007"/>
            <a:ext cx="1344522" cy="134452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a:ln cap="sq">
              <a:no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1195837" y="3146220"/>
            <a:ext cx="668096" cy="668096"/>
          </a:xfrm>
          <a:custGeom>
            <a:avLst/>
            <a:gdLst/>
            <a:ahLst/>
            <a:cxnLst/>
            <a:rect l="l" t="t" r="r" b="b"/>
            <a:pathLst>
              <a:path w="668096" h="668096">
                <a:moveTo>
                  <a:pt x="0" y="0"/>
                </a:moveTo>
                <a:lnTo>
                  <a:pt x="668096" y="0"/>
                </a:lnTo>
                <a:lnTo>
                  <a:pt x="668096" y="668096"/>
                </a:lnTo>
                <a:lnTo>
                  <a:pt x="0" y="668096"/>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25" name="TextBox 25"/>
          <p:cNvSpPr txBox="1"/>
          <p:nvPr/>
        </p:nvSpPr>
        <p:spPr>
          <a:xfrm>
            <a:off x="6144507" y="2785292"/>
            <a:ext cx="11114793" cy="3665234"/>
          </a:xfrm>
          <a:prstGeom prst="rect">
            <a:avLst/>
          </a:prstGeom>
        </p:spPr>
        <p:txBody>
          <a:bodyPr lIns="0" tIns="0" rIns="0" bIns="0" rtlCol="0" anchor="t">
            <a:spAutoFit/>
          </a:bodyPr>
          <a:lstStyle/>
          <a:p>
            <a:pPr marL="0" lvl="0" indent="0" algn="r">
              <a:lnSpc>
                <a:spcPts val="14164"/>
              </a:lnSpc>
              <a:spcBef>
                <a:spcPct val="0"/>
              </a:spcBef>
            </a:pPr>
            <a:r>
              <a:rPr lang="en-US" sz="13700" b="1" spc="-312" dirty="0">
                <a:solidFill>
                  <a:srgbClr val="171717"/>
                </a:solidFill>
                <a:latin typeface="Akzidenz-Grotesk Heavy"/>
                <a:ea typeface="Akzidenz-Grotesk Heavy"/>
                <a:cs typeface="Akzidenz-Grotesk Heavy"/>
                <a:sym typeface="Akzidenz-Grotesk Heavy"/>
              </a:rPr>
              <a:t>AL</a:t>
            </a:r>
            <a:r>
              <a:rPr lang="en-US" sz="13700" b="1" u="none" strike="noStrike" spc="-312" dirty="0">
                <a:solidFill>
                  <a:srgbClr val="171717"/>
                </a:solidFill>
                <a:latin typeface="Akzidenz-Grotesk Heavy"/>
                <a:ea typeface="Akzidenz-Grotesk Heavy"/>
                <a:cs typeface="Akzidenz-Grotesk Heavy"/>
                <a:sym typeface="Akzidenz-Grotesk Heavy"/>
              </a:rPr>
              <a:t>ERT SYSTEM</a:t>
            </a:r>
          </a:p>
        </p:txBody>
      </p:sp>
      <p:sp>
        <p:nvSpPr>
          <p:cNvPr id="26" name="TextBox 26"/>
          <p:cNvSpPr txBox="1"/>
          <p:nvPr/>
        </p:nvSpPr>
        <p:spPr>
          <a:xfrm>
            <a:off x="8557370" y="7077899"/>
            <a:ext cx="9093263" cy="2154436"/>
          </a:xfrm>
          <a:prstGeom prst="rect">
            <a:avLst/>
          </a:prstGeom>
        </p:spPr>
        <p:txBody>
          <a:bodyPr lIns="0" tIns="0" rIns="0" bIns="0" rtlCol="0" anchor="t">
            <a:spAutoFit/>
          </a:bodyPr>
          <a:lstStyle/>
          <a:p>
            <a:r>
              <a:rPr lang="en-IN" sz="2800" dirty="0"/>
              <a:t>The emergency alert system instantly detects hazards such as worker falls, abnormal temperature, or SOS activations. Alerts are immediately sent through supervisor dashboards. Mobile notifications, and SMS backup channels, ensuring rapid response and improved worker safety as future scope.</a:t>
            </a:r>
            <a:endParaRPr lang="en-US" sz="2800" dirty="0">
              <a:solidFill>
                <a:srgbClr val="171717"/>
              </a:solidFill>
              <a:latin typeface="Open Sauce"/>
              <a:ea typeface="Open Sauce"/>
              <a:cs typeface="Open Sauce"/>
              <a:sym typeface="Open Sauce"/>
            </a:endParaRPr>
          </a:p>
        </p:txBody>
      </p:sp>
      <p:sp>
        <p:nvSpPr>
          <p:cNvPr id="27" name="AutoShape 11">
            <a:extLst>
              <a:ext uri="{FF2B5EF4-FFF2-40B4-BE49-F238E27FC236}">
                <a16:creationId xmlns:a16="http://schemas.microsoft.com/office/drawing/2014/main" id="{2B81EA02-B5DD-9069-F4FD-6DBE2F62EABE}"/>
              </a:ext>
            </a:extLst>
          </p:cNvPr>
          <p:cNvSpPr/>
          <p:nvPr/>
        </p:nvSpPr>
        <p:spPr>
          <a:xfrm flipV="1">
            <a:off x="5638800" y="889209"/>
            <a:ext cx="7960575" cy="0"/>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28" name="Group 27">
            <a:extLst>
              <a:ext uri="{FF2B5EF4-FFF2-40B4-BE49-F238E27FC236}">
                <a16:creationId xmlns:a16="http://schemas.microsoft.com/office/drawing/2014/main" id="{93FDA81A-0F96-6948-C945-54B0B85F153E}"/>
              </a:ext>
            </a:extLst>
          </p:cNvPr>
          <p:cNvGrpSpPr/>
          <p:nvPr/>
        </p:nvGrpSpPr>
        <p:grpSpPr bwMode="auto">
          <a:xfrm>
            <a:off x="584013" y="355390"/>
            <a:ext cx="1288014" cy="1282909"/>
            <a:chOff x="-1" y="0"/>
            <a:chExt cx="1435" cy="1424"/>
          </a:xfrm>
        </p:grpSpPr>
        <p:grpSp>
          <p:nvGrpSpPr>
            <p:cNvPr id="29" name="Group 28">
              <a:extLst>
                <a:ext uri="{FF2B5EF4-FFF2-40B4-BE49-F238E27FC236}">
                  <a16:creationId xmlns:a16="http://schemas.microsoft.com/office/drawing/2014/main" id="{1D07FF10-E17B-3375-5E5A-C300663B939D}"/>
                </a:ext>
              </a:extLst>
            </p:cNvPr>
            <p:cNvGrpSpPr>
              <a:grpSpLocks/>
            </p:cNvGrpSpPr>
            <p:nvPr/>
          </p:nvGrpSpPr>
          <p:grpSpPr bwMode="auto">
            <a:xfrm>
              <a:off x="-1" y="0"/>
              <a:ext cx="1336" cy="839"/>
              <a:chOff x="-1" y="0"/>
              <a:chExt cx="1336" cy="839"/>
            </a:xfrm>
          </p:grpSpPr>
          <p:pic>
            <p:nvPicPr>
              <p:cNvPr id="37" name="Picture 36">
                <a:extLst>
                  <a:ext uri="{FF2B5EF4-FFF2-40B4-BE49-F238E27FC236}">
                    <a16:creationId xmlns:a16="http://schemas.microsoft.com/office/drawing/2014/main" id="{FD5D1306-9D6D-211E-76AD-BC80D62B38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2F9B5651-5CA8-D04C-7785-F57A2C0244DA}"/>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9" name="Freeform 378">
                <a:extLst>
                  <a:ext uri="{FF2B5EF4-FFF2-40B4-BE49-F238E27FC236}">
                    <a16:creationId xmlns:a16="http://schemas.microsoft.com/office/drawing/2014/main" id="{07078AB5-34D6-3444-9191-53255A3EFE20}"/>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0" name="Freeform 377">
                <a:extLst>
                  <a:ext uri="{FF2B5EF4-FFF2-40B4-BE49-F238E27FC236}">
                    <a16:creationId xmlns:a16="http://schemas.microsoft.com/office/drawing/2014/main" id="{E2D9BE80-1BB3-B7CB-661C-046A91C0C205}"/>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1" name="Freeform 376">
                <a:extLst>
                  <a:ext uri="{FF2B5EF4-FFF2-40B4-BE49-F238E27FC236}">
                    <a16:creationId xmlns:a16="http://schemas.microsoft.com/office/drawing/2014/main" id="{8874F607-0C14-4C72-D538-1C866D7B49CD}"/>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2" name="AutoShape 375">
                <a:extLst>
                  <a:ext uri="{FF2B5EF4-FFF2-40B4-BE49-F238E27FC236}">
                    <a16:creationId xmlns:a16="http://schemas.microsoft.com/office/drawing/2014/main" id="{5D2E1210-3855-910A-B46E-8216D95530F9}"/>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30" name="Group 29">
              <a:extLst>
                <a:ext uri="{FF2B5EF4-FFF2-40B4-BE49-F238E27FC236}">
                  <a16:creationId xmlns:a16="http://schemas.microsoft.com/office/drawing/2014/main" id="{E2214CE8-CA5D-71BE-E311-4C0E5781003F}"/>
                </a:ext>
              </a:extLst>
            </p:cNvPr>
            <p:cNvGrpSpPr>
              <a:grpSpLocks/>
            </p:cNvGrpSpPr>
            <p:nvPr/>
          </p:nvGrpSpPr>
          <p:grpSpPr bwMode="auto">
            <a:xfrm>
              <a:off x="24" y="883"/>
              <a:ext cx="1410" cy="296"/>
              <a:chOff x="24" y="883"/>
              <a:chExt cx="1410" cy="296"/>
            </a:xfrm>
          </p:grpSpPr>
          <p:pic>
            <p:nvPicPr>
              <p:cNvPr id="34" name="Picture 33">
                <a:extLst>
                  <a:ext uri="{FF2B5EF4-FFF2-40B4-BE49-F238E27FC236}">
                    <a16:creationId xmlns:a16="http://schemas.microsoft.com/office/drawing/2014/main" id="{E07938F9-3ECE-C62A-5F02-AFB55D2BB9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979CF773-C9F1-ED67-E78E-D9922951ABA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6" name="AutoShape 371">
                <a:extLst>
                  <a:ext uri="{FF2B5EF4-FFF2-40B4-BE49-F238E27FC236}">
                    <a16:creationId xmlns:a16="http://schemas.microsoft.com/office/drawing/2014/main" id="{5B3A7510-230B-DF1A-6EA4-DDB31C75921A}"/>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31" name="Group 30">
              <a:extLst>
                <a:ext uri="{FF2B5EF4-FFF2-40B4-BE49-F238E27FC236}">
                  <a16:creationId xmlns:a16="http://schemas.microsoft.com/office/drawing/2014/main" id="{1D741D1C-0C8C-E235-0232-EDFDDD54016A}"/>
                </a:ext>
              </a:extLst>
            </p:cNvPr>
            <p:cNvGrpSpPr>
              <a:grpSpLocks/>
            </p:cNvGrpSpPr>
            <p:nvPr/>
          </p:nvGrpSpPr>
          <p:grpSpPr bwMode="auto">
            <a:xfrm>
              <a:off x="191" y="1279"/>
              <a:ext cx="1059" cy="145"/>
              <a:chOff x="191" y="1279"/>
              <a:chExt cx="1059" cy="145"/>
            </a:xfrm>
          </p:grpSpPr>
          <p:pic>
            <p:nvPicPr>
              <p:cNvPr id="32" name="Picture 31">
                <a:extLst>
                  <a:ext uri="{FF2B5EF4-FFF2-40B4-BE49-F238E27FC236}">
                    <a16:creationId xmlns:a16="http://schemas.microsoft.com/office/drawing/2014/main" id="{3CFEEAB8-0389-4B2C-E6FE-6960FFF6BD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15F7131D-7E92-689E-8A9A-C08C9328D9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4" name="Picture 43">
            <a:extLst>
              <a:ext uri="{FF2B5EF4-FFF2-40B4-BE49-F238E27FC236}">
                <a16:creationId xmlns:a16="http://schemas.microsoft.com/office/drawing/2014/main" id="{49BA19FA-55B3-9161-1691-35A1043633E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5548052" y="333485"/>
            <a:ext cx="1828800" cy="9006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grpSp>
        <p:nvGrpSpPr>
          <p:cNvPr id="6" name="Group 6"/>
          <p:cNvGrpSpPr/>
          <p:nvPr/>
        </p:nvGrpSpPr>
        <p:grpSpPr>
          <a:xfrm>
            <a:off x="2635756" y="495910"/>
            <a:ext cx="3185304" cy="636945"/>
            <a:chOff x="0" y="0"/>
            <a:chExt cx="4247072" cy="849259"/>
          </a:xfrm>
        </p:grpSpPr>
        <p:grpSp>
          <p:nvGrpSpPr>
            <p:cNvPr id="7" name="Group 7"/>
            <p:cNvGrpSpPr/>
            <p:nvPr/>
          </p:nvGrpSpPr>
          <p:grpSpPr>
            <a:xfrm>
              <a:off x="0" y="0"/>
              <a:ext cx="4247072" cy="849259"/>
              <a:chOff x="0" y="0"/>
              <a:chExt cx="1932203" cy="386370"/>
            </a:xfrm>
          </p:grpSpPr>
          <p:sp>
            <p:nvSpPr>
              <p:cNvPr id="8" name="Freeform 8"/>
              <p:cNvSpPr/>
              <p:nvPr/>
            </p:nvSpPr>
            <p:spPr>
              <a:xfrm>
                <a:off x="0" y="0"/>
                <a:ext cx="1932203" cy="386370"/>
              </a:xfrm>
              <a:custGeom>
                <a:avLst/>
                <a:gdLst/>
                <a:ahLst/>
                <a:cxnLst/>
                <a:rect l="l" t="t" r="r" b="b"/>
                <a:pathLst>
                  <a:path w="1932203" h="386370">
                    <a:moveTo>
                      <a:pt x="1729003" y="0"/>
                    </a:moveTo>
                    <a:cubicBezTo>
                      <a:pt x="1841227" y="0"/>
                      <a:pt x="1932203" y="86492"/>
                      <a:pt x="1932203" y="193185"/>
                    </a:cubicBezTo>
                    <a:cubicBezTo>
                      <a:pt x="1932203" y="299878"/>
                      <a:pt x="1841227" y="386370"/>
                      <a:pt x="1729003" y="386370"/>
                    </a:cubicBezTo>
                    <a:lnTo>
                      <a:pt x="203200" y="386370"/>
                    </a:lnTo>
                    <a:cubicBezTo>
                      <a:pt x="90976" y="386370"/>
                      <a:pt x="0" y="299878"/>
                      <a:pt x="0" y="193185"/>
                    </a:cubicBezTo>
                    <a:cubicBezTo>
                      <a:pt x="0" y="86492"/>
                      <a:pt x="90976" y="0"/>
                      <a:pt x="203200" y="0"/>
                    </a:cubicBezTo>
                    <a:close/>
                  </a:path>
                </a:pathLst>
              </a:custGeom>
              <a:ln w="19050" cap="sq">
                <a:solidFill>
                  <a:srgbClr val="D6FF3F"/>
                </a:solidFill>
                <a:prstDash val="solid"/>
                <a:miter/>
              </a:ln>
            </p:spPr>
          </p:sp>
          <p:sp>
            <p:nvSpPr>
              <p:cNvPr id="9" name="TextBox 9"/>
              <p:cNvSpPr txBox="1"/>
              <p:nvPr/>
            </p:nvSpPr>
            <p:spPr>
              <a:xfrm>
                <a:off x="0" y="-47625"/>
                <a:ext cx="1932203" cy="433995"/>
              </a:xfrm>
              <a:prstGeom prst="rect">
                <a:avLst/>
              </a:prstGeom>
            </p:spPr>
            <p:txBody>
              <a:bodyPr lIns="50800" tIns="50800" rIns="50800" bIns="50800" rtlCol="0" anchor="ctr"/>
              <a:lstStyle/>
              <a:p>
                <a:pPr algn="ctr">
                  <a:lnSpc>
                    <a:spcPts val="2939"/>
                  </a:lnSpc>
                </a:pPr>
                <a:endParaRPr/>
              </a:p>
            </p:txBody>
          </p:sp>
        </p:grpSp>
        <p:sp>
          <p:nvSpPr>
            <p:cNvPr id="10" name="TextBox 10"/>
            <p:cNvSpPr txBox="1"/>
            <p:nvPr/>
          </p:nvSpPr>
          <p:spPr>
            <a:xfrm>
              <a:off x="114811" y="185446"/>
              <a:ext cx="4017450" cy="440267"/>
            </a:xfrm>
            <a:prstGeom prst="rect">
              <a:avLst/>
            </a:prstGeom>
          </p:spPr>
          <p:txBody>
            <a:bodyPr lIns="0" tIns="0" rIns="0" bIns="0" rtlCol="0" anchor="t">
              <a:spAutoFit/>
            </a:bodyPr>
            <a:lstStyle/>
            <a:p>
              <a:pPr algn="ctr">
                <a:lnSpc>
                  <a:spcPts val="2799"/>
                </a:lnSpc>
                <a:spcBef>
                  <a:spcPct val="0"/>
                </a:spcBef>
              </a:pPr>
              <a:r>
                <a:rPr lang="en-US" sz="1999">
                  <a:solidFill>
                    <a:srgbClr val="D6FF3F"/>
                  </a:solidFill>
                  <a:latin typeface="Open Sauce"/>
                  <a:ea typeface="Open Sauce"/>
                  <a:cs typeface="Open Sauce"/>
                  <a:sym typeface="Open Sauce"/>
                </a:rPr>
                <a:t>Sensor Data Processing</a:t>
              </a:r>
            </a:p>
          </p:txBody>
        </p:sp>
      </p:grpSp>
      <p:grpSp>
        <p:nvGrpSpPr>
          <p:cNvPr id="11" name="Group 11"/>
          <p:cNvGrpSpPr/>
          <p:nvPr/>
        </p:nvGrpSpPr>
        <p:grpSpPr>
          <a:xfrm>
            <a:off x="17027608" y="3301294"/>
            <a:ext cx="231692" cy="23169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6FF3F"/>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5384090" y="6011877"/>
            <a:ext cx="221999" cy="219501"/>
          </a:xfrm>
          <a:custGeom>
            <a:avLst/>
            <a:gdLst/>
            <a:ahLst/>
            <a:cxnLst/>
            <a:rect l="l" t="t" r="r" b="b"/>
            <a:pathLst>
              <a:path w="221999" h="219501">
                <a:moveTo>
                  <a:pt x="0" y="0"/>
                </a:moveTo>
                <a:lnTo>
                  <a:pt x="221999" y="0"/>
                </a:lnTo>
                <a:lnTo>
                  <a:pt x="221999" y="219502"/>
                </a:lnTo>
                <a:lnTo>
                  <a:pt x="0" y="21950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5" name="Group 15"/>
          <p:cNvGrpSpPr/>
          <p:nvPr/>
        </p:nvGrpSpPr>
        <p:grpSpPr>
          <a:xfrm>
            <a:off x="5357051" y="3312155"/>
            <a:ext cx="12373430" cy="6626130"/>
            <a:chOff x="0" y="0"/>
            <a:chExt cx="1982733" cy="1130537"/>
          </a:xfrm>
        </p:grpSpPr>
        <p:sp>
          <p:nvSpPr>
            <p:cNvPr id="16" name="Freeform 16"/>
            <p:cNvSpPr/>
            <p:nvPr/>
          </p:nvSpPr>
          <p:spPr>
            <a:xfrm>
              <a:off x="0" y="0"/>
              <a:ext cx="1982732" cy="1130537"/>
            </a:xfrm>
            <a:custGeom>
              <a:avLst/>
              <a:gdLst/>
              <a:ahLst/>
              <a:cxnLst/>
              <a:rect l="l" t="t" r="r" b="b"/>
              <a:pathLst>
                <a:path w="1982732" h="1130537">
                  <a:moveTo>
                    <a:pt x="45370" y="0"/>
                  </a:moveTo>
                  <a:lnTo>
                    <a:pt x="1937362" y="0"/>
                  </a:lnTo>
                  <a:cubicBezTo>
                    <a:pt x="1949395" y="0"/>
                    <a:pt x="1960935" y="4780"/>
                    <a:pt x="1969444" y="13289"/>
                  </a:cubicBezTo>
                  <a:cubicBezTo>
                    <a:pt x="1977952" y="21797"/>
                    <a:pt x="1982732" y="33337"/>
                    <a:pt x="1982732" y="45370"/>
                  </a:cubicBezTo>
                  <a:lnTo>
                    <a:pt x="1982732" y="1085167"/>
                  </a:lnTo>
                  <a:cubicBezTo>
                    <a:pt x="1982732" y="1097200"/>
                    <a:pt x="1977952" y="1108740"/>
                    <a:pt x="1969444" y="1117249"/>
                  </a:cubicBezTo>
                  <a:cubicBezTo>
                    <a:pt x="1960935" y="1125757"/>
                    <a:pt x="1949395" y="1130537"/>
                    <a:pt x="1937362" y="1130537"/>
                  </a:cubicBezTo>
                  <a:lnTo>
                    <a:pt x="45370" y="1130537"/>
                  </a:lnTo>
                  <a:cubicBezTo>
                    <a:pt x="33337" y="1130537"/>
                    <a:pt x="21797" y="1125757"/>
                    <a:pt x="13289" y="1117249"/>
                  </a:cubicBezTo>
                  <a:cubicBezTo>
                    <a:pt x="4780" y="1108740"/>
                    <a:pt x="0" y="1097200"/>
                    <a:pt x="0" y="1085167"/>
                  </a:cubicBezTo>
                  <a:lnTo>
                    <a:pt x="0" y="45370"/>
                  </a:lnTo>
                  <a:cubicBezTo>
                    <a:pt x="0" y="33337"/>
                    <a:pt x="4780" y="21797"/>
                    <a:pt x="13289" y="13289"/>
                  </a:cubicBezTo>
                  <a:cubicBezTo>
                    <a:pt x="21797" y="4780"/>
                    <a:pt x="33337" y="0"/>
                    <a:pt x="45370" y="0"/>
                  </a:cubicBezTo>
                  <a:close/>
                </a:path>
              </a:pathLst>
            </a:custGeom>
            <a:blipFill>
              <a:blip r:embed="rId3"/>
              <a:stretch>
                <a:fillRect l="-1023" r="-1023"/>
              </a:stretch>
            </a:blipFill>
          </p:spPr>
        </p:sp>
      </p:grpSp>
      <p:sp>
        <p:nvSpPr>
          <p:cNvPr id="19" name="TextBox 19"/>
          <p:cNvSpPr txBox="1"/>
          <p:nvPr/>
        </p:nvSpPr>
        <p:spPr>
          <a:xfrm>
            <a:off x="260871" y="4322045"/>
            <a:ext cx="4766399" cy="3368102"/>
          </a:xfrm>
          <a:prstGeom prst="rect">
            <a:avLst/>
          </a:prstGeom>
        </p:spPr>
        <p:txBody>
          <a:bodyPr wrap="square" lIns="0" tIns="0" rIns="0" bIns="0" rtlCol="0" anchor="t">
            <a:spAutoFit/>
          </a:bodyPr>
          <a:lstStyle/>
          <a:p>
            <a:pPr marL="0" lvl="0" indent="0" algn="just">
              <a:lnSpc>
                <a:spcPts val="2248"/>
              </a:lnSpc>
              <a:spcBef>
                <a:spcPct val="0"/>
              </a:spcBef>
            </a:pPr>
            <a:r>
              <a:rPr lang="en-US" dirty="0">
                <a:solidFill>
                  <a:srgbClr val="FFFFFF"/>
                </a:solidFill>
                <a:latin typeface="Open Sauce"/>
                <a:ea typeface="Open Sauce"/>
                <a:cs typeface="Open Sauce"/>
                <a:sym typeface="Open Sauce"/>
              </a:rPr>
              <a:t>The continuous edge processing loop reads local environmental temperature and worker motion metrics to analyze real-time safety status. Telemetry is uploaded directly to the cloud dashboard while checking critical safety boundaries. The system flags fall detection by identifying sudden acceleration, tracks hazardous gas spikes, and generates an immediate supervisor alert when operational temperatures exceed safe thermal thresholds.</a:t>
            </a:r>
          </a:p>
        </p:txBody>
      </p:sp>
      <p:sp>
        <p:nvSpPr>
          <p:cNvPr id="20" name="TextBox 20"/>
          <p:cNvSpPr txBox="1"/>
          <p:nvPr/>
        </p:nvSpPr>
        <p:spPr>
          <a:xfrm>
            <a:off x="120745" y="1437847"/>
            <a:ext cx="13156580" cy="2368181"/>
          </a:xfrm>
          <a:prstGeom prst="rect">
            <a:avLst/>
          </a:prstGeom>
        </p:spPr>
        <p:txBody>
          <a:bodyPr wrap="square" lIns="0" tIns="0" rIns="0" bIns="0" rtlCol="0" anchor="t">
            <a:spAutoFit/>
          </a:bodyPr>
          <a:lstStyle/>
          <a:p>
            <a:pPr algn="r">
              <a:lnSpc>
                <a:spcPts val="8852"/>
              </a:lnSpc>
            </a:pPr>
            <a:r>
              <a:rPr lang="en-US" sz="8800" b="1" spc="-370" dirty="0">
                <a:solidFill>
                  <a:srgbClr val="FFFFFF"/>
                </a:solidFill>
                <a:latin typeface="Akzidenz-Grotesk Bold"/>
                <a:ea typeface="Akzidenz-Grotesk Bold"/>
                <a:cs typeface="Akzidenz-Grotesk Bold"/>
                <a:sym typeface="Akzidenz-Grotesk Bold"/>
              </a:rPr>
              <a:t>DATA COLLECTION &amp;</a:t>
            </a:r>
          </a:p>
          <a:p>
            <a:pPr marL="0" lvl="0" indent="0" algn="r">
              <a:lnSpc>
                <a:spcPts val="8852"/>
              </a:lnSpc>
              <a:spcBef>
                <a:spcPct val="0"/>
              </a:spcBef>
            </a:pPr>
            <a:r>
              <a:rPr lang="en-US" sz="8800" b="1" spc="-370" dirty="0">
                <a:solidFill>
                  <a:srgbClr val="FFFFFF"/>
                </a:solidFill>
                <a:latin typeface="Akzidenz-Grotesk Bold"/>
                <a:ea typeface="Akzidenz-Grotesk Bold"/>
                <a:cs typeface="Akzidenz-Grotesk Bold"/>
                <a:sym typeface="Akzidenz-Grotesk Bold"/>
              </a:rPr>
              <a:t>SAFETY DETECTION</a:t>
            </a:r>
          </a:p>
        </p:txBody>
      </p:sp>
      <p:sp>
        <p:nvSpPr>
          <p:cNvPr id="22" name="AutoShape 11">
            <a:extLst>
              <a:ext uri="{FF2B5EF4-FFF2-40B4-BE49-F238E27FC236}">
                <a16:creationId xmlns:a16="http://schemas.microsoft.com/office/drawing/2014/main" id="{17BE76D7-7CC4-31B2-1849-F19295B77BB1}"/>
              </a:ext>
            </a:extLst>
          </p:cNvPr>
          <p:cNvSpPr/>
          <p:nvPr/>
        </p:nvSpPr>
        <p:spPr>
          <a:xfrm flipV="1">
            <a:off x="6553200" y="800095"/>
            <a:ext cx="7960575" cy="0"/>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23" name="Group 22">
            <a:extLst>
              <a:ext uri="{FF2B5EF4-FFF2-40B4-BE49-F238E27FC236}">
                <a16:creationId xmlns:a16="http://schemas.microsoft.com/office/drawing/2014/main" id="{673CF702-95F8-F51E-5249-5D028CF3608E}"/>
              </a:ext>
            </a:extLst>
          </p:cNvPr>
          <p:cNvGrpSpPr/>
          <p:nvPr/>
        </p:nvGrpSpPr>
        <p:grpSpPr bwMode="auto">
          <a:xfrm>
            <a:off x="485503" y="221362"/>
            <a:ext cx="1288014" cy="1282909"/>
            <a:chOff x="-1" y="0"/>
            <a:chExt cx="1435" cy="1424"/>
          </a:xfrm>
        </p:grpSpPr>
        <p:grpSp>
          <p:nvGrpSpPr>
            <p:cNvPr id="24" name="Group 23">
              <a:extLst>
                <a:ext uri="{FF2B5EF4-FFF2-40B4-BE49-F238E27FC236}">
                  <a16:creationId xmlns:a16="http://schemas.microsoft.com/office/drawing/2014/main" id="{76A421A7-DD78-2D2C-7251-342753F9DA5B}"/>
                </a:ext>
              </a:extLst>
            </p:cNvPr>
            <p:cNvGrpSpPr>
              <a:grpSpLocks/>
            </p:cNvGrpSpPr>
            <p:nvPr/>
          </p:nvGrpSpPr>
          <p:grpSpPr bwMode="auto">
            <a:xfrm>
              <a:off x="-1" y="0"/>
              <a:ext cx="1336" cy="839"/>
              <a:chOff x="-1" y="0"/>
              <a:chExt cx="1336" cy="839"/>
            </a:xfrm>
          </p:grpSpPr>
          <p:pic>
            <p:nvPicPr>
              <p:cNvPr id="32" name="Picture 31">
                <a:extLst>
                  <a:ext uri="{FF2B5EF4-FFF2-40B4-BE49-F238E27FC236}">
                    <a16:creationId xmlns:a16="http://schemas.microsoft.com/office/drawing/2014/main" id="{2F33A55C-F7A3-CEE6-CA30-D9A56A64B0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0B6DB2FC-6F60-12DC-E372-C2189BEDFA08}"/>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4" name="Freeform 378">
                <a:extLst>
                  <a:ext uri="{FF2B5EF4-FFF2-40B4-BE49-F238E27FC236}">
                    <a16:creationId xmlns:a16="http://schemas.microsoft.com/office/drawing/2014/main" id="{E1F77574-9240-38DE-F37B-BAD432FAB8BA}"/>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5" name="Freeform 377">
                <a:extLst>
                  <a:ext uri="{FF2B5EF4-FFF2-40B4-BE49-F238E27FC236}">
                    <a16:creationId xmlns:a16="http://schemas.microsoft.com/office/drawing/2014/main" id="{A30D69B1-9C33-A840-0CB7-3DF1F20A8C53}"/>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6" name="Freeform 376">
                <a:extLst>
                  <a:ext uri="{FF2B5EF4-FFF2-40B4-BE49-F238E27FC236}">
                    <a16:creationId xmlns:a16="http://schemas.microsoft.com/office/drawing/2014/main" id="{E7D063A6-A635-9801-0830-E45EF055CB5E}"/>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7" name="AutoShape 375">
                <a:extLst>
                  <a:ext uri="{FF2B5EF4-FFF2-40B4-BE49-F238E27FC236}">
                    <a16:creationId xmlns:a16="http://schemas.microsoft.com/office/drawing/2014/main" id="{26327A7E-7D63-EA7E-37AA-93EBB5B042E6}"/>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5" name="Group 24">
              <a:extLst>
                <a:ext uri="{FF2B5EF4-FFF2-40B4-BE49-F238E27FC236}">
                  <a16:creationId xmlns:a16="http://schemas.microsoft.com/office/drawing/2014/main" id="{22F94E77-1AB7-6362-5ADB-D9A60094EC38}"/>
                </a:ext>
              </a:extLst>
            </p:cNvPr>
            <p:cNvGrpSpPr>
              <a:grpSpLocks/>
            </p:cNvGrpSpPr>
            <p:nvPr/>
          </p:nvGrpSpPr>
          <p:grpSpPr bwMode="auto">
            <a:xfrm>
              <a:off x="24" y="883"/>
              <a:ext cx="1410" cy="296"/>
              <a:chOff x="24" y="883"/>
              <a:chExt cx="1410" cy="296"/>
            </a:xfrm>
          </p:grpSpPr>
          <p:pic>
            <p:nvPicPr>
              <p:cNvPr id="29" name="Picture 28">
                <a:extLst>
                  <a:ext uri="{FF2B5EF4-FFF2-40B4-BE49-F238E27FC236}">
                    <a16:creationId xmlns:a16="http://schemas.microsoft.com/office/drawing/2014/main" id="{DF188B89-510C-0547-2E9A-CEE757D72B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6ACD8F01-CE1A-2A80-59C2-331B2E4D58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1" name="AutoShape 371">
                <a:extLst>
                  <a:ext uri="{FF2B5EF4-FFF2-40B4-BE49-F238E27FC236}">
                    <a16:creationId xmlns:a16="http://schemas.microsoft.com/office/drawing/2014/main" id="{2A9A180C-3D65-CC43-1D3E-8A7950D88DB7}"/>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6" name="Group 25">
              <a:extLst>
                <a:ext uri="{FF2B5EF4-FFF2-40B4-BE49-F238E27FC236}">
                  <a16:creationId xmlns:a16="http://schemas.microsoft.com/office/drawing/2014/main" id="{715F9BFC-796E-58C2-D097-8CB6309D69E7}"/>
                </a:ext>
              </a:extLst>
            </p:cNvPr>
            <p:cNvGrpSpPr>
              <a:grpSpLocks/>
            </p:cNvGrpSpPr>
            <p:nvPr/>
          </p:nvGrpSpPr>
          <p:grpSpPr bwMode="auto">
            <a:xfrm>
              <a:off x="191" y="1279"/>
              <a:ext cx="1059" cy="145"/>
              <a:chOff x="191" y="1279"/>
              <a:chExt cx="1059" cy="145"/>
            </a:xfrm>
          </p:grpSpPr>
          <p:pic>
            <p:nvPicPr>
              <p:cNvPr id="27" name="Picture 26">
                <a:extLst>
                  <a:ext uri="{FF2B5EF4-FFF2-40B4-BE49-F238E27FC236}">
                    <a16:creationId xmlns:a16="http://schemas.microsoft.com/office/drawing/2014/main" id="{0F2EB9D4-FD46-8AAB-EA2D-C9D0679E8D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8EF66134-B1B4-44E1-51BF-E84E402091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39" name="Picture 38">
            <a:extLst>
              <a:ext uri="{FF2B5EF4-FFF2-40B4-BE49-F238E27FC236}">
                <a16:creationId xmlns:a16="http://schemas.microsoft.com/office/drawing/2014/main" id="{DE6C4113-6480-91CE-DFC6-420C8EBCC5C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013188" y="297479"/>
            <a:ext cx="1828800" cy="9006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6FF3F"/>
        </a:solidFill>
        <a:effectLst/>
      </p:bgPr>
    </p:bg>
    <p:spTree>
      <p:nvGrpSpPr>
        <p:cNvPr id="1" name=""/>
        <p:cNvGrpSpPr/>
        <p:nvPr/>
      </p:nvGrpSpPr>
      <p:grpSpPr>
        <a:xfrm>
          <a:off x="0" y="0"/>
          <a:ext cx="0" cy="0"/>
          <a:chOff x="0" y="0"/>
          <a:chExt cx="0" cy="0"/>
        </a:xfrm>
      </p:grpSpPr>
      <p:grpSp>
        <p:nvGrpSpPr>
          <p:cNvPr id="6" name="Group 6"/>
          <p:cNvGrpSpPr/>
          <p:nvPr/>
        </p:nvGrpSpPr>
        <p:grpSpPr>
          <a:xfrm>
            <a:off x="1197054" y="2956144"/>
            <a:ext cx="3185304" cy="669965"/>
            <a:chOff x="0" y="0"/>
            <a:chExt cx="4247072" cy="893286"/>
          </a:xfrm>
        </p:grpSpPr>
        <p:grpSp>
          <p:nvGrpSpPr>
            <p:cNvPr id="7" name="Group 7"/>
            <p:cNvGrpSpPr/>
            <p:nvPr/>
          </p:nvGrpSpPr>
          <p:grpSpPr>
            <a:xfrm>
              <a:off x="0" y="0"/>
              <a:ext cx="4247072" cy="893286"/>
              <a:chOff x="0" y="0"/>
              <a:chExt cx="1932203" cy="406400"/>
            </a:xfrm>
          </p:grpSpPr>
          <p:sp>
            <p:nvSpPr>
              <p:cNvPr id="8" name="Freeform 8"/>
              <p:cNvSpPr/>
              <p:nvPr/>
            </p:nvSpPr>
            <p:spPr>
              <a:xfrm>
                <a:off x="0" y="0"/>
                <a:ext cx="1932203" cy="406400"/>
              </a:xfrm>
              <a:custGeom>
                <a:avLst/>
                <a:gdLst/>
                <a:ahLst/>
                <a:cxnLst/>
                <a:rect l="l" t="t" r="r" b="b"/>
                <a:pathLst>
                  <a:path w="1932203" h="406400">
                    <a:moveTo>
                      <a:pt x="1729003" y="0"/>
                    </a:moveTo>
                    <a:cubicBezTo>
                      <a:pt x="1841227" y="0"/>
                      <a:pt x="1932203" y="90976"/>
                      <a:pt x="1932203" y="203200"/>
                    </a:cubicBezTo>
                    <a:cubicBezTo>
                      <a:pt x="1932203" y="315424"/>
                      <a:pt x="1841227" y="406400"/>
                      <a:pt x="1729003" y="406400"/>
                    </a:cubicBezTo>
                    <a:lnTo>
                      <a:pt x="203200" y="406400"/>
                    </a:lnTo>
                    <a:cubicBezTo>
                      <a:pt x="90976" y="406400"/>
                      <a:pt x="0" y="315424"/>
                      <a:pt x="0" y="203200"/>
                    </a:cubicBezTo>
                    <a:cubicBezTo>
                      <a:pt x="0" y="90976"/>
                      <a:pt x="90976" y="0"/>
                      <a:pt x="203200" y="0"/>
                    </a:cubicBezTo>
                    <a:close/>
                  </a:path>
                </a:pathLst>
              </a:custGeom>
              <a:ln w="19050" cap="sq">
                <a:solidFill>
                  <a:srgbClr val="171717"/>
                </a:solidFill>
                <a:prstDash val="solid"/>
                <a:miter/>
              </a:ln>
            </p:spPr>
          </p:sp>
          <p:sp>
            <p:nvSpPr>
              <p:cNvPr id="9" name="TextBox 9"/>
              <p:cNvSpPr txBox="1"/>
              <p:nvPr/>
            </p:nvSpPr>
            <p:spPr>
              <a:xfrm>
                <a:off x="0" y="-38100"/>
                <a:ext cx="1932203" cy="444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114811" y="185446"/>
              <a:ext cx="4017450" cy="484294"/>
            </a:xfrm>
            <a:prstGeom prst="rect">
              <a:avLst/>
            </a:prstGeom>
          </p:spPr>
          <p:txBody>
            <a:bodyPr lIns="0" tIns="0" rIns="0" bIns="0" rtlCol="0" anchor="t">
              <a:spAutoFit/>
            </a:bodyPr>
            <a:lstStyle/>
            <a:p>
              <a:pPr algn="ctr">
                <a:lnSpc>
                  <a:spcPts val="3079"/>
                </a:lnSpc>
                <a:spcBef>
                  <a:spcPct val="0"/>
                </a:spcBef>
              </a:pPr>
              <a:r>
                <a:rPr lang="en-US" sz="2199">
                  <a:solidFill>
                    <a:srgbClr val="171717"/>
                  </a:solidFill>
                  <a:latin typeface="Open Sauce"/>
                  <a:ea typeface="Open Sauce"/>
                  <a:cs typeface="Open Sauce"/>
                  <a:sym typeface="Open Sauce"/>
                </a:rPr>
                <a:t>Testing Plan</a:t>
              </a:r>
            </a:p>
          </p:txBody>
        </p:sp>
      </p:grpSp>
      <p:sp>
        <p:nvSpPr>
          <p:cNvPr id="11" name="TextBox 11"/>
          <p:cNvSpPr txBox="1"/>
          <p:nvPr/>
        </p:nvSpPr>
        <p:spPr>
          <a:xfrm>
            <a:off x="1558584" y="1457215"/>
            <a:ext cx="15472731" cy="2763962"/>
          </a:xfrm>
          <a:prstGeom prst="rect">
            <a:avLst/>
          </a:prstGeom>
        </p:spPr>
        <p:txBody>
          <a:bodyPr wrap="square" lIns="0" tIns="0" rIns="0" bIns="0" rtlCol="0" anchor="t">
            <a:spAutoFit/>
          </a:bodyPr>
          <a:lstStyle/>
          <a:p>
            <a:pPr marL="0" lvl="0" indent="0" algn="r">
              <a:lnSpc>
                <a:spcPts val="10514"/>
              </a:lnSpc>
              <a:spcBef>
                <a:spcPct val="0"/>
              </a:spcBef>
            </a:pPr>
            <a:r>
              <a:rPr lang="en-US" sz="12225" b="1" spc="-440" dirty="0">
                <a:solidFill>
                  <a:srgbClr val="292929"/>
                </a:solidFill>
                <a:latin typeface="Akzidenz-Grotesk Bold"/>
                <a:ea typeface="Akzidenz-Grotesk Bold"/>
                <a:cs typeface="Akzidenz-Grotesk Bold"/>
                <a:sym typeface="Akzidenz-Grotesk Bold"/>
              </a:rPr>
              <a:t>PROJECT VERIFICATION</a:t>
            </a:r>
          </a:p>
        </p:txBody>
      </p:sp>
      <p:grpSp>
        <p:nvGrpSpPr>
          <p:cNvPr id="12" name="Group 12"/>
          <p:cNvGrpSpPr/>
          <p:nvPr/>
        </p:nvGrpSpPr>
        <p:grpSpPr>
          <a:xfrm>
            <a:off x="1028700" y="4457613"/>
            <a:ext cx="4626616" cy="5467437"/>
            <a:chOff x="0" y="0"/>
            <a:chExt cx="1270563" cy="1501469"/>
          </a:xfrm>
        </p:grpSpPr>
        <p:sp>
          <p:nvSpPr>
            <p:cNvPr id="13" name="Freeform 13"/>
            <p:cNvSpPr/>
            <p:nvPr/>
          </p:nvSpPr>
          <p:spPr>
            <a:xfrm>
              <a:off x="0" y="0"/>
              <a:ext cx="1270563" cy="1501469"/>
            </a:xfrm>
            <a:custGeom>
              <a:avLst/>
              <a:gdLst/>
              <a:ahLst/>
              <a:cxnLst/>
              <a:rect l="l" t="t" r="r" b="b"/>
              <a:pathLst>
                <a:path w="1270563" h="1501469">
                  <a:moveTo>
                    <a:pt x="60240" y="0"/>
                  </a:moveTo>
                  <a:lnTo>
                    <a:pt x="1210323" y="0"/>
                  </a:lnTo>
                  <a:cubicBezTo>
                    <a:pt x="1243592" y="0"/>
                    <a:pt x="1270563" y="26971"/>
                    <a:pt x="1270563" y="60240"/>
                  </a:cubicBezTo>
                  <a:lnTo>
                    <a:pt x="1270563" y="1441229"/>
                  </a:lnTo>
                  <a:cubicBezTo>
                    <a:pt x="1270563" y="1457206"/>
                    <a:pt x="1264216" y="1472528"/>
                    <a:pt x="1252919" y="1483826"/>
                  </a:cubicBezTo>
                  <a:cubicBezTo>
                    <a:pt x="1241622" y="1495123"/>
                    <a:pt x="1226299" y="1501469"/>
                    <a:pt x="1210323" y="1501469"/>
                  </a:cubicBezTo>
                  <a:lnTo>
                    <a:pt x="60240" y="1501469"/>
                  </a:lnTo>
                  <a:cubicBezTo>
                    <a:pt x="26971" y="1501469"/>
                    <a:pt x="0" y="1474499"/>
                    <a:pt x="0" y="1441229"/>
                  </a:cubicBezTo>
                  <a:lnTo>
                    <a:pt x="0" y="60240"/>
                  </a:lnTo>
                  <a:cubicBezTo>
                    <a:pt x="0" y="26971"/>
                    <a:pt x="26971" y="0"/>
                    <a:pt x="60240" y="0"/>
                  </a:cubicBezTo>
                  <a:close/>
                </a:path>
              </a:pathLst>
            </a:custGeom>
            <a:solidFill>
              <a:srgbClr val="292929"/>
            </a:solidFill>
          </p:spPr>
        </p:sp>
        <p:sp>
          <p:nvSpPr>
            <p:cNvPr id="14" name="TextBox 14"/>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6830692" y="4457613"/>
            <a:ext cx="4626616" cy="5467437"/>
            <a:chOff x="0" y="0"/>
            <a:chExt cx="1270563" cy="1501469"/>
          </a:xfrm>
        </p:grpSpPr>
        <p:sp>
          <p:nvSpPr>
            <p:cNvPr id="16" name="Freeform 16"/>
            <p:cNvSpPr/>
            <p:nvPr/>
          </p:nvSpPr>
          <p:spPr>
            <a:xfrm>
              <a:off x="0" y="0"/>
              <a:ext cx="1270563" cy="1501469"/>
            </a:xfrm>
            <a:custGeom>
              <a:avLst/>
              <a:gdLst/>
              <a:ahLst/>
              <a:cxnLst/>
              <a:rect l="l" t="t" r="r" b="b"/>
              <a:pathLst>
                <a:path w="1270563" h="1501469">
                  <a:moveTo>
                    <a:pt x="60240" y="0"/>
                  </a:moveTo>
                  <a:lnTo>
                    <a:pt x="1210323" y="0"/>
                  </a:lnTo>
                  <a:cubicBezTo>
                    <a:pt x="1243592" y="0"/>
                    <a:pt x="1270563" y="26971"/>
                    <a:pt x="1270563" y="60240"/>
                  </a:cubicBezTo>
                  <a:lnTo>
                    <a:pt x="1270563" y="1441229"/>
                  </a:lnTo>
                  <a:cubicBezTo>
                    <a:pt x="1270563" y="1457206"/>
                    <a:pt x="1264216" y="1472528"/>
                    <a:pt x="1252919" y="1483826"/>
                  </a:cubicBezTo>
                  <a:cubicBezTo>
                    <a:pt x="1241622" y="1495123"/>
                    <a:pt x="1226299" y="1501469"/>
                    <a:pt x="1210323" y="1501469"/>
                  </a:cubicBezTo>
                  <a:lnTo>
                    <a:pt x="60240" y="1501469"/>
                  </a:lnTo>
                  <a:cubicBezTo>
                    <a:pt x="26971" y="1501469"/>
                    <a:pt x="0" y="1474499"/>
                    <a:pt x="0" y="1441229"/>
                  </a:cubicBezTo>
                  <a:lnTo>
                    <a:pt x="0" y="60240"/>
                  </a:lnTo>
                  <a:cubicBezTo>
                    <a:pt x="0" y="26971"/>
                    <a:pt x="26971" y="0"/>
                    <a:pt x="60240" y="0"/>
                  </a:cubicBezTo>
                  <a:close/>
                </a:path>
              </a:pathLst>
            </a:custGeom>
            <a:solidFill>
              <a:srgbClr val="292929"/>
            </a:solidFill>
          </p:spPr>
        </p:sp>
        <p:sp>
          <p:nvSpPr>
            <p:cNvPr id="17" name="TextBox 17"/>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2632684" y="4457613"/>
            <a:ext cx="4626616" cy="5467437"/>
            <a:chOff x="0" y="0"/>
            <a:chExt cx="1270563" cy="1501469"/>
          </a:xfrm>
        </p:grpSpPr>
        <p:sp>
          <p:nvSpPr>
            <p:cNvPr id="21" name="Freeform 21"/>
            <p:cNvSpPr/>
            <p:nvPr/>
          </p:nvSpPr>
          <p:spPr>
            <a:xfrm>
              <a:off x="0" y="0"/>
              <a:ext cx="1270563" cy="1501469"/>
            </a:xfrm>
            <a:custGeom>
              <a:avLst/>
              <a:gdLst/>
              <a:ahLst/>
              <a:cxnLst/>
              <a:rect l="l" t="t" r="r" b="b"/>
              <a:pathLst>
                <a:path w="1270563" h="1501469">
                  <a:moveTo>
                    <a:pt x="60240" y="0"/>
                  </a:moveTo>
                  <a:lnTo>
                    <a:pt x="1210323" y="0"/>
                  </a:lnTo>
                  <a:cubicBezTo>
                    <a:pt x="1243592" y="0"/>
                    <a:pt x="1270563" y="26971"/>
                    <a:pt x="1270563" y="60240"/>
                  </a:cubicBezTo>
                  <a:lnTo>
                    <a:pt x="1270563" y="1441229"/>
                  </a:lnTo>
                  <a:cubicBezTo>
                    <a:pt x="1270563" y="1457206"/>
                    <a:pt x="1264216" y="1472528"/>
                    <a:pt x="1252919" y="1483826"/>
                  </a:cubicBezTo>
                  <a:cubicBezTo>
                    <a:pt x="1241622" y="1495123"/>
                    <a:pt x="1226299" y="1501469"/>
                    <a:pt x="1210323" y="1501469"/>
                  </a:cubicBezTo>
                  <a:lnTo>
                    <a:pt x="60240" y="1501469"/>
                  </a:lnTo>
                  <a:cubicBezTo>
                    <a:pt x="26971" y="1501469"/>
                    <a:pt x="0" y="1474499"/>
                    <a:pt x="0" y="1441229"/>
                  </a:cubicBezTo>
                  <a:lnTo>
                    <a:pt x="0" y="60240"/>
                  </a:lnTo>
                  <a:cubicBezTo>
                    <a:pt x="0" y="26971"/>
                    <a:pt x="26971" y="0"/>
                    <a:pt x="60240" y="0"/>
                  </a:cubicBezTo>
                  <a:close/>
                </a:path>
              </a:pathLst>
            </a:custGeom>
            <a:solidFill>
              <a:srgbClr val="292929"/>
            </a:solidFill>
          </p:spPr>
        </p:sp>
        <p:sp>
          <p:nvSpPr>
            <p:cNvPr id="22" name="TextBox 22"/>
            <p:cNvSpPr txBox="1"/>
            <p:nvPr/>
          </p:nvSpPr>
          <p:spPr>
            <a:xfrm>
              <a:off x="0" y="-38100"/>
              <a:ext cx="1270563" cy="1539569"/>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7155183" y="4809254"/>
            <a:ext cx="1203634" cy="1203634"/>
            <a:chOff x="0" y="0"/>
            <a:chExt cx="812800" cy="812800"/>
          </a:xfrm>
        </p:grpSpPr>
        <p:sp>
          <p:nvSpPr>
            <p:cNvPr id="24" name="Freeform 24"/>
            <p:cNvSpPr/>
            <p:nvPr/>
          </p:nvSpPr>
          <p:spPr>
            <a:xfrm>
              <a:off x="0" y="0"/>
              <a:ext cx="812800" cy="812800"/>
            </a:xfrm>
            <a:custGeom>
              <a:avLst/>
              <a:gdLst/>
              <a:ahLst/>
              <a:cxnLst/>
              <a:rect l="l" t="t" r="r" b="b"/>
              <a:pathLst>
                <a:path w="812800" h="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93318" y="812800"/>
                    <a:pt x="61015" y="799420"/>
                    <a:pt x="37197" y="775603"/>
                  </a:cubicBezTo>
                  <a:cubicBezTo>
                    <a:pt x="13380" y="751785"/>
                    <a:pt x="0" y="719482"/>
                    <a:pt x="0" y="685800"/>
                  </a:cubicBezTo>
                  <a:lnTo>
                    <a:pt x="0" y="127000"/>
                  </a:lnTo>
                  <a:cubicBezTo>
                    <a:pt x="0" y="56860"/>
                    <a:pt x="56860" y="0"/>
                    <a:pt x="127000" y="0"/>
                  </a:cubicBezTo>
                  <a:close/>
                </a:path>
              </a:pathLst>
            </a:custGeom>
            <a:solidFill>
              <a:srgbClr val="D6FF3F"/>
            </a:solidFill>
          </p:spPr>
        </p:sp>
        <p:sp>
          <p:nvSpPr>
            <p:cNvPr id="25" name="TextBox 2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1548505" y="7040637"/>
            <a:ext cx="3587006" cy="2572380"/>
          </a:xfrm>
          <a:prstGeom prst="rect">
            <a:avLst/>
          </a:prstGeom>
        </p:spPr>
        <p:txBody>
          <a:bodyPr lIns="0" tIns="0" rIns="0" bIns="0" rtlCol="0" anchor="t">
            <a:spAutoFit/>
          </a:bodyPr>
          <a:lstStyle/>
          <a:p>
            <a:pPr marL="0" lvl="0" indent="0" algn="just">
              <a:lnSpc>
                <a:spcPts val="2600"/>
              </a:lnSpc>
              <a:spcBef>
                <a:spcPct val="0"/>
              </a:spcBef>
            </a:pPr>
            <a:r>
              <a:rPr lang="en-US" sz="1733">
                <a:solidFill>
                  <a:srgbClr val="EDEDED"/>
                </a:solidFill>
                <a:latin typeface="Open Sauce"/>
                <a:ea typeface="Open Sauce"/>
                <a:cs typeface="Open Sauce"/>
                <a:sym typeface="Open Sauce"/>
              </a:rPr>
              <a:t>Program validation is split into three distinct phases: initial hardware-level Sensor Testing, isolated Wi-Fi Communication Testing to secure data links, and rigorous Real Scenario Testing to check hardware ruggedness in actual deployment spaces.</a:t>
            </a:r>
          </a:p>
        </p:txBody>
      </p:sp>
      <p:sp>
        <p:nvSpPr>
          <p:cNvPr id="27" name="TextBox 27"/>
          <p:cNvSpPr txBox="1"/>
          <p:nvPr/>
        </p:nvSpPr>
        <p:spPr>
          <a:xfrm>
            <a:off x="1558585" y="6290224"/>
            <a:ext cx="3585083" cy="511178"/>
          </a:xfrm>
          <a:prstGeom prst="rect">
            <a:avLst/>
          </a:prstGeom>
        </p:spPr>
        <p:txBody>
          <a:bodyPr lIns="0" tIns="0" rIns="0" bIns="0" rtlCol="0" anchor="t">
            <a:spAutoFit/>
          </a:bodyPr>
          <a:lstStyle/>
          <a:p>
            <a:pPr marL="0" lvl="1" indent="0" algn="l">
              <a:lnSpc>
                <a:spcPts val="4021"/>
              </a:lnSpc>
            </a:pPr>
            <a:r>
              <a:rPr lang="en-US" sz="3351" b="1" spc="-167">
                <a:solidFill>
                  <a:srgbClr val="EDEDED"/>
                </a:solidFill>
                <a:latin typeface="Open Sauce Bold"/>
                <a:ea typeface="Open Sauce Bold"/>
                <a:cs typeface="Open Sauce Bold"/>
                <a:sym typeface="Open Sauce Bold"/>
              </a:rPr>
              <a:t>Testing Plan</a:t>
            </a:r>
          </a:p>
        </p:txBody>
      </p:sp>
      <p:sp>
        <p:nvSpPr>
          <p:cNvPr id="28" name="TextBox 28"/>
          <p:cNvSpPr txBox="1"/>
          <p:nvPr/>
        </p:nvSpPr>
        <p:spPr>
          <a:xfrm>
            <a:off x="7352421" y="6753297"/>
            <a:ext cx="3587006" cy="2896230"/>
          </a:xfrm>
          <a:prstGeom prst="rect">
            <a:avLst/>
          </a:prstGeom>
        </p:spPr>
        <p:txBody>
          <a:bodyPr lIns="0" tIns="0" rIns="0" bIns="0" rtlCol="0" anchor="t">
            <a:spAutoFit/>
          </a:bodyPr>
          <a:lstStyle/>
          <a:p>
            <a:pPr marL="0" lvl="0" indent="0" algn="just">
              <a:lnSpc>
                <a:spcPts val="2600"/>
              </a:lnSpc>
              <a:spcBef>
                <a:spcPct val="0"/>
              </a:spcBef>
            </a:pPr>
            <a:r>
              <a:rPr lang="en-US" sz="1733">
                <a:solidFill>
                  <a:srgbClr val="EDEDED"/>
                </a:solidFill>
                <a:latin typeface="Open Sauce"/>
                <a:ea typeface="Open Sauce"/>
                <a:cs typeface="Open Sauce"/>
                <a:sym typeface="Open Sauce"/>
              </a:rPr>
              <a:t>Critical hazard thresholds are strictly verified. Fall detection is calibrated via controlled drops, gas detection is tuned using active sensor evaluation, heat thresholds are validated in high-temperature environments, and manual SOS protocols are tested for low-latency alerts.</a:t>
            </a:r>
          </a:p>
        </p:txBody>
      </p:sp>
      <p:sp>
        <p:nvSpPr>
          <p:cNvPr id="29" name="TextBox 29"/>
          <p:cNvSpPr txBox="1"/>
          <p:nvPr/>
        </p:nvSpPr>
        <p:spPr>
          <a:xfrm>
            <a:off x="7352421" y="6290224"/>
            <a:ext cx="3585083" cy="511178"/>
          </a:xfrm>
          <a:prstGeom prst="rect">
            <a:avLst/>
          </a:prstGeom>
        </p:spPr>
        <p:txBody>
          <a:bodyPr lIns="0" tIns="0" rIns="0" bIns="0" rtlCol="0" anchor="t">
            <a:spAutoFit/>
          </a:bodyPr>
          <a:lstStyle/>
          <a:p>
            <a:pPr marL="0" lvl="1" indent="0" algn="l">
              <a:lnSpc>
                <a:spcPts val="4021"/>
              </a:lnSpc>
            </a:pPr>
            <a:r>
              <a:rPr lang="en-US" sz="3351" b="1" spc="-167">
                <a:solidFill>
                  <a:srgbClr val="EDEDED"/>
                </a:solidFill>
                <a:latin typeface="Open Sauce Bold"/>
                <a:ea typeface="Open Sauce Bold"/>
                <a:cs typeface="Open Sauce Bold"/>
                <a:sym typeface="Open Sauce Bold"/>
              </a:rPr>
              <a:t>Validation Matrix</a:t>
            </a:r>
          </a:p>
        </p:txBody>
      </p:sp>
      <p:sp>
        <p:nvSpPr>
          <p:cNvPr id="30" name="TextBox 30"/>
          <p:cNvSpPr txBox="1"/>
          <p:nvPr/>
        </p:nvSpPr>
        <p:spPr>
          <a:xfrm>
            <a:off x="12915250" y="7364487"/>
            <a:ext cx="4116067" cy="2248530"/>
          </a:xfrm>
          <a:prstGeom prst="rect">
            <a:avLst/>
          </a:prstGeom>
        </p:spPr>
        <p:txBody>
          <a:bodyPr lIns="0" tIns="0" rIns="0" bIns="0" rtlCol="0" anchor="t">
            <a:spAutoFit/>
          </a:bodyPr>
          <a:lstStyle/>
          <a:p>
            <a:pPr marL="0" lvl="0" indent="0" algn="just">
              <a:lnSpc>
                <a:spcPts val="2600"/>
              </a:lnSpc>
              <a:spcBef>
                <a:spcPct val="0"/>
              </a:spcBef>
            </a:pPr>
            <a:r>
              <a:rPr lang="en-US" sz="1733">
                <a:solidFill>
                  <a:srgbClr val="EDEDED"/>
                </a:solidFill>
                <a:latin typeface="Open Sauce"/>
                <a:ea typeface="Open Sauce"/>
                <a:cs typeface="Open Sauce"/>
                <a:sym typeface="Open Sauce"/>
              </a:rPr>
              <a:t> The complete open-source package contains the Smart Safety Helmet Prototype hardware, the modular Embedded Firmware, the central web-connected Cloud Dashboard, the real-time automated Alert System, and thorough project documentation.</a:t>
            </a:r>
          </a:p>
        </p:txBody>
      </p:sp>
      <p:sp>
        <p:nvSpPr>
          <p:cNvPr id="31" name="TextBox 31"/>
          <p:cNvSpPr txBox="1"/>
          <p:nvPr/>
        </p:nvSpPr>
        <p:spPr>
          <a:xfrm>
            <a:off x="13163897" y="6286572"/>
            <a:ext cx="3585083" cy="1019175"/>
          </a:xfrm>
          <a:prstGeom prst="rect">
            <a:avLst/>
          </a:prstGeom>
        </p:spPr>
        <p:txBody>
          <a:bodyPr lIns="0" tIns="0" rIns="0" bIns="0" rtlCol="0" anchor="t">
            <a:spAutoFit/>
          </a:bodyPr>
          <a:lstStyle/>
          <a:p>
            <a:pPr marL="0" lvl="1" indent="0" algn="l">
              <a:lnSpc>
                <a:spcPts val="4021"/>
              </a:lnSpc>
            </a:pPr>
            <a:r>
              <a:rPr lang="en-US" sz="3351" b="1" spc="-167">
                <a:solidFill>
                  <a:srgbClr val="EDEDED"/>
                </a:solidFill>
                <a:latin typeface="Open Sauce Bold"/>
                <a:ea typeface="Open Sauce Bold"/>
                <a:cs typeface="Open Sauce Bold"/>
                <a:sym typeface="Open Sauce Bold"/>
              </a:rPr>
              <a:t>FINAL DELIVERABLES</a:t>
            </a:r>
          </a:p>
        </p:txBody>
      </p:sp>
      <p:sp>
        <p:nvSpPr>
          <p:cNvPr id="32" name="TextBox 32"/>
          <p:cNvSpPr txBox="1"/>
          <p:nvPr/>
        </p:nvSpPr>
        <p:spPr>
          <a:xfrm>
            <a:off x="7620893" y="5295900"/>
            <a:ext cx="629269" cy="514350"/>
          </a:xfrm>
          <a:prstGeom prst="rect">
            <a:avLst/>
          </a:prstGeom>
        </p:spPr>
        <p:txBody>
          <a:bodyPr lIns="0" tIns="0" rIns="0" bIns="0" rtlCol="0" anchor="t">
            <a:spAutoFit/>
          </a:bodyPr>
          <a:lstStyle/>
          <a:p>
            <a:pPr marL="0" lvl="1" indent="0" algn="l">
              <a:lnSpc>
                <a:spcPts val="4021"/>
              </a:lnSpc>
            </a:pPr>
            <a:r>
              <a:rPr lang="en-US" sz="3351" b="1" spc="-167">
                <a:solidFill>
                  <a:srgbClr val="171717"/>
                </a:solidFill>
                <a:latin typeface="Open Sauce Bold"/>
                <a:ea typeface="Open Sauce Bold"/>
                <a:cs typeface="Open Sauce Bold"/>
                <a:sym typeface="Open Sauce Bold"/>
              </a:rPr>
              <a:t>/2</a:t>
            </a:r>
          </a:p>
        </p:txBody>
      </p:sp>
      <p:grpSp>
        <p:nvGrpSpPr>
          <p:cNvPr id="33" name="Group 33"/>
          <p:cNvGrpSpPr/>
          <p:nvPr/>
        </p:nvGrpSpPr>
        <p:grpSpPr>
          <a:xfrm>
            <a:off x="1548505" y="4809254"/>
            <a:ext cx="1203634" cy="1203634"/>
            <a:chOff x="0" y="0"/>
            <a:chExt cx="812800" cy="812800"/>
          </a:xfrm>
        </p:grpSpPr>
        <p:sp>
          <p:nvSpPr>
            <p:cNvPr id="34" name="Freeform 34"/>
            <p:cNvSpPr/>
            <p:nvPr/>
          </p:nvSpPr>
          <p:spPr>
            <a:xfrm>
              <a:off x="0" y="0"/>
              <a:ext cx="812800" cy="812800"/>
            </a:xfrm>
            <a:custGeom>
              <a:avLst/>
              <a:gdLst/>
              <a:ahLst/>
              <a:cxnLst/>
              <a:rect l="l" t="t" r="r" b="b"/>
              <a:pathLst>
                <a:path w="812800" h="812800">
                  <a:moveTo>
                    <a:pt x="128642" y="0"/>
                  </a:moveTo>
                  <a:lnTo>
                    <a:pt x="684158" y="0"/>
                  </a:lnTo>
                  <a:cubicBezTo>
                    <a:pt x="755205" y="0"/>
                    <a:pt x="812800" y="57595"/>
                    <a:pt x="812800" y="128642"/>
                  </a:cubicBezTo>
                  <a:lnTo>
                    <a:pt x="812800" y="684158"/>
                  </a:lnTo>
                  <a:cubicBezTo>
                    <a:pt x="812800" y="755205"/>
                    <a:pt x="755205" y="812800"/>
                    <a:pt x="684158" y="812800"/>
                  </a:cubicBezTo>
                  <a:lnTo>
                    <a:pt x="128642" y="812800"/>
                  </a:lnTo>
                  <a:cubicBezTo>
                    <a:pt x="57595" y="812800"/>
                    <a:pt x="0" y="755205"/>
                    <a:pt x="0" y="684158"/>
                  </a:cubicBezTo>
                  <a:lnTo>
                    <a:pt x="0" y="128642"/>
                  </a:lnTo>
                  <a:cubicBezTo>
                    <a:pt x="0" y="57595"/>
                    <a:pt x="57595" y="0"/>
                    <a:pt x="128642" y="0"/>
                  </a:cubicBezTo>
                  <a:close/>
                </a:path>
              </a:pathLst>
            </a:custGeom>
            <a:solidFill>
              <a:srgbClr val="D6FF3F"/>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2014215" y="5295900"/>
            <a:ext cx="629269" cy="514350"/>
          </a:xfrm>
          <a:prstGeom prst="rect">
            <a:avLst/>
          </a:prstGeom>
        </p:spPr>
        <p:txBody>
          <a:bodyPr lIns="0" tIns="0" rIns="0" bIns="0" rtlCol="0" anchor="t">
            <a:spAutoFit/>
          </a:bodyPr>
          <a:lstStyle/>
          <a:p>
            <a:pPr marL="0" lvl="1" indent="0" algn="l">
              <a:lnSpc>
                <a:spcPts val="4021"/>
              </a:lnSpc>
            </a:pPr>
            <a:r>
              <a:rPr lang="en-US" sz="3351" b="1" spc="-167">
                <a:solidFill>
                  <a:srgbClr val="171717"/>
                </a:solidFill>
                <a:latin typeface="Open Sauce Bold"/>
                <a:ea typeface="Open Sauce Bold"/>
                <a:cs typeface="Open Sauce Bold"/>
                <a:sym typeface="Open Sauce Bold"/>
              </a:rPr>
              <a:t>/1</a:t>
            </a:r>
          </a:p>
        </p:txBody>
      </p:sp>
      <p:grpSp>
        <p:nvGrpSpPr>
          <p:cNvPr id="37" name="Group 37"/>
          <p:cNvGrpSpPr/>
          <p:nvPr/>
        </p:nvGrpSpPr>
        <p:grpSpPr>
          <a:xfrm>
            <a:off x="13154412" y="4809254"/>
            <a:ext cx="1203634" cy="1203634"/>
            <a:chOff x="0" y="0"/>
            <a:chExt cx="812800" cy="812800"/>
          </a:xfrm>
        </p:grpSpPr>
        <p:sp>
          <p:nvSpPr>
            <p:cNvPr id="38" name="Freeform 38"/>
            <p:cNvSpPr/>
            <p:nvPr/>
          </p:nvSpPr>
          <p:spPr>
            <a:xfrm>
              <a:off x="0" y="0"/>
              <a:ext cx="812800" cy="812800"/>
            </a:xfrm>
            <a:custGeom>
              <a:avLst/>
              <a:gdLst/>
              <a:ahLst/>
              <a:cxnLst/>
              <a:rect l="l" t="t" r="r" b="b"/>
              <a:pathLst>
                <a:path w="812800" h="812800">
                  <a:moveTo>
                    <a:pt x="128642" y="0"/>
                  </a:moveTo>
                  <a:lnTo>
                    <a:pt x="684158" y="0"/>
                  </a:lnTo>
                  <a:cubicBezTo>
                    <a:pt x="755205" y="0"/>
                    <a:pt x="812800" y="57595"/>
                    <a:pt x="812800" y="128642"/>
                  </a:cubicBezTo>
                  <a:lnTo>
                    <a:pt x="812800" y="684158"/>
                  </a:lnTo>
                  <a:cubicBezTo>
                    <a:pt x="812800" y="755205"/>
                    <a:pt x="755205" y="812800"/>
                    <a:pt x="684158" y="812800"/>
                  </a:cubicBezTo>
                  <a:lnTo>
                    <a:pt x="128642" y="812800"/>
                  </a:lnTo>
                  <a:cubicBezTo>
                    <a:pt x="57595" y="812800"/>
                    <a:pt x="0" y="755205"/>
                    <a:pt x="0" y="684158"/>
                  </a:cubicBezTo>
                  <a:lnTo>
                    <a:pt x="0" y="128642"/>
                  </a:lnTo>
                  <a:cubicBezTo>
                    <a:pt x="0" y="57595"/>
                    <a:pt x="57595" y="0"/>
                    <a:pt x="128642" y="0"/>
                  </a:cubicBezTo>
                  <a:close/>
                </a:path>
              </a:pathLst>
            </a:custGeom>
            <a:solidFill>
              <a:srgbClr val="D6FF3F"/>
            </a:solidFill>
          </p:spPr>
        </p:sp>
        <p:sp>
          <p:nvSpPr>
            <p:cNvPr id="39" name="TextBox 39"/>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13620123" y="5295900"/>
            <a:ext cx="629269" cy="514350"/>
          </a:xfrm>
          <a:prstGeom prst="rect">
            <a:avLst/>
          </a:prstGeom>
        </p:spPr>
        <p:txBody>
          <a:bodyPr lIns="0" tIns="0" rIns="0" bIns="0" rtlCol="0" anchor="t">
            <a:spAutoFit/>
          </a:bodyPr>
          <a:lstStyle/>
          <a:p>
            <a:pPr marL="0" lvl="1" indent="0" algn="l">
              <a:lnSpc>
                <a:spcPts val="4021"/>
              </a:lnSpc>
            </a:pPr>
            <a:r>
              <a:rPr lang="en-US" sz="3351" b="1" spc="-167">
                <a:solidFill>
                  <a:srgbClr val="171717"/>
                </a:solidFill>
                <a:latin typeface="Open Sauce Bold"/>
                <a:ea typeface="Open Sauce Bold"/>
                <a:cs typeface="Open Sauce Bold"/>
                <a:sym typeface="Open Sauce Bold"/>
              </a:rPr>
              <a:t>/3</a:t>
            </a:r>
          </a:p>
        </p:txBody>
      </p:sp>
      <p:sp>
        <p:nvSpPr>
          <p:cNvPr id="41" name="AutoShape 11">
            <a:extLst>
              <a:ext uri="{FF2B5EF4-FFF2-40B4-BE49-F238E27FC236}">
                <a16:creationId xmlns:a16="http://schemas.microsoft.com/office/drawing/2014/main" id="{7937BA7E-6F64-3840-EDE9-9157EEE1B270}"/>
              </a:ext>
            </a:extLst>
          </p:cNvPr>
          <p:cNvSpPr/>
          <p:nvPr/>
        </p:nvSpPr>
        <p:spPr>
          <a:xfrm flipV="1">
            <a:off x="7863505" y="1198163"/>
            <a:ext cx="7960575" cy="0"/>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42" name="Group 41">
            <a:extLst>
              <a:ext uri="{FF2B5EF4-FFF2-40B4-BE49-F238E27FC236}">
                <a16:creationId xmlns:a16="http://schemas.microsoft.com/office/drawing/2014/main" id="{F83B0BAE-50E8-242B-8EF0-13A53A6E2ADF}"/>
              </a:ext>
            </a:extLst>
          </p:cNvPr>
          <p:cNvGrpSpPr/>
          <p:nvPr/>
        </p:nvGrpSpPr>
        <p:grpSpPr bwMode="auto">
          <a:xfrm>
            <a:off x="584013" y="355390"/>
            <a:ext cx="1288014" cy="1282909"/>
            <a:chOff x="-1" y="0"/>
            <a:chExt cx="1435" cy="1424"/>
          </a:xfrm>
        </p:grpSpPr>
        <p:grpSp>
          <p:nvGrpSpPr>
            <p:cNvPr id="43" name="Group 42">
              <a:extLst>
                <a:ext uri="{FF2B5EF4-FFF2-40B4-BE49-F238E27FC236}">
                  <a16:creationId xmlns:a16="http://schemas.microsoft.com/office/drawing/2014/main" id="{22664FBD-9372-5B66-4643-B4195A0B7F6C}"/>
                </a:ext>
              </a:extLst>
            </p:cNvPr>
            <p:cNvGrpSpPr>
              <a:grpSpLocks/>
            </p:cNvGrpSpPr>
            <p:nvPr/>
          </p:nvGrpSpPr>
          <p:grpSpPr bwMode="auto">
            <a:xfrm>
              <a:off x="-1" y="0"/>
              <a:ext cx="1336" cy="839"/>
              <a:chOff x="-1" y="0"/>
              <a:chExt cx="1336" cy="839"/>
            </a:xfrm>
          </p:grpSpPr>
          <p:pic>
            <p:nvPicPr>
              <p:cNvPr id="51" name="Picture 50">
                <a:extLst>
                  <a:ext uri="{FF2B5EF4-FFF2-40B4-BE49-F238E27FC236}">
                    <a16:creationId xmlns:a16="http://schemas.microsoft.com/office/drawing/2014/main" id="{6A104DF8-199B-88A1-CDAF-9C3D5D13E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51">
                <a:extLst>
                  <a:ext uri="{FF2B5EF4-FFF2-40B4-BE49-F238E27FC236}">
                    <a16:creationId xmlns:a16="http://schemas.microsoft.com/office/drawing/2014/main" id="{13172721-B099-2420-1109-BF6BB549892A}"/>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53" name="Freeform 378">
                <a:extLst>
                  <a:ext uri="{FF2B5EF4-FFF2-40B4-BE49-F238E27FC236}">
                    <a16:creationId xmlns:a16="http://schemas.microsoft.com/office/drawing/2014/main" id="{EC29C7CD-755A-B7E7-5660-5A6CB0B2E6C0}"/>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54" name="Freeform 377">
                <a:extLst>
                  <a:ext uri="{FF2B5EF4-FFF2-40B4-BE49-F238E27FC236}">
                    <a16:creationId xmlns:a16="http://schemas.microsoft.com/office/drawing/2014/main" id="{10E93A81-E231-CA7C-65B6-32EF7BF6624B}"/>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55" name="Freeform 376">
                <a:extLst>
                  <a:ext uri="{FF2B5EF4-FFF2-40B4-BE49-F238E27FC236}">
                    <a16:creationId xmlns:a16="http://schemas.microsoft.com/office/drawing/2014/main" id="{5CEAC94D-BB56-ED5E-1A57-58FB045A7651}"/>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56" name="AutoShape 375">
                <a:extLst>
                  <a:ext uri="{FF2B5EF4-FFF2-40B4-BE49-F238E27FC236}">
                    <a16:creationId xmlns:a16="http://schemas.microsoft.com/office/drawing/2014/main" id="{DC4BE8E6-2E84-7CB5-FA0F-ABC015D50D5C}"/>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44" name="Group 43">
              <a:extLst>
                <a:ext uri="{FF2B5EF4-FFF2-40B4-BE49-F238E27FC236}">
                  <a16:creationId xmlns:a16="http://schemas.microsoft.com/office/drawing/2014/main" id="{3A9A41C4-9AD9-3B7E-F204-BB9D92603AB6}"/>
                </a:ext>
              </a:extLst>
            </p:cNvPr>
            <p:cNvGrpSpPr>
              <a:grpSpLocks/>
            </p:cNvGrpSpPr>
            <p:nvPr/>
          </p:nvGrpSpPr>
          <p:grpSpPr bwMode="auto">
            <a:xfrm>
              <a:off x="24" y="883"/>
              <a:ext cx="1410" cy="296"/>
              <a:chOff x="24" y="883"/>
              <a:chExt cx="1410" cy="296"/>
            </a:xfrm>
          </p:grpSpPr>
          <p:pic>
            <p:nvPicPr>
              <p:cNvPr id="48" name="Picture 47">
                <a:extLst>
                  <a:ext uri="{FF2B5EF4-FFF2-40B4-BE49-F238E27FC236}">
                    <a16:creationId xmlns:a16="http://schemas.microsoft.com/office/drawing/2014/main" id="{659610CA-81BB-CFF7-3FF7-2C60A5165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E9EEBF91-EFBE-8CB0-94E3-077B8FE0A4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50" name="AutoShape 371">
                <a:extLst>
                  <a:ext uri="{FF2B5EF4-FFF2-40B4-BE49-F238E27FC236}">
                    <a16:creationId xmlns:a16="http://schemas.microsoft.com/office/drawing/2014/main" id="{D1988DC9-DD1C-694B-3396-2ED35FDD0043}"/>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45" name="Group 44">
              <a:extLst>
                <a:ext uri="{FF2B5EF4-FFF2-40B4-BE49-F238E27FC236}">
                  <a16:creationId xmlns:a16="http://schemas.microsoft.com/office/drawing/2014/main" id="{D606960E-7157-B56E-46FF-DE8409A22E92}"/>
                </a:ext>
              </a:extLst>
            </p:cNvPr>
            <p:cNvGrpSpPr>
              <a:grpSpLocks/>
            </p:cNvGrpSpPr>
            <p:nvPr/>
          </p:nvGrpSpPr>
          <p:grpSpPr bwMode="auto">
            <a:xfrm>
              <a:off x="191" y="1279"/>
              <a:ext cx="1059" cy="145"/>
              <a:chOff x="191" y="1279"/>
              <a:chExt cx="1059" cy="145"/>
            </a:xfrm>
          </p:grpSpPr>
          <p:pic>
            <p:nvPicPr>
              <p:cNvPr id="46" name="Picture 45">
                <a:extLst>
                  <a:ext uri="{FF2B5EF4-FFF2-40B4-BE49-F238E27FC236}">
                    <a16:creationId xmlns:a16="http://schemas.microsoft.com/office/drawing/2014/main" id="{409F5EC6-C28D-BF5A-CB93-631596C650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0ADAA2F8-29A3-4964-05BC-D9E6BC3221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58" name="Picture 57">
            <a:extLst>
              <a:ext uri="{FF2B5EF4-FFF2-40B4-BE49-F238E27FC236}">
                <a16:creationId xmlns:a16="http://schemas.microsoft.com/office/drawing/2014/main" id="{28B31779-F81E-276B-60AA-69993C43FC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756130" y="207919"/>
            <a:ext cx="1837456" cy="918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6FF3F"/>
        </a:solidFill>
        <a:effectLst/>
      </p:bgPr>
    </p:bg>
    <p:spTree>
      <p:nvGrpSpPr>
        <p:cNvPr id="1" name=""/>
        <p:cNvGrpSpPr/>
        <p:nvPr/>
      </p:nvGrpSpPr>
      <p:grpSpPr>
        <a:xfrm>
          <a:off x="0" y="0"/>
          <a:ext cx="0" cy="0"/>
          <a:chOff x="0" y="0"/>
          <a:chExt cx="0" cy="0"/>
        </a:xfrm>
      </p:grpSpPr>
      <p:grpSp>
        <p:nvGrpSpPr>
          <p:cNvPr id="8" name="Group 8"/>
          <p:cNvGrpSpPr/>
          <p:nvPr/>
        </p:nvGrpSpPr>
        <p:grpSpPr>
          <a:xfrm>
            <a:off x="2364162" y="331289"/>
            <a:ext cx="3185304" cy="669965"/>
            <a:chOff x="0" y="0"/>
            <a:chExt cx="4247072" cy="893286"/>
          </a:xfrm>
        </p:grpSpPr>
        <p:grpSp>
          <p:nvGrpSpPr>
            <p:cNvPr id="9" name="Group 9"/>
            <p:cNvGrpSpPr/>
            <p:nvPr/>
          </p:nvGrpSpPr>
          <p:grpSpPr>
            <a:xfrm>
              <a:off x="0" y="0"/>
              <a:ext cx="4247072" cy="893286"/>
              <a:chOff x="0" y="0"/>
              <a:chExt cx="1932203" cy="406400"/>
            </a:xfrm>
          </p:grpSpPr>
          <p:sp>
            <p:nvSpPr>
              <p:cNvPr id="10" name="Freeform 10"/>
              <p:cNvSpPr/>
              <p:nvPr/>
            </p:nvSpPr>
            <p:spPr>
              <a:xfrm>
                <a:off x="0" y="0"/>
                <a:ext cx="1932203" cy="406400"/>
              </a:xfrm>
              <a:custGeom>
                <a:avLst/>
                <a:gdLst/>
                <a:ahLst/>
                <a:cxnLst/>
                <a:rect l="l" t="t" r="r" b="b"/>
                <a:pathLst>
                  <a:path w="1932203" h="406400">
                    <a:moveTo>
                      <a:pt x="1729003" y="0"/>
                    </a:moveTo>
                    <a:cubicBezTo>
                      <a:pt x="1841227" y="0"/>
                      <a:pt x="1932203" y="90976"/>
                      <a:pt x="1932203" y="203200"/>
                    </a:cubicBezTo>
                    <a:cubicBezTo>
                      <a:pt x="1932203" y="315424"/>
                      <a:pt x="1841227" y="406400"/>
                      <a:pt x="1729003" y="406400"/>
                    </a:cubicBezTo>
                    <a:lnTo>
                      <a:pt x="203200" y="406400"/>
                    </a:lnTo>
                    <a:cubicBezTo>
                      <a:pt x="90976" y="406400"/>
                      <a:pt x="0" y="315424"/>
                      <a:pt x="0" y="203200"/>
                    </a:cubicBezTo>
                    <a:cubicBezTo>
                      <a:pt x="0" y="90976"/>
                      <a:pt x="90976" y="0"/>
                      <a:pt x="203200" y="0"/>
                    </a:cubicBezTo>
                    <a:close/>
                  </a:path>
                </a:pathLst>
              </a:custGeom>
              <a:ln w="19050" cap="sq">
                <a:solidFill>
                  <a:srgbClr val="292929"/>
                </a:solidFill>
                <a:prstDash val="solid"/>
                <a:miter/>
              </a:ln>
            </p:spPr>
          </p:sp>
          <p:sp>
            <p:nvSpPr>
              <p:cNvPr id="11" name="TextBox 11"/>
              <p:cNvSpPr txBox="1"/>
              <p:nvPr/>
            </p:nvSpPr>
            <p:spPr>
              <a:xfrm>
                <a:off x="0" y="-38100"/>
                <a:ext cx="1932203" cy="44450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14811" y="185446"/>
              <a:ext cx="4017450" cy="484294"/>
            </a:xfrm>
            <a:prstGeom prst="rect">
              <a:avLst/>
            </a:prstGeom>
          </p:spPr>
          <p:txBody>
            <a:bodyPr lIns="0" tIns="0" rIns="0" bIns="0" rtlCol="0" anchor="t">
              <a:spAutoFit/>
            </a:bodyPr>
            <a:lstStyle/>
            <a:p>
              <a:pPr algn="ctr">
                <a:lnSpc>
                  <a:spcPts val="3079"/>
                </a:lnSpc>
                <a:spcBef>
                  <a:spcPct val="0"/>
                </a:spcBef>
              </a:pPr>
              <a:r>
                <a:rPr lang="en-US" sz="2199">
                  <a:solidFill>
                    <a:srgbClr val="292929"/>
                  </a:solidFill>
                  <a:latin typeface="Open Sauce"/>
                  <a:ea typeface="Open Sauce"/>
                  <a:cs typeface="Open Sauce"/>
                  <a:sym typeface="Open Sauce"/>
                </a:rPr>
                <a:t>Video</a:t>
              </a:r>
            </a:p>
          </p:txBody>
        </p:sp>
      </p:grpSp>
      <p:sp>
        <p:nvSpPr>
          <p:cNvPr id="13" name="TextBox 13"/>
          <p:cNvSpPr txBox="1"/>
          <p:nvPr/>
        </p:nvSpPr>
        <p:spPr>
          <a:xfrm>
            <a:off x="5943600" y="443719"/>
            <a:ext cx="7949462" cy="1926841"/>
          </a:xfrm>
          <a:prstGeom prst="rect">
            <a:avLst/>
          </a:prstGeom>
        </p:spPr>
        <p:txBody>
          <a:bodyPr lIns="0" tIns="0" rIns="0" bIns="0" rtlCol="0" anchor="t">
            <a:spAutoFit/>
          </a:bodyPr>
          <a:lstStyle/>
          <a:p>
            <a:pPr marL="0" lvl="0" indent="0" algn="l">
              <a:lnSpc>
                <a:spcPts val="6695"/>
              </a:lnSpc>
              <a:spcBef>
                <a:spcPct val="0"/>
              </a:spcBef>
            </a:pPr>
            <a:r>
              <a:rPr lang="en-US" sz="7785" b="1" spc="-280" dirty="0">
                <a:solidFill>
                  <a:srgbClr val="292929"/>
                </a:solidFill>
                <a:latin typeface="Akzidenz-Grotesk Heavy"/>
                <a:ea typeface="Akzidenz-Grotesk Heavy"/>
                <a:cs typeface="Akzidenz-Grotesk Heavy"/>
                <a:sym typeface="Akzidenz-Grotesk Heavy"/>
              </a:rPr>
              <a:t>VIDEO PRESENTATION</a:t>
            </a:r>
          </a:p>
        </p:txBody>
      </p:sp>
      <p:grpSp>
        <p:nvGrpSpPr>
          <p:cNvPr id="16" name="Group 16"/>
          <p:cNvGrpSpPr/>
          <p:nvPr/>
        </p:nvGrpSpPr>
        <p:grpSpPr>
          <a:xfrm>
            <a:off x="1056511" y="2514582"/>
            <a:ext cx="1344522" cy="134452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2929"/>
            </a:solidFill>
            <a:ln cap="sq">
              <a:noFill/>
              <a:prstDash val="solid"/>
              <a:miter/>
            </a:ln>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394724" y="2852795"/>
            <a:ext cx="668096" cy="668096"/>
          </a:xfrm>
          <a:custGeom>
            <a:avLst/>
            <a:gdLst/>
            <a:ahLst/>
            <a:cxnLst/>
            <a:rect l="l" t="t" r="r" b="b"/>
            <a:pathLst>
              <a:path w="668096" h="668096">
                <a:moveTo>
                  <a:pt x="0" y="0"/>
                </a:moveTo>
                <a:lnTo>
                  <a:pt x="668096" y="0"/>
                </a:lnTo>
                <a:lnTo>
                  <a:pt x="668096" y="668096"/>
                </a:lnTo>
                <a:lnTo>
                  <a:pt x="0" y="668096"/>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pic>
        <p:nvPicPr>
          <p:cNvPr id="20" name="WhatsApp Video 2026-06-05 at 10.53.24 AM">
            <a:hlinkClick r:id="" action="ppaction://media"/>
            <a:extLst>
              <a:ext uri="{FF2B5EF4-FFF2-40B4-BE49-F238E27FC236}">
                <a16:creationId xmlns:a16="http://schemas.microsoft.com/office/drawing/2014/main" id="{DA2E79BD-9D54-2AFD-868F-BB58A1A8B02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46191" y="2471432"/>
            <a:ext cx="13688687" cy="7371849"/>
          </a:xfrm>
          <a:prstGeom prst="rect">
            <a:avLst/>
          </a:prstGeom>
        </p:spPr>
      </p:pic>
      <p:grpSp>
        <p:nvGrpSpPr>
          <p:cNvPr id="22" name="Group 21">
            <a:extLst>
              <a:ext uri="{FF2B5EF4-FFF2-40B4-BE49-F238E27FC236}">
                <a16:creationId xmlns:a16="http://schemas.microsoft.com/office/drawing/2014/main" id="{3D01AAAB-F6F8-3359-754A-21816427DF95}"/>
              </a:ext>
            </a:extLst>
          </p:cNvPr>
          <p:cNvGrpSpPr/>
          <p:nvPr/>
        </p:nvGrpSpPr>
        <p:grpSpPr bwMode="auto">
          <a:xfrm>
            <a:off x="412504" y="288787"/>
            <a:ext cx="1288014" cy="1282909"/>
            <a:chOff x="-1" y="0"/>
            <a:chExt cx="1435" cy="1424"/>
          </a:xfrm>
        </p:grpSpPr>
        <p:grpSp>
          <p:nvGrpSpPr>
            <p:cNvPr id="23" name="Group 22">
              <a:extLst>
                <a:ext uri="{FF2B5EF4-FFF2-40B4-BE49-F238E27FC236}">
                  <a16:creationId xmlns:a16="http://schemas.microsoft.com/office/drawing/2014/main" id="{C523038B-BD43-FB42-89FC-353957250F79}"/>
                </a:ext>
              </a:extLst>
            </p:cNvPr>
            <p:cNvGrpSpPr>
              <a:grpSpLocks/>
            </p:cNvGrpSpPr>
            <p:nvPr/>
          </p:nvGrpSpPr>
          <p:grpSpPr bwMode="auto">
            <a:xfrm>
              <a:off x="-1" y="0"/>
              <a:ext cx="1336" cy="839"/>
              <a:chOff x="-1" y="0"/>
              <a:chExt cx="1336" cy="839"/>
            </a:xfrm>
          </p:grpSpPr>
          <p:pic>
            <p:nvPicPr>
              <p:cNvPr id="31" name="Picture 30">
                <a:extLst>
                  <a:ext uri="{FF2B5EF4-FFF2-40B4-BE49-F238E27FC236}">
                    <a16:creationId xmlns:a16="http://schemas.microsoft.com/office/drawing/2014/main" id="{93D6CA36-DCA2-96C7-95F5-1C7441EDE2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7D73A427-816F-683D-21AB-BE372DD9B694}"/>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3" name="Freeform 378">
                <a:extLst>
                  <a:ext uri="{FF2B5EF4-FFF2-40B4-BE49-F238E27FC236}">
                    <a16:creationId xmlns:a16="http://schemas.microsoft.com/office/drawing/2014/main" id="{EF7E94DE-85C1-4AB2-09B7-B2C695266BC8}"/>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4" name="Freeform 377">
                <a:extLst>
                  <a:ext uri="{FF2B5EF4-FFF2-40B4-BE49-F238E27FC236}">
                    <a16:creationId xmlns:a16="http://schemas.microsoft.com/office/drawing/2014/main" id="{44A441C6-0AA2-4F25-52E0-68EC94A2CE7F}"/>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5" name="Freeform 376">
                <a:extLst>
                  <a:ext uri="{FF2B5EF4-FFF2-40B4-BE49-F238E27FC236}">
                    <a16:creationId xmlns:a16="http://schemas.microsoft.com/office/drawing/2014/main" id="{C253A7ED-25DC-69A3-A810-A5AB1055263D}"/>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6" name="AutoShape 375">
                <a:extLst>
                  <a:ext uri="{FF2B5EF4-FFF2-40B4-BE49-F238E27FC236}">
                    <a16:creationId xmlns:a16="http://schemas.microsoft.com/office/drawing/2014/main" id="{0444C0A6-DDF0-055A-2745-7E1202AD0EDE}"/>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4" name="Group 23">
              <a:extLst>
                <a:ext uri="{FF2B5EF4-FFF2-40B4-BE49-F238E27FC236}">
                  <a16:creationId xmlns:a16="http://schemas.microsoft.com/office/drawing/2014/main" id="{12C4EE5D-CAAF-0CF5-4A38-8D6925A57470}"/>
                </a:ext>
              </a:extLst>
            </p:cNvPr>
            <p:cNvGrpSpPr>
              <a:grpSpLocks/>
            </p:cNvGrpSpPr>
            <p:nvPr/>
          </p:nvGrpSpPr>
          <p:grpSpPr bwMode="auto">
            <a:xfrm>
              <a:off x="24" y="883"/>
              <a:ext cx="1410" cy="296"/>
              <a:chOff x="24" y="883"/>
              <a:chExt cx="1410" cy="296"/>
            </a:xfrm>
          </p:grpSpPr>
          <p:pic>
            <p:nvPicPr>
              <p:cNvPr id="28" name="Picture 27">
                <a:extLst>
                  <a:ext uri="{FF2B5EF4-FFF2-40B4-BE49-F238E27FC236}">
                    <a16:creationId xmlns:a16="http://schemas.microsoft.com/office/drawing/2014/main" id="{E0263BEA-4DD8-0C66-DAD0-D461787F6D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E48BC52A-B861-8376-37DC-36CF6DE868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371">
                <a:extLst>
                  <a:ext uri="{FF2B5EF4-FFF2-40B4-BE49-F238E27FC236}">
                    <a16:creationId xmlns:a16="http://schemas.microsoft.com/office/drawing/2014/main" id="{94C5E287-FBEA-96A7-58C8-E9F36EDA0C2A}"/>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5" name="Group 24">
              <a:extLst>
                <a:ext uri="{FF2B5EF4-FFF2-40B4-BE49-F238E27FC236}">
                  <a16:creationId xmlns:a16="http://schemas.microsoft.com/office/drawing/2014/main" id="{3EB37202-19FF-41D0-12E5-923B77E9C935}"/>
                </a:ext>
              </a:extLst>
            </p:cNvPr>
            <p:cNvGrpSpPr>
              <a:grpSpLocks/>
            </p:cNvGrpSpPr>
            <p:nvPr/>
          </p:nvGrpSpPr>
          <p:grpSpPr bwMode="auto">
            <a:xfrm>
              <a:off x="191" y="1279"/>
              <a:ext cx="1059" cy="145"/>
              <a:chOff x="191" y="1279"/>
              <a:chExt cx="1059" cy="145"/>
            </a:xfrm>
          </p:grpSpPr>
          <p:pic>
            <p:nvPicPr>
              <p:cNvPr id="26" name="Picture 25">
                <a:extLst>
                  <a:ext uri="{FF2B5EF4-FFF2-40B4-BE49-F238E27FC236}">
                    <a16:creationId xmlns:a16="http://schemas.microsoft.com/office/drawing/2014/main" id="{744C24FB-A334-5C47-53C8-B024B25BF08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A916572C-9B52-19B3-D02F-45DAB360964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38" name="Picture 37">
            <a:extLst>
              <a:ext uri="{FF2B5EF4-FFF2-40B4-BE49-F238E27FC236}">
                <a16:creationId xmlns:a16="http://schemas.microsoft.com/office/drawing/2014/main" id="{8CB015B1-D651-A336-A617-9E830DC3BF5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008860" y="273511"/>
            <a:ext cx="1837456" cy="918728"/>
          </a:xfrm>
          <a:prstGeom prst="rect">
            <a:avLst/>
          </a:prstGeom>
        </p:spPr>
      </p:pic>
      <p:grpSp>
        <p:nvGrpSpPr>
          <p:cNvPr id="40" name="Group 8">
            <a:extLst>
              <a:ext uri="{FF2B5EF4-FFF2-40B4-BE49-F238E27FC236}">
                <a16:creationId xmlns:a16="http://schemas.microsoft.com/office/drawing/2014/main" id="{DE472BF5-29D6-7072-2D61-6DE53E5DFBEE}"/>
              </a:ext>
            </a:extLst>
          </p:cNvPr>
          <p:cNvGrpSpPr/>
          <p:nvPr/>
        </p:nvGrpSpPr>
        <p:grpSpPr>
          <a:xfrm>
            <a:off x="9694821" y="317001"/>
            <a:ext cx="3185304" cy="669965"/>
            <a:chOff x="0" y="0"/>
            <a:chExt cx="4247072" cy="893286"/>
          </a:xfrm>
        </p:grpSpPr>
        <p:grpSp>
          <p:nvGrpSpPr>
            <p:cNvPr id="41" name="Group 9">
              <a:extLst>
                <a:ext uri="{FF2B5EF4-FFF2-40B4-BE49-F238E27FC236}">
                  <a16:creationId xmlns:a16="http://schemas.microsoft.com/office/drawing/2014/main" id="{CD0E6AEC-DEEB-BC8C-E91C-43C50782C6A1}"/>
                </a:ext>
              </a:extLst>
            </p:cNvPr>
            <p:cNvGrpSpPr/>
            <p:nvPr/>
          </p:nvGrpSpPr>
          <p:grpSpPr>
            <a:xfrm>
              <a:off x="0" y="0"/>
              <a:ext cx="4247072" cy="893286"/>
              <a:chOff x="0" y="0"/>
              <a:chExt cx="1932203" cy="406400"/>
            </a:xfrm>
          </p:grpSpPr>
          <p:sp>
            <p:nvSpPr>
              <p:cNvPr id="43" name="Freeform 10">
                <a:extLst>
                  <a:ext uri="{FF2B5EF4-FFF2-40B4-BE49-F238E27FC236}">
                    <a16:creationId xmlns:a16="http://schemas.microsoft.com/office/drawing/2014/main" id="{62F85B52-5C4E-6B3A-5163-23E2C0CFF7CC}"/>
                  </a:ext>
                </a:extLst>
              </p:cNvPr>
              <p:cNvSpPr/>
              <p:nvPr/>
            </p:nvSpPr>
            <p:spPr>
              <a:xfrm>
                <a:off x="0" y="0"/>
                <a:ext cx="1932203" cy="406400"/>
              </a:xfrm>
              <a:custGeom>
                <a:avLst/>
                <a:gdLst/>
                <a:ahLst/>
                <a:cxnLst/>
                <a:rect l="l" t="t" r="r" b="b"/>
                <a:pathLst>
                  <a:path w="1932203" h="406400">
                    <a:moveTo>
                      <a:pt x="1729003" y="0"/>
                    </a:moveTo>
                    <a:cubicBezTo>
                      <a:pt x="1841227" y="0"/>
                      <a:pt x="1932203" y="90976"/>
                      <a:pt x="1932203" y="203200"/>
                    </a:cubicBezTo>
                    <a:cubicBezTo>
                      <a:pt x="1932203" y="315424"/>
                      <a:pt x="1841227" y="406400"/>
                      <a:pt x="1729003" y="406400"/>
                    </a:cubicBezTo>
                    <a:lnTo>
                      <a:pt x="203200" y="406400"/>
                    </a:lnTo>
                    <a:cubicBezTo>
                      <a:pt x="90976" y="406400"/>
                      <a:pt x="0" y="315424"/>
                      <a:pt x="0" y="203200"/>
                    </a:cubicBezTo>
                    <a:cubicBezTo>
                      <a:pt x="0" y="90976"/>
                      <a:pt x="90976" y="0"/>
                      <a:pt x="203200" y="0"/>
                    </a:cubicBezTo>
                    <a:close/>
                  </a:path>
                </a:pathLst>
              </a:custGeom>
              <a:ln w="19050" cap="sq">
                <a:solidFill>
                  <a:srgbClr val="292929"/>
                </a:solidFill>
                <a:prstDash val="solid"/>
                <a:miter/>
              </a:ln>
            </p:spPr>
          </p:sp>
          <p:sp>
            <p:nvSpPr>
              <p:cNvPr id="44" name="TextBox 11">
                <a:extLst>
                  <a:ext uri="{FF2B5EF4-FFF2-40B4-BE49-F238E27FC236}">
                    <a16:creationId xmlns:a16="http://schemas.microsoft.com/office/drawing/2014/main" id="{6932DD53-9BC9-6486-863B-AF16312D041D}"/>
                  </a:ext>
                </a:extLst>
              </p:cNvPr>
              <p:cNvSpPr txBox="1"/>
              <p:nvPr/>
            </p:nvSpPr>
            <p:spPr>
              <a:xfrm>
                <a:off x="0" y="-38100"/>
                <a:ext cx="1932203" cy="444500"/>
              </a:xfrm>
              <a:prstGeom prst="rect">
                <a:avLst/>
              </a:prstGeom>
            </p:spPr>
            <p:txBody>
              <a:bodyPr lIns="50800" tIns="50800" rIns="50800" bIns="50800" rtlCol="0" anchor="ctr"/>
              <a:lstStyle/>
              <a:p>
                <a:pPr algn="ctr">
                  <a:lnSpc>
                    <a:spcPts val="2659"/>
                  </a:lnSpc>
                </a:pPr>
                <a:endParaRPr/>
              </a:p>
            </p:txBody>
          </p:sp>
        </p:grpSp>
        <p:sp>
          <p:nvSpPr>
            <p:cNvPr id="42" name="TextBox 12">
              <a:extLst>
                <a:ext uri="{FF2B5EF4-FFF2-40B4-BE49-F238E27FC236}">
                  <a16:creationId xmlns:a16="http://schemas.microsoft.com/office/drawing/2014/main" id="{9E7F241C-C0E0-A90A-7AE7-6705395C507B}"/>
                </a:ext>
              </a:extLst>
            </p:cNvPr>
            <p:cNvSpPr txBox="1"/>
            <p:nvPr/>
          </p:nvSpPr>
          <p:spPr>
            <a:xfrm>
              <a:off x="114811" y="185446"/>
              <a:ext cx="4017450" cy="484294"/>
            </a:xfrm>
            <a:prstGeom prst="rect">
              <a:avLst/>
            </a:prstGeom>
          </p:spPr>
          <p:txBody>
            <a:bodyPr lIns="0" tIns="0" rIns="0" bIns="0" rtlCol="0" anchor="t">
              <a:spAutoFit/>
            </a:bodyPr>
            <a:lstStyle/>
            <a:p>
              <a:pPr algn="ctr">
                <a:lnSpc>
                  <a:spcPts val="3079"/>
                </a:lnSpc>
                <a:spcBef>
                  <a:spcPct val="0"/>
                </a:spcBef>
              </a:pPr>
              <a:r>
                <a:rPr lang="en-US" sz="2199" dirty="0">
                  <a:solidFill>
                    <a:srgbClr val="292929"/>
                  </a:solidFill>
                  <a:latin typeface="Open Sauce"/>
                  <a:ea typeface="Open Sauce"/>
                  <a:cs typeface="Open Sauce"/>
                  <a:sym typeface="Open Sauce"/>
                </a:rPr>
                <a:t>2026</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133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grpSp>
        <p:nvGrpSpPr>
          <p:cNvPr id="11" name="Group 11"/>
          <p:cNvGrpSpPr/>
          <p:nvPr/>
        </p:nvGrpSpPr>
        <p:grpSpPr>
          <a:xfrm>
            <a:off x="6477000" y="1749175"/>
            <a:ext cx="7391400" cy="1863185"/>
            <a:chOff x="0" y="0"/>
            <a:chExt cx="2203413" cy="444910"/>
          </a:xfrm>
        </p:grpSpPr>
        <p:sp>
          <p:nvSpPr>
            <p:cNvPr id="12" name="Freeform 12"/>
            <p:cNvSpPr/>
            <p:nvPr/>
          </p:nvSpPr>
          <p:spPr>
            <a:xfrm>
              <a:off x="0" y="0"/>
              <a:ext cx="2203413" cy="444910"/>
            </a:xfrm>
            <a:custGeom>
              <a:avLst/>
              <a:gdLst/>
              <a:ahLst/>
              <a:cxnLst/>
              <a:rect l="l" t="t" r="r" b="b"/>
              <a:pathLst>
                <a:path w="2203413" h="444910">
                  <a:moveTo>
                    <a:pt x="2000213" y="0"/>
                  </a:moveTo>
                  <a:cubicBezTo>
                    <a:pt x="2112438" y="0"/>
                    <a:pt x="2203413" y="99596"/>
                    <a:pt x="2203413" y="222455"/>
                  </a:cubicBezTo>
                  <a:cubicBezTo>
                    <a:pt x="2203413" y="345313"/>
                    <a:pt x="2112438" y="444910"/>
                    <a:pt x="2000213" y="444910"/>
                  </a:cubicBezTo>
                  <a:lnTo>
                    <a:pt x="203200" y="444910"/>
                  </a:lnTo>
                  <a:cubicBezTo>
                    <a:pt x="90976" y="444910"/>
                    <a:pt x="0" y="345313"/>
                    <a:pt x="0" y="222455"/>
                  </a:cubicBezTo>
                  <a:cubicBezTo>
                    <a:pt x="0" y="99596"/>
                    <a:pt x="90976" y="0"/>
                    <a:pt x="203200" y="0"/>
                  </a:cubicBezTo>
                  <a:close/>
                </a:path>
              </a:pathLst>
            </a:custGeom>
            <a:solidFill>
              <a:srgbClr val="D6FF3F"/>
            </a:solidFill>
            <a:ln cap="sq">
              <a:noFill/>
              <a:prstDash val="solid"/>
              <a:miter/>
            </a:ln>
          </p:spPr>
        </p:sp>
        <p:sp>
          <p:nvSpPr>
            <p:cNvPr id="13" name="TextBox 13"/>
            <p:cNvSpPr txBox="1"/>
            <p:nvPr/>
          </p:nvSpPr>
          <p:spPr>
            <a:xfrm>
              <a:off x="0" y="-38100"/>
              <a:ext cx="2203413" cy="48301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1028700" y="1984345"/>
            <a:ext cx="13830300" cy="1677319"/>
          </a:xfrm>
          <a:prstGeom prst="rect">
            <a:avLst/>
          </a:prstGeom>
        </p:spPr>
        <p:txBody>
          <a:bodyPr wrap="square" lIns="0" tIns="0" rIns="0" bIns="0" rtlCol="0" anchor="t">
            <a:spAutoFit/>
          </a:bodyPr>
          <a:lstStyle/>
          <a:p>
            <a:pPr marL="0" lvl="0" indent="0" algn="l">
              <a:lnSpc>
                <a:spcPts val="12893"/>
              </a:lnSpc>
              <a:spcBef>
                <a:spcPct val="0"/>
              </a:spcBef>
            </a:pPr>
            <a:r>
              <a:rPr lang="en-US" sz="12500" b="1" spc="-539" dirty="0">
                <a:solidFill>
                  <a:srgbClr val="FFFFFF"/>
                </a:solidFill>
                <a:latin typeface="Akzidenz-Grotesk Heavy"/>
                <a:ea typeface="Akzidenz-Grotesk Heavy"/>
                <a:cs typeface="Akzidenz-Grotesk Heavy"/>
                <a:sym typeface="Akzidenz-Grotesk Heavy"/>
              </a:rPr>
              <a:t>CONCLUSION</a:t>
            </a:r>
            <a:endParaRPr lang="en-US" sz="14992" b="1" spc="-539" dirty="0">
              <a:solidFill>
                <a:srgbClr val="FFFFFF"/>
              </a:solidFill>
              <a:latin typeface="Akzidenz-Grotesk Heavy"/>
              <a:ea typeface="Akzidenz-Grotesk Heavy"/>
              <a:cs typeface="Akzidenz-Grotesk Heavy"/>
              <a:sym typeface="Akzidenz-Grotesk Heavy"/>
            </a:endParaRPr>
          </a:p>
        </p:txBody>
      </p:sp>
      <p:sp>
        <p:nvSpPr>
          <p:cNvPr id="17" name="TextBox 17"/>
          <p:cNvSpPr txBox="1"/>
          <p:nvPr/>
        </p:nvSpPr>
        <p:spPr>
          <a:xfrm>
            <a:off x="1179575" y="4603377"/>
            <a:ext cx="14013163" cy="2312715"/>
          </a:xfrm>
          <a:prstGeom prst="rect">
            <a:avLst/>
          </a:prstGeom>
        </p:spPr>
        <p:txBody>
          <a:bodyPr lIns="0" tIns="0" rIns="0" bIns="0" rtlCol="0" anchor="t">
            <a:spAutoFit/>
          </a:bodyPr>
          <a:lstStyle/>
          <a:p>
            <a:pPr marL="0" lvl="0" indent="0" algn="just">
              <a:lnSpc>
                <a:spcPts val="2698"/>
              </a:lnSpc>
              <a:spcBef>
                <a:spcPct val="0"/>
              </a:spcBef>
            </a:pPr>
            <a:r>
              <a:rPr lang="en-US" sz="1798">
                <a:solidFill>
                  <a:srgbClr val="EDEDED"/>
                </a:solidFill>
                <a:latin typeface="Open Sauce"/>
                <a:ea typeface="Open Sauce"/>
                <a:cs typeface="Open Sauce"/>
                <a:sym typeface="Open Sauce"/>
              </a:rPr>
              <a:t>The Industrial Smart Safety Helmet stands as a robust, IIoT-based safety solution engineered to safeguard workforce personnel in high-risk zones through continuous, automated environmental monitoring and immediate edge-level alert generation. By successfully achieving real-time health tracking, localized fall detection, toxic gas monitoring, and heat stress sensing, the wearable node maintains a critical lifeline with the central cloud platform to guarantee supervisor oversight during site anomalies. Moving forward, the future scope of this infrastructure will focus on expanding operational capabilities by integrating active GPS worker tracking, AI-powered predictive hazard analytics, advanced industrial data insights, and dedicated mobile application ecosystems.</a:t>
            </a:r>
          </a:p>
        </p:txBody>
      </p:sp>
      <p:grpSp>
        <p:nvGrpSpPr>
          <p:cNvPr id="18" name="Group 18"/>
          <p:cNvGrpSpPr/>
          <p:nvPr/>
        </p:nvGrpSpPr>
        <p:grpSpPr>
          <a:xfrm>
            <a:off x="1388397" y="8031724"/>
            <a:ext cx="1549963" cy="543047"/>
            <a:chOff x="0" y="0"/>
            <a:chExt cx="1159946" cy="406400"/>
          </a:xfrm>
        </p:grpSpPr>
        <p:sp>
          <p:nvSpPr>
            <p:cNvPr id="19" name="Freeform 19"/>
            <p:cNvSpPr/>
            <p:nvPr/>
          </p:nvSpPr>
          <p:spPr>
            <a:xfrm>
              <a:off x="0" y="0"/>
              <a:ext cx="1159946" cy="406400"/>
            </a:xfrm>
            <a:custGeom>
              <a:avLst/>
              <a:gdLst/>
              <a:ahLst/>
              <a:cxnLst/>
              <a:rect l="l" t="t" r="r" b="b"/>
              <a:pathLst>
                <a:path w="1159946" h="406400">
                  <a:moveTo>
                    <a:pt x="956746" y="0"/>
                  </a:moveTo>
                  <a:cubicBezTo>
                    <a:pt x="1068970" y="0"/>
                    <a:pt x="1159946" y="90976"/>
                    <a:pt x="1159946" y="203200"/>
                  </a:cubicBezTo>
                  <a:cubicBezTo>
                    <a:pt x="1159946" y="315424"/>
                    <a:pt x="1068970" y="406400"/>
                    <a:pt x="956746" y="406400"/>
                  </a:cubicBezTo>
                  <a:lnTo>
                    <a:pt x="203200" y="406400"/>
                  </a:lnTo>
                  <a:cubicBezTo>
                    <a:pt x="90976" y="406400"/>
                    <a:pt x="0" y="315424"/>
                    <a:pt x="0" y="203200"/>
                  </a:cubicBezTo>
                  <a:cubicBezTo>
                    <a:pt x="0" y="90976"/>
                    <a:pt x="90976" y="0"/>
                    <a:pt x="203200" y="0"/>
                  </a:cubicBezTo>
                  <a:close/>
                </a:path>
              </a:pathLst>
            </a:custGeom>
            <a:ln w="19050" cap="sq">
              <a:solidFill>
                <a:srgbClr val="FFFFFF"/>
              </a:solidFill>
              <a:prstDash val="solid"/>
              <a:miter/>
            </a:ln>
          </p:spPr>
        </p:sp>
        <p:sp>
          <p:nvSpPr>
            <p:cNvPr id="20" name="TextBox 20"/>
            <p:cNvSpPr txBox="1"/>
            <p:nvPr/>
          </p:nvSpPr>
          <p:spPr>
            <a:xfrm>
              <a:off x="0" y="-38100"/>
              <a:ext cx="1159946" cy="444500"/>
            </a:xfrm>
            <a:prstGeom prst="rect">
              <a:avLst/>
            </a:prstGeom>
          </p:spPr>
          <p:txBody>
            <a:bodyPr lIns="41176" tIns="41176" rIns="41176" bIns="41176" rtlCol="0" anchor="ctr"/>
            <a:lstStyle/>
            <a:p>
              <a:pPr algn="ctr">
                <a:lnSpc>
                  <a:spcPts val="2660"/>
                </a:lnSpc>
              </a:pPr>
              <a:endParaRPr/>
            </a:p>
          </p:txBody>
        </p:sp>
      </p:grpSp>
      <p:sp>
        <p:nvSpPr>
          <p:cNvPr id="21" name="TextBox 21"/>
          <p:cNvSpPr txBox="1"/>
          <p:nvPr/>
        </p:nvSpPr>
        <p:spPr>
          <a:xfrm>
            <a:off x="1477515" y="8139047"/>
            <a:ext cx="1371728" cy="299825"/>
          </a:xfrm>
          <a:prstGeom prst="rect">
            <a:avLst/>
          </a:prstGeom>
        </p:spPr>
        <p:txBody>
          <a:bodyPr lIns="0" tIns="0" rIns="0" bIns="0" rtlCol="0" anchor="t">
            <a:spAutoFit/>
          </a:bodyPr>
          <a:lstStyle/>
          <a:p>
            <a:pPr algn="ctr">
              <a:lnSpc>
                <a:spcPts val="2496"/>
              </a:lnSpc>
              <a:spcBef>
                <a:spcPct val="0"/>
              </a:spcBef>
            </a:pPr>
            <a:r>
              <a:rPr lang="en-US" sz="1783">
                <a:solidFill>
                  <a:srgbClr val="FFFFFF"/>
                </a:solidFill>
                <a:latin typeface="Open Sauce"/>
                <a:ea typeface="Open Sauce"/>
                <a:cs typeface="Open Sauce"/>
                <a:sym typeface="Open Sauce"/>
              </a:rPr>
              <a:t>IIoT Safety</a:t>
            </a:r>
          </a:p>
        </p:txBody>
      </p:sp>
      <p:grpSp>
        <p:nvGrpSpPr>
          <p:cNvPr id="22" name="Group 22"/>
          <p:cNvGrpSpPr/>
          <p:nvPr/>
        </p:nvGrpSpPr>
        <p:grpSpPr>
          <a:xfrm>
            <a:off x="3083579" y="8031724"/>
            <a:ext cx="1330575" cy="543047"/>
            <a:chOff x="0" y="0"/>
            <a:chExt cx="995762" cy="406400"/>
          </a:xfrm>
        </p:grpSpPr>
        <p:sp>
          <p:nvSpPr>
            <p:cNvPr id="23" name="Freeform 23"/>
            <p:cNvSpPr/>
            <p:nvPr/>
          </p:nvSpPr>
          <p:spPr>
            <a:xfrm>
              <a:off x="0" y="0"/>
              <a:ext cx="995762" cy="406400"/>
            </a:xfrm>
            <a:custGeom>
              <a:avLst/>
              <a:gdLst/>
              <a:ahLst/>
              <a:cxnLst/>
              <a:rect l="l" t="t" r="r" b="b"/>
              <a:pathLst>
                <a:path w="995762" h="406400">
                  <a:moveTo>
                    <a:pt x="792562" y="0"/>
                  </a:moveTo>
                  <a:cubicBezTo>
                    <a:pt x="904787" y="0"/>
                    <a:pt x="995762" y="90976"/>
                    <a:pt x="995762" y="203200"/>
                  </a:cubicBezTo>
                  <a:cubicBezTo>
                    <a:pt x="995762" y="315424"/>
                    <a:pt x="904787" y="406400"/>
                    <a:pt x="792562" y="406400"/>
                  </a:cubicBezTo>
                  <a:lnTo>
                    <a:pt x="203200" y="406400"/>
                  </a:lnTo>
                  <a:cubicBezTo>
                    <a:pt x="90976" y="406400"/>
                    <a:pt x="0" y="315424"/>
                    <a:pt x="0" y="203200"/>
                  </a:cubicBezTo>
                  <a:cubicBezTo>
                    <a:pt x="0" y="90976"/>
                    <a:pt x="90976" y="0"/>
                    <a:pt x="203200" y="0"/>
                  </a:cubicBezTo>
                  <a:close/>
                </a:path>
              </a:pathLst>
            </a:custGeom>
            <a:ln w="19050" cap="sq">
              <a:solidFill>
                <a:srgbClr val="FFFFFF"/>
              </a:solidFill>
              <a:prstDash val="solid"/>
              <a:miter/>
            </a:ln>
          </p:spPr>
        </p:sp>
        <p:sp>
          <p:nvSpPr>
            <p:cNvPr id="24" name="TextBox 24"/>
            <p:cNvSpPr txBox="1"/>
            <p:nvPr/>
          </p:nvSpPr>
          <p:spPr>
            <a:xfrm>
              <a:off x="0" y="-38100"/>
              <a:ext cx="995762" cy="444500"/>
            </a:xfrm>
            <a:prstGeom prst="rect">
              <a:avLst/>
            </a:prstGeom>
          </p:spPr>
          <p:txBody>
            <a:bodyPr lIns="41176" tIns="41176" rIns="41176" bIns="41176" rtlCol="0" anchor="ctr"/>
            <a:lstStyle/>
            <a:p>
              <a:pPr algn="ctr">
                <a:lnSpc>
                  <a:spcPts val="2660"/>
                </a:lnSpc>
              </a:pPr>
              <a:endParaRPr/>
            </a:p>
          </p:txBody>
        </p:sp>
      </p:grpSp>
      <p:grpSp>
        <p:nvGrpSpPr>
          <p:cNvPr id="25" name="Group 25"/>
          <p:cNvGrpSpPr/>
          <p:nvPr/>
        </p:nvGrpSpPr>
        <p:grpSpPr>
          <a:xfrm>
            <a:off x="4633229" y="8031724"/>
            <a:ext cx="2951283" cy="543047"/>
            <a:chOff x="0" y="0"/>
            <a:chExt cx="2208652" cy="406400"/>
          </a:xfrm>
        </p:grpSpPr>
        <p:sp>
          <p:nvSpPr>
            <p:cNvPr id="26" name="Freeform 26"/>
            <p:cNvSpPr/>
            <p:nvPr/>
          </p:nvSpPr>
          <p:spPr>
            <a:xfrm>
              <a:off x="0" y="0"/>
              <a:ext cx="2208652" cy="406400"/>
            </a:xfrm>
            <a:custGeom>
              <a:avLst/>
              <a:gdLst/>
              <a:ahLst/>
              <a:cxnLst/>
              <a:rect l="l" t="t" r="r" b="b"/>
              <a:pathLst>
                <a:path w="2208652" h="406400">
                  <a:moveTo>
                    <a:pt x="2005452" y="0"/>
                  </a:moveTo>
                  <a:cubicBezTo>
                    <a:pt x="2117676" y="0"/>
                    <a:pt x="2208652" y="90976"/>
                    <a:pt x="2208652" y="203200"/>
                  </a:cubicBezTo>
                  <a:cubicBezTo>
                    <a:pt x="2208652" y="315424"/>
                    <a:pt x="2117676" y="406400"/>
                    <a:pt x="2005452" y="406400"/>
                  </a:cubicBezTo>
                  <a:lnTo>
                    <a:pt x="203200" y="406400"/>
                  </a:lnTo>
                  <a:cubicBezTo>
                    <a:pt x="90976" y="406400"/>
                    <a:pt x="0" y="315424"/>
                    <a:pt x="0" y="203200"/>
                  </a:cubicBezTo>
                  <a:cubicBezTo>
                    <a:pt x="0" y="90976"/>
                    <a:pt x="90976" y="0"/>
                    <a:pt x="203200" y="0"/>
                  </a:cubicBezTo>
                  <a:close/>
                </a:path>
              </a:pathLst>
            </a:custGeom>
            <a:ln w="19050" cap="sq">
              <a:solidFill>
                <a:srgbClr val="FFFFFF"/>
              </a:solidFill>
              <a:prstDash val="solid"/>
              <a:miter/>
            </a:ln>
          </p:spPr>
        </p:sp>
        <p:sp>
          <p:nvSpPr>
            <p:cNvPr id="27" name="TextBox 27"/>
            <p:cNvSpPr txBox="1"/>
            <p:nvPr/>
          </p:nvSpPr>
          <p:spPr>
            <a:xfrm>
              <a:off x="0" y="-38100"/>
              <a:ext cx="2208652" cy="444500"/>
            </a:xfrm>
            <a:prstGeom prst="rect">
              <a:avLst/>
            </a:prstGeom>
          </p:spPr>
          <p:txBody>
            <a:bodyPr lIns="41176" tIns="41176" rIns="41176" bIns="41176" rtlCol="0" anchor="ctr"/>
            <a:lstStyle/>
            <a:p>
              <a:pPr algn="ctr">
                <a:lnSpc>
                  <a:spcPts val="2660"/>
                </a:lnSpc>
              </a:pPr>
              <a:endParaRPr/>
            </a:p>
          </p:txBody>
        </p:sp>
      </p:grpSp>
      <p:sp>
        <p:nvSpPr>
          <p:cNvPr id="28" name="TextBox 28"/>
          <p:cNvSpPr txBox="1"/>
          <p:nvPr/>
        </p:nvSpPr>
        <p:spPr>
          <a:xfrm>
            <a:off x="3135240" y="8139047"/>
            <a:ext cx="1227253" cy="299825"/>
          </a:xfrm>
          <a:prstGeom prst="rect">
            <a:avLst/>
          </a:prstGeom>
        </p:spPr>
        <p:txBody>
          <a:bodyPr lIns="0" tIns="0" rIns="0" bIns="0" rtlCol="0" anchor="t">
            <a:spAutoFit/>
          </a:bodyPr>
          <a:lstStyle/>
          <a:p>
            <a:pPr algn="ctr">
              <a:lnSpc>
                <a:spcPts val="2496"/>
              </a:lnSpc>
              <a:spcBef>
                <a:spcPct val="0"/>
              </a:spcBef>
            </a:pPr>
            <a:r>
              <a:rPr lang="en-US" sz="1783" dirty="0">
                <a:solidFill>
                  <a:srgbClr val="FFFFFF"/>
                </a:solidFill>
                <a:latin typeface="Open Sauce"/>
                <a:ea typeface="Open Sauce"/>
                <a:cs typeface="Open Sauce"/>
                <a:sym typeface="Open Sauce"/>
              </a:rPr>
              <a:t>2026</a:t>
            </a:r>
          </a:p>
        </p:txBody>
      </p:sp>
      <p:sp>
        <p:nvSpPr>
          <p:cNvPr id="29" name="TextBox 29"/>
          <p:cNvSpPr txBox="1"/>
          <p:nvPr/>
        </p:nvSpPr>
        <p:spPr>
          <a:xfrm>
            <a:off x="4699904" y="8118619"/>
            <a:ext cx="2723666" cy="297606"/>
          </a:xfrm>
          <a:prstGeom prst="rect">
            <a:avLst/>
          </a:prstGeom>
        </p:spPr>
        <p:txBody>
          <a:bodyPr lIns="0" tIns="0" rIns="0" bIns="0" rtlCol="0" anchor="t">
            <a:spAutoFit/>
          </a:bodyPr>
          <a:lstStyle/>
          <a:p>
            <a:pPr algn="ctr">
              <a:lnSpc>
                <a:spcPts val="2496"/>
              </a:lnSpc>
              <a:spcBef>
                <a:spcPct val="0"/>
              </a:spcBef>
            </a:pPr>
            <a:r>
              <a:rPr lang="en-US" sz="1783">
                <a:solidFill>
                  <a:srgbClr val="FFFFFF"/>
                </a:solidFill>
                <a:latin typeface="Open Sauce"/>
                <a:ea typeface="Open Sauce"/>
                <a:cs typeface="Open Sauce"/>
                <a:sym typeface="Open Sauce"/>
              </a:rPr>
              <a:t>Silicon Labs SiWx917</a:t>
            </a:r>
          </a:p>
        </p:txBody>
      </p:sp>
      <p:grpSp>
        <p:nvGrpSpPr>
          <p:cNvPr id="31" name="Group 30">
            <a:extLst>
              <a:ext uri="{FF2B5EF4-FFF2-40B4-BE49-F238E27FC236}">
                <a16:creationId xmlns:a16="http://schemas.microsoft.com/office/drawing/2014/main" id="{0FE21F66-EDAF-142B-13EF-0A498DF7D75A}"/>
              </a:ext>
            </a:extLst>
          </p:cNvPr>
          <p:cNvGrpSpPr/>
          <p:nvPr/>
        </p:nvGrpSpPr>
        <p:grpSpPr bwMode="auto">
          <a:xfrm>
            <a:off x="517403" y="282351"/>
            <a:ext cx="1288014" cy="1282909"/>
            <a:chOff x="-1" y="0"/>
            <a:chExt cx="1435" cy="1424"/>
          </a:xfrm>
        </p:grpSpPr>
        <p:grpSp>
          <p:nvGrpSpPr>
            <p:cNvPr id="32" name="Group 31">
              <a:extLst>
                <a:ext uri="{FF2B5EF4-FFF2-40B4-BE49-F238E27FC236}">
                  <a16:creationId xmlns:a16="http://schemas.microsoft.com/office/drawing/2014/main" id="{729D8F37-FDE2-7E97-BC37-D3F941E3767B}"/>
                </a:ext>
              </a:extLst>
            </p:cNvPr>
            <p:cNvGrpSpPr>
              <a:grpSpLocks/>
            </p:cNvGrpSpPr>
            <p:nvPr/>
          </p:nvGrpSpPr>
          <p:grpSpPr bwMode="auto">
            <a:xfrm>
              <a:off x="-1" y="0"/>
              <a:ext cx="1336" cy="839"/>
              <a:chOff x="-1" y="0"/>
              <a:chExt cx="1336" cy="839"/>
            </a:xfrm>
          </p:grpSpPr>
          <p:pic>
            <p:nvPicPr>
              <p:cNvPr id="40" name="Picture 39">
                <a:extLst>
                  <a:ext uri="{FF2B5EF4-FFF2-40B4-BE49-F238E27FC236}">
                    <a16:creationId xmlns:a16="http://schemas.microsoft.com/office/drawing/2014/main" id="{CD6B6D96-5F77-30B9-071F-111DF4C00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40">
                <a:extLst>
                  <a:ext uri="{FF2B5EF4-FFF2-40B4-BE49-F238E27FC236}">
                    <a16:creationId xmlns:a16="http://schemas.microsoft.com/office/drawing/2014/main" id="{70F5E38E-BF32-5C9C-A6FA-0B28D2D4CE75}"/>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42" name="Freeform 378">
                <a:extLst>
                  <a:ext uri="{FF2B5EF4-FFF2-40B4-BE49-F238E27FC236}">
                    <a16:creationId xmlns:a16="http://schemas.microsoft.com/office/drawing/2014/main" id="{E01C822F-836D-A973-99E3-947D7F8A0818}"/>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3" name="Freeform 377">
                <a:extLst>
                  <a:ext uri="{FF2B5EF4-FFF2-40B4-BE49-F238E27FC236}">
                    <a16:creationId xmlns:a16="http://schemas.microsoft.com/office/drawing/2014/main" id="{D1BC4C49-E339-477C-279D-53A42FF0D8E7}"/>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4" name="Freeform 376">
                <a:extLst>
                  <a:ext uri="{FF2B5EF4-FFF2-40B4-BE49-F238E27FC236}">
                    <a16:creationId xmlns:a16="http://schemas.microsoft.com/office/drawing/2014/main" id="{12FE8252-2BFB-922D-41E9-14E4831DD99F}"/>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45" name="AutoShape 375">
                <a:extLst>
                  <a:ext uri="{FF2B5EF4-FFF2-40B4-BE49-F238E27FC236}">
                    <a16:creationId xmlns:a16="http://schemas.microsoft.com/office/drawing/2014/main" id="{86AB8A48-1F77-DC08-5E52-FAE5BA263595}"/>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33" name="Group 32">
              <a:extLst>
                <a:ext uri="{FF2B5EF4-FFF2-40B4-BE49-F238E27FC236}">
                  <a16:creationId xmlns:a16="http://schemas.microsoft.com/office/drawing/2014/main" id="{24C4BA05-E1F5-93D6-F286-73C68C00DD04}"/>
                </a:ext>
              </a:extLst>
            </p:cNvPr>
            <p:cNvGrpSpPr>
              <a:grpSpLocks/>
            </p:cNvGrpSpPr>
            <p:nvPr/>
          </p:nvGrpSpPr>
          <p:grpSpPr bwMode="auto">
            <a:xfrm>
              <a:off x="24" y="883"/>
              <a:ext cx="1410" cy="296"/>
              <a:chOff x="24" y="883"/>
              <a:chExt cx="1410" cy="296"/>
            </a:xfrm>
          </p:grpSpPr>
          <p:pic>
            <p:nvPicPr>
              <p:cNvPr id="37" name="Picture 36">
                <a:extLst>
                  <a:ext uri="{FF2B5EF4-FFF2-40B4-BE49-F238E27FC236}">
                    <a16:creationId xmlns:a16="http://schemas.microsoft.com/office/drawing/2014/main" id="{FC089176-51AA-E37A-27AC-B4DC82343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38433DB4-D321-044B-CDF4-0FBAB7549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9" name="AutoShape 371">
                <a:extLst>
                  <a:ext uri="{FF2B5EF4-FFF2-40B4-BE49-F238E27FC236}">
                    <a16:creationId xmlns:a16="http://schemas.microsoft.com/office/drawing/2014/main" id="{3C3F88C6-F567-B8B8-843F-C9E795C145DA}"/>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34" name="Group 33">
              <a:extLst>
                <a:ext uri="{FF2B5EF4-FFF2-40B4-BE49-F238E27FC236}">
                  <a16:creationId xmlns:a16="http://schemas.microsoft.com/office/drawing/2014/main" id="{3DA09EAD-8394-CBC9-29D3-1F855E35AFBE}"/>
                </a:ext>
              </a:extLst>
            </p:cNvPr>
            <p:cNvGrpSpPr>
              <a:grpSpLocks/>
            </p:cNvGrpSpPr>
            <p:nvPr/>
          </p:nvGrpSpPr>
          <p:grpSpPr bwMode="auto">
            <a:xfrm>
              <a:off x="191" y="1279"/>
              <a:ext cx="1059" cy="145"/>
              <a:chOff x="191" y="1279"/>
              <a:chExt cx="1059" cy="145"/>
            </a:xfrm>
          </p:grpSpPr>
          <p:pic>
            <p:nvPicPr>
              <p:cNvPr id="35" name="Picture 34">
                <a:extLst>
                  <a:ext uri="{FF2B5EF4-FFF2-40B4-BE49-F238E27FC236}">
                    <a16:creationId xmlns:a16="http://schemas.microsoft.com/office/drawing/2014/main" id="{61D92A1B-777C-678E-9730-65483C0A49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F24D9312-BD60-3DE3-DDE2-4D21DE8865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9" name="Picture 48">
            <a:extLst>
              <a:ext uri="{FF2B5EF4-FFF2-40B4-BE49-F238E27FC236}">
                <a16:creationId xmlns:a16="http://schemas.microsoft.com/office/drawing/2014/main" id="{251EE9F2-2C13-70F6-EF14-8B2F1BB2BDD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953362" y="216941"/>
            <a:ext cx="1828800" cy="9006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grpSp>
        <p:nvGrpSpPr>
          <p:cNvPr id="2" name="Group 2"/>
          <p:cNvGrpSpPr/>
          <p:nvPr/>
        </p:nvGrpSpPr>
        <p:grpSpPr>
          <a:xfrm>
            <a:off x="411911" y="-266700"/>
            <a:ext cx="17464177" cy="7696843"/>
            <a:chOff x="0" y="0"/>
            <a:chExt cx="4599619" cy="2027152"/>
          </a:xfrm>
        </p:grpSpPr>
        <p:sp>
          <p:nvSpPr>
            <p:cNvPr id="3" name="Freeform 3"/>
            <p:cNvSpPr/>
            <p:nvPr/>
          </p:nvSpPr>
          <p:spPr>
            <a:xfrm>
              <a:off x="0" y="0"/>
              <a:ext cx="4599619" cy="2027152"/>
            </a:xfrm>
            <a:custGeom>
              <a:avLst/>
              <a:gdLst/>
              <a:ahLst/>
              <a:cxnLst/>
              <a:rect l="l" t="t" r="r" b="b"/>
              <a:pathLst>
                <a:path w="4599619" h="2027152">
                  <a:moveTo>
                    <a:pt x="44330" y="0"/>
                  </a:moveTo>
                  <a:lnTo>
                    <a:pt x="4555289" y="0"/>
                  </a:lnTo>
                  <a:cubicBezTo>
                    <a:pt x="4579772" y="0"/>
                    <a:pt x="4599619" y="19847"/>
                    <a:pt x="4599619" y="44330"/>
                  </a:cubicBezTo>
                  <a:lnTo>
                    <a:pt x="4599619" y="1982822"/>
                  </a:lnTo>
                  <a:cubicBezTo>
                    <a:pt x="4599619" y="1994579"/>
                    <a:pt x="4594948" y="2005855"/>
                    <a:pt x="4586635" y="2014168"/>
                  </a:cubicBezTo>
                  <a:cubicBezTo>
                    <a:pt x="4578321" y="2022482"/>
                    <a:pt x="4567046" y="2027152"/>
                    <a:pt x="4555289" y="2027152"/>
                  </a:cubicBezTo>
                  <a:lnTo>
                    <a:pt x="44330" y="2027152"/>
                  </a:lnTo>
                  <a:cubicBezTo>
                    <a:pt x="32573" y="2027152"/>
                    <a:pt x="21298" y="2022482"/>
                    <a:pt x="12984" y="2014168"/>
                  </a:cubicBezTo>
                  <a:cubicBezTo>
                    <a:pt x="4670" y="2005855"/>
                    <a:pt x="0" y="1994579"/>
                    <a:pt x="0" y="1982822"/>
                  </a:cubicBezTo>
                  <a:lnTo>
                    <a:pt x="0" y="44330"/>
                  </a:lnTo>
                  <a:cubicBezTo>
                    <a:pt x="0" y="32573"/>
                    <a:pt x="4670" y="21298"/>
                    <a:pt x="12984" y="12984"/>
                  </a:cubicBezTo>
                  <a:cubicBezTo>
                    <a:pt x="21298" y="4670"/>
                    <a:pt x="32573" y="0"/>
                    <a:pt x="44330" y="0"/>
                  </a:cubicBezTo>
                  <a:close/>
                </a:path>
              </a:pathLst>
            </a:custGeom>
            <a:solidFill>
              <a:srgbClr val="D6FF3F"/>
            </a:solidFill>
          </p:spPr>
        </p:sp>
        <p:sp>
          <p:nvSpPr>
            <p:cNvPr id="4" name="TextBox 4"/>
            <p:cNvSpPr txBox="1"/>
            <p:nvPr/>
          </p:nvSpPr>
          <p:spPr>
            <a:xfrm>
              <a:off x="0" y="-38100"/>
              <a:ext cx="4599619" cy="206525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79807" y="2079115"/>
            <a:ext cx="16528387" cy="2624602"/>
          </a:xfrm>
          <a:prstGeom prst="rect">
            <a:avLst/>
          </a:prstGeom>
        </p:spPr>
        <p:txBody>
          <a:bodyPr lIns="0" tIns="0" rIns="0" bIns="0" rtlCol="0" anchor="t">
            <a:spAutoFit/>
          </a:bodyPr>
          <a:lstStyle/>
          <a:p>
            <a:pPr marL="0" lvl="0" indent="0" algn="ctr">
              <a:lnSpc>
                <a:spcPts val="16229"/>
              </a:lnSpc>
              <a:spcBef>
                <a:spcPct val="0"/>
              </a:spcBef>
            </a:pPr>
            <a:r>
              <a:rPr lang="en-US" sz="18871" b="1" spc="-735">
                <a:solidFill>
                  <a:srgbClr val="292929"/>
                </a:solidFill>
                <a:latin typeface="Akzidenz-Grotesk Heavy"/>
                <a:ea typeface="Akzidenz-Grotesk Heavy"/>
                <a:cs typeface="Akzidenz-Grotesk Heavy"/>
                <a:sym typeface="Akzidenz-Grotesk Heavy"/>
              </a:rPr>
              <a:t>THANK YOU</a:t>
            </a:r>
          </a:p>
        </p:txBody>
      </p:sp>
      <p:sp>
        <p:nvSpPr>
          <p:cNvPr id="12" name="AutoShape 12"/>
          <p:cNvSpPr/>
          <p:nvPr/>
        </p:nvSpPr>
        <p:spPr>
          <a:xfrm flipV="1">
            <a:off x="7863505" y="1198163"/>
            <a:ext cx="7960575" cy="0"/>
          </a:xfrm>
          <a:prstGeom prst="line">
            <a:avLst/>
          </a:prstGeom>
          <a:ln w="19050" cap="rnd">
            <a:solidFill>
              <a:srgbClr val="292929"/>
            </a:solidFill>
            <a:prstDash val="solid"/>
            <a:headEnd type="none" w="sm" len="sm"/>
            <a:tailEnd type="oval" w="lg" len="lg"/>
          </a:ln>
        </p:spPr>
      </p:sp>
      <p:sp>
        <p:nvSpPr>
          <p:cNvPr id="18" name="Freeform 18"/>
          <p:cNvSpPr/>
          <p:nvPr/>
        </p:nvSpPr>
        <p:spPr>
          <a:xfrm>
            <a:off x="16481053" y="1056290"/>
            <a:ext cx="283746" cy="283746"/>
          </a:xfrm>
          <a:custGeom>
            <a:avLst/>
            <a:gdLst/>
            <a:ahLst/>
            <a:cxnLst/>
            <a:rect l="l" t="t" r="r" b="b"/>
            <a:pathLst>
              <a:path w="283746" h="283746">
                <a:moveTo>
                  <a:pt x="0" y="0"/>
                </a:moveTo>
                <a:lnTo>
                  <a:pt x="283747" y="0"/>
                </a:lnTo>
                <a:lnTo>
                  <a:pt x="283747" y="283746"/>
                </a:lnTo>
                <a:lnTo>
                  <a:pt x="0" y="2837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9" name="Freeform 19"/>
          <p:cNvSpPr/>
          <p:nvPr/>
        </p:nvSpPr>
        <p:spPr>
          <a:xfrm>
            <a:off x="16829037" y="1056290"/>
            <a:ext cx="283746" cy="283746"/>
          </a:xfrm>
          <a:custGeom>
            <a:avLst/>
            <a:gdLst/>
            <a:ahLst/>
            <a:cxnLst/>
            <a:rect l="l" t="t" r="r" b="b"/>
            <a:pathLst>
              <a:path w="283746" h="283746">
                <a:moveTo>
                  <a:pt x="0" y="0"/>
                </a:moveTo>
                <a:lnTo>
                  <a:pt x="283746" y="0"/>
                </a:lnTo>
                <a:lnTo>
                  <a:pt x="283746" y="283746"/>
                </a:lnTo>
                <a:lnTo>
                  <a:pt x="0" y="283746"/>
                </a:lnTo>
                <a:lnTo>
                  <a:pt x="0" y="0"/>
                </a:lnTo>
                <a:close/>
              </a:path>
            </a:pathLst>
          </a:custGeom>
          <a:blipFill>
            <a:blip>
              <a:extLst>
                <a:ext uri="{96DAC541-7B7A-43D3-8B79-37D633B846F1}">
                  <asvg:svgBlip xmlns:asvg="http://schemas.microsoft.com/office/drawing/2016/SVG/main" r:embed="rId3"/>
                </a:ext>
              </a:extLst>
            </a:blip>
            <a:stretch>
              <a:fillRect/>
            </a:stretch>
          </a:blipFill>
          <a:ln cap="rnd">
            <a:noFill/>
            <a:prstDash val="solid"/>
            <a:round/>
          </a:ln>
        </p:spPr>
      </p:sp>
      <p:sp>
        <p:nvSpPr>
          <p:cNvPr id="20" name="Freeform 20"/>
          <p:cNvSpPr/>
          <p:nvPr/>
        </p:nvSpPr>
        <p:spPr>
          <a:xfrm>
            <a:off x="16132227" y="1056290"/>
            <a:ext cx="283746" cy="283746"/>
          </a:xfrm>
          <a:custGeom>
            <a:avLst/>
            <a:gdLst/>
            <a:ahLst/>
            <a:cxnLst/>
            <a:rect l="l" t="t" r="r" b="b"/>
            <a:pathLst>
              <a:path w="283746" h="283746">
                <a:moveTo>
                  <a:pt x="0" y="0"/>
                </a:moveTo>
                <a:lnTo>
                  <a:pt x="283746" y="0"/>
                </a:lnTo>
                <a:lnTo>
                  <a:pt x="283746" y="283746"/>
                </a:lnTo>
                <a:lnTo>
                  <a:pt x="0" y="2837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1" name="TextBox 21"/>
          <p:cNvSpPr txBox="1"/>
          <p:nvPr/>
        </p:nvSpPr>
        <p:spPr>
          <a:xfrm>
            <a:off x="7902224" y="6502120"/>
            <a:ext cx="2483552" cy="295275"/>
          </a:xfrm>
          <a:prstGeom prst="rect">
            <a:avLst/>
          </a:prstGeom>
        </p:spPr>
        <p:txBody>
          <a:bodyPr lIns="0" tIns="0" rIns="0" bIns="0" rtlCol="0" anchor="t">
            <a:spAutoFit/>
          </a:bodyPr>
          <a:lstStyle/>
          <a:p>
            <a:pPr marL="0" lvl="1" indent="0" algn="ctr">
              <a:lnSpc>
                <a:spcPts val="2353"/>
              </a:lnSpc>
              <a:spcBef>
                <a:spcPct val="0"/>
              </a:spcBef>
            </a:pPr>
            <a:r>
              <a:rPr lang="en-US" sz="1960" b="1">
                <a:solidFill>
                  <a:srgbClr val="D6FF3F"/>
                </a:solidFill>
                <a:latin typeface="Open Sauce Bold"/>
                <a:ea typeface="Open Sauce Bold"/>
                <a:cs typeface="Open Sauce Bold"/>
                <a:sym typeface="Open Sauce Bold"/>
              </a:rPr>
              <a:t>Presented By</a:t>
            </a:r>
          </a:p>
        </p:txBody>
      </p:sp>
      <p:sp>
        <p:nvSpPr>
          <p:cNvPr id="23" name="AutoShape 11">
            <a:extLst>
              <a:ext uri="{FF2B5EF4-FFF2-40B4-BE49-F238E27FC236}">
                <a16:creationId xmlns:a16="http://schemas.microsoft.com/office/drawing/2014/main" id="{4CF96684-3EF5-221C-A6DA-040EC6BDED65}"/>
              </a:ext>
            </a:extLst>
          </p:cNvPr>
          <p:cNvSpPr/>
          <p:nvPr/>
        </p:nvSpPr>
        <p:spPr>
          <a:xfrm flipV="1">
            <a:off x="7863505" y="1198163"/>
            <a:ext cx="7960575" cy="0"/>
          </a:xfrm>
          <a:prstGeom prst="line">
            <a:avLst/>
          </a:prstGeom>
          <a:ln w="19050" cap="rnd">
            <a:solidFill>
              <a:srgbClr val="D6FF3F"/>
            </a:solidFill>
            <a:prstDash val="solid"/>
            <a:headEnd type="none" w="sm" len="sm"/>
            <a:tailEnd type="oval" w="lg" len="lg"/>
          </a:ln>
        </p:spPr>
        <p:txBody>
          <a:bodyPr/>
          <a:lstStyle/>
          <a:p>
            <a:endParaRPr lang="en-IN" dirty="0"/>
          </a:p>
        </p:txBody>
      </p:sp>
      <p:grpSp>
        <p:nvGrpSpPr>
          <p:cNvPr id="24" name="Group 23">
            <a:extLst>
              <a:ext uri="{FF2B5EF4-FFF2-40B4-BE49-F238E27FC236}">
                <a16:creationId xmlns:a16="http://schemas.microsoft.com/office/drawing/2014/main" id="{B22BAC8C-7173-DFB2-EE79-6B61CB756538}"/>
              </a:ext>
            </a:extLst>
          </p:cNvPr>
          <p:cNvGrpSpPr/>
          <p:nvPr/>
        </p:nvGrpSpPr>
        <p:grpSpPr bwMode="auto">
          <a:xfrm>
            <a:off x="715937" y="158917"/>
            <a:ext cx="1288014" cy="1282909"/>
            <a:chOff x="-1" y="0"/>
            <a:chExt cx="1435" cy="1424"/>
          </a:xfrm>
        </p:grpSpPr>
        <p:grpSp>
          <p:nvGrpSpPr>
            <p:cNvPr id="25" name="Group 24">
              <a:extLst>
                <a:ext uri="{FF2B5EF4-FFF2-40B4-BE49-F238E27FC236}">
                  <a16:creationId xmlns:a16="http://schemas.microsoft.com/office/drawing/2014/main" id="{4642D972-709A-5F78-6A97-6B587C16BB0E}"/>
                </a:ext>
              </a:extLst>
            </p:cNvPr>
            <p:cNvGrpSpPr>
              <a:grpSpLocks/>
            </p:cNvGrpSpPr>
            <p:nvPr/>
          </p:nvGrpSpPr>
          <p:grpSpPr bwMode="auto">
            <a:xfrm>
              <a:off x="-1" y="0"/>
              <a:ext cx="1336" cy="839"/>
              <a:chOff x="-1" y="0"/>
              <a:chExt cx="1336" cy="839"/>
            </a:xfrm>
          </p:grpSpPr>
          <p:pic>
            <p:nvPicPr>
              <p:cNvPr id="33" name="Picture 32">
                <a:extLst>
                  <a:ext uri="{FF2B5EF4-FFF2-40B4-BE49-F238E27FC236}">
                    <a16:creationId xmlns:a16="http://schemas.microsoft.com/office/drawing/2014/main" id="{5200F97B-E1EB-0BD0-E4FB-FC5AB5CB10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 y="380"/>
                <a:ext cx="340" cy="204"/>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E4382C93-3CF6-9625-67B6-BE3951D3AED0}"/>
                  </a:ext>
                </a:extLst>
              </p:cNvPr>
              <p:cNvSpPr>
                <a:spLocks noChangeArrowheads="1"/>
              </p:cNvSpPr>
              <p:nvPr/>
            </p:nvSpPr>
            <p:spPr bwMode="auto">
              <a:xfrm>
                <a:off x="1333" y="304"/>
                <a:ext cx="2" cy="20"/>
              </a:xfrm>
              <a:prstGeom prst="rect">
                <a:avLst/>
              </a:prstGeom>
              <a:solidFill>
                <a:srgbClr val="7C7D7D"/>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IN"/>
              </a:p>
            </p:txBody>
          </p:sp>
          <p:sp>
            <p:nvSpPr>
              <p:cNvPr id="35" name="Freeform 378">
                <a:extLst>
                  <a:ext uri="{FF2B5EF4-FFF2-40B4-BE49-F238E27FC236}">
                    <a16:creationId xmlns:a16="http://schemas.microsoft.com/office/drawing/2014/main" id="{9D5F3616-BFA1-951F-3250-EC1D529ED96F}"/>
                  </a:ext>
                </a:extLst>
              </p:cNvPr>
              <p:cNvSpPr>
                <a:spLocks/>
              </p:cNvSpPr>
              <p:nvPr/>
            </p:nvSpPr>
            <p:spPr bwMode="auto">
              <a:xfrm>
                <a:off x="1332" y="323"/>
                <a:ext cx="2" cy="10"/>
              </a:xfrm>
              <a:custGeom>
                <a:avLst/>
                <a:gdLst>
                  <a:gd name="T0" fmla="*/ 2 w 1"/>
                  <a:gd name="T1" fmla="*/ 862 h 10"/>
                  <a:gd name="T2" fmla="*/ 2 w 1"/>
                  <a:gd name="T3" fmla="*/ 862 h 10"/>
                  <a:gd name="T4" fmla="*/ 0 w 1"/>
                  <a:gd name="T5" fmla="*/ 862 h 10"/>
                  <a:gd name="T6" fmla="*/ 0 w 1"/>
                  <a:gd name="T7" fmla="*/ 871 h 10"/>
                  <a:gd name="T8" fmla="*/ 2 w 1"/>
                  <a:gd name="T9" fmla="*/ 871 h 10"/>
                  <a:gd name="T10" fmla="*/ 2 w 1"/>
                  <a:gd name="T11" fmla="*/ 862 h 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10">
                    <a:moveTo>
                      <a:pt x="1" y="0"/>
                    </a:moveTo>
                    <a:lnTo>
                      <a:pt x="1" y="0"/>
                    </a:lnTo>
                    <a:lnTo>
                      <a:pt x="0" y="0"/>
                    </a:lnTo>
                    <a:lnTo>
                      <a:pt x="0" y="9"/>
                    </a:lnTo>
                    <a:lnTo>
                      <a:pt x="1" y="9"/>
                    </a:lnTo>
                    <a:lnTo>
                      <a:pt x="1" y="0"/>
                    </a:lnTo>
                    <a:close/>
                  </a:path>
                </a:pathLst>
              </a:custGeom>
              <a:solidFill>
                <a:srgbClr val="C9C7C7"/>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6" name="Freeform 377">
                <a:extLst>
                  <a:ext uri="{FF2B5EF4-FFF2-40B4-BE49-F238E27FC236}">
                    <a16:creationId xmlns:a16="http://schemas.microsoft.com/office/drawing/2014/main" id="{8BBBE467-D3B5-3910-544B-8A08BEA36605}"/>
                  </a:ext>
                </a:extLst>
              </p:cNvPr>
              <p:cNvSpPr>
                <a:spLocks/>
              </p:cNvSpPr>
              <p:nvPr/>
            </p:nvSpPr>
            <p:spPr bwMode="auto">
              <a:xfrm>
                <a:off x="1332" y="296"/>
                <a:ext cx="2" cy="9"/>
              </a:xfrm>
              <a:custGeom>
                <a:avLst/>
                <a:gdLst>
                  <a:gd name="T0" fmla="*/ 2 w 1"/>
                  <a:gd name="T1" fmla="*/ 834 h 9"/>
                  <a:gd name="T2" fmla="*/ 0 w 1"/>
                  <a:gd name="T3" fmla="*/ 834 h 9"/>
                  <a:gd name="T4" fmla="*/ 0 w 1"/>
                  <a:gd name="T5" fmla="*/ 842 h 9"/>
                  <a:gd name="T6" fmla="*/ 0 w 1"/>
                  <a:gd name="T7" fmla="*/ 842 h 9"/>
                  <a:gd name="T8" fmla="*/ 2 w 1"/>
                  <a:gd name="T9" fmla="*/ 843 h 9"/>
                  <a:gd name="T10" fmla="*/ 2 w 1"/>
                  <a:gd name="T11" fmla="*/ 834 h 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 h="9">
                    <a:moveTo>
                      <a:pt x="1" y="0"/>
                    </a:moveTo>
                    <a:lnTo>
                      <a:pt x="0" y="0"/>
                    </a:lnTo>
                    <a:lnTo>
                      <a:pt x="0" y="8"/>
                    </a:lnTo>
                    <a:lnTo>
                      <a:pt x="1" y="9"/>
                    </a:lnTo>
                    <a:lnTo>
                      <a:pt x="1" y="0"/>
                    </a:lnTo>
                    <a:close/>
                  </a:path>
                </a:pathLst>
              </a:custGeom>
              <a:solidFill>
                <a:srgbClr val="CDCBC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7" name="Freeform 376">
                <a:extLst>
                  <a:ext uri="{FF2B5EF4-FFF2-40B4-BE49-F238E27FC236}">
                    <a16:creationId xmlns:a16="http://schemas.microsoft.com/office/drawing/2014/main" id="{15075645-A905-7439-462D-B10FA0B0D5E2}"/>
                  </a:ext>
                </a:extLst>
              </p:cNvPr>
              <p:cNvSpPr>
                <a:spLocks/>
              </p:cNvSpPr>
              <p:nvPr/>
            </p:nvSpPr>
            <p:spPr bwMode="auto">
              <a:xfrm>
                <a:off x="611" y="268"/>
                <a:ext cx="531" cy="302"/>
              </a:xfrm>
              <a:custGeom>
                <a:avLst/>
                <a:gdLst>
                  <a:gd name="T0" fmla="*/ 437 w 531"/>
                  <a:gd name="T1" fmla="*/ 806 h 302"/>
                  <a:gd name="T2" fmla="*/ 367 w 531"/>
                  <a:gd name="T3" fmla="*/ 817 h 302"/>
                  <a:gd name="T4" fmla="*/ 300 w 531"/>
                  <a:gd name="T5" fmla="*/ 845 h 302"/>
                  <a:gd name="T6" fmla="*/ 224 w 531"/>
                  <a:gd name="T7" fmla="*/ 891 h 302"/>
                  <a:gd name="T8" fmla="*/ 167 w 531"/>
                  <a:gd name="T9" fmla="*/ 932 h 302"/>
                  <a:gd name="T10" fmla="*/ 87 w 531"/>
                  <a:gd name="T11" fmla="*/ 999 h 302"/>
                  <a:gd name="T12" fmla="*/ 10 w 531"/>
                  <a:gd name="T13" fmla="*/ 1072 h 302"/>
                  <a:gd name="T14" fmla="*/ 0 w 531"/>
                  <a:gd name="T15" fmla="*/ 1083 h 302"/>
                  <a:gd name="T16" fmla="*/ 3 w 531"/>
                  <a:gd name="T17" fmla="*/ 1084 h 302"/>
                  <a:gd name="T18" fmla="*/ 78 w 531"/>
                  <a:gd name="T19" fmla="*/ 1097 h 302"/>
                  <a:gd name="T20" fmla="*/ 158 w 531"/>
                  <a:gd name="T21" fmla="*/ 1106 h 302"/>
                  <a:gd name="T22" fmla="*/ 221 w 531"/>
                  <a:gd name="T23" fmla="*/ 1108 h 302"/>
                  <a:gd name="T24" fmla="*/ 249 w 531"/>
                  <a:gd name="T25" fmla="*/ 1107 h 302"/>
                  <a:gd name="T26" fmla="*/ 320 w 531"/>
                  <a:gd name="T27" fmla="*/ 1099 h 302"/>
                  <a:gd name="T28" fmla="*/ 388 w 531"/>
                  <a:gd name="T29" fmla="*/ 1079 h 302"/>
                  <a:gd name="T30" fmla="*/ 455 w 531"/>
                  <a:gd name="T31" fmla="*/ 1041 h 302"/>
                  <a:gd name="T32" fmla="*/ 505 w 531"/>
                  <a:gd name="T33" fmla="*/ 981 h 302"/>
                  <a:gd name="T34" fmla="*/ 525 w 531"/>
                  <a:gd name="T35" fmla="*/ 924 h 302"/>
                  <a:gd name="T36" fmla="*/ 530 w 531"/>
                  <a:gd name="T37" fmla="*/ 879 h 302"/>
                  <a:gd name="T38" fmla="*/ 530 w 531"/>
                  <a:gd name="T39" fmla="*/ 872 h 302"/>
                  <a:gd name="T40" fmla="*/ 484 w 531"/>
                  <a:gd name="T41" fmla="*/ 817 h 302"/>
                  <a:gd name="T42" fmla="*/ 437 w 531"/>
                  <a:gd name="T43" fmla="*/ 806 h 3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31" h="302">
                    <a:moveTo>
                      <a:pt x="437" y="0"/>
                    </a:moveTo>
                    <a:lnTo>
                      <a:pt x="367" y="11"/>
                    </a:lnTo>
                    <a:lnTo>
                      <a:pt x="300" y="39"/>
                    </a:lnTo>
                    <a:lnTo>
                      <a:pt x="224" y="85"/>
                    </a:lnTo>
                    <a:lnTo>
                      <a:pt x="167" y="126"/>
                    </a:lnTo>
                    <a:lnTo>
                      <a:pt x="87" y="193"/>
                    </a:lnTo>
                    <a:lnTo>
                      <a:pt x="10" y="266"/>
                    </a:lnTo>
                    <a:lnTo>
                      <a:pt x="0" y="277"/>
                    </a:lnTo>
                    <a:lnTo>
                      <a:pt x="3" y="278"/>
                    </a:lnTo>
                    <a:lnTo>
                      <a:pt x="78" y="291"/>
                    </a:lnTo>
                    <a:lnTo>
                      <a:pt x="158" y="300"/>
                    </a:lnTo>
                    <a:lnTo>
                      <a:pt x="221" y="302"/>
                    </a:lnTo>
                    <a:lnTo>
                      <a:pt x="249" y="301"/>
                    </a:lnTo>
                    <a:lnTo>
                      <a:pt x="320" y="293"/>
                    </a:lnTo>
                    <a:lnTo>
                      <a:pt x="388" y="273"/>
                    </a:lnTo>
                    <a:lnTo>
                      <a:pt x="455" y="235"/>
                    </a:lnTo>
                    <a:lnTo>
                      <a:pt x="505" y="175"/>
                    </a:lnTo>
                    <a:lnTo>
                      <a:pt x="525" y="118"/>
                    </a:lnTo>
                    <a:lnTo>
                      <a:pt x="530" y="73"/>
                    </a:lnTo>
                    <a:lnTo>
                      <a:pt x="530" y="66"/>
                    </a:lnTo>
                    <a:lnTo>
                      <a:pt x="484" y="11"/>
                    </a:lnTo>
                    <a:lnTo>
                      <a:pt x="437" y="0"/>
                    </a:lnTo>
                    <a:close/>
                  </a:path>
                </a:pathLst>
              </a:custGeom>
              <a:solidFill>
                <a:srgbClr val="1D934A"/>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sp>
            <p:nvSpPr>
              <p:cNvPr id="38" name="AutoShape 375">
                <a:extLst>
                  <a:ext uri="{FF2B5EF4-FFF2-40B4-BE49-F238E27FC236}">
                    <a16:creationId xmlns:a16="http://schemas.microsoft.com/office/drawing/2014/main" id="{99ECA292-B62F-DA1C-5795-0D52D3194F83}"/>
                  </a:ext>
                </a:extLst>
              </p:cNvPr>
              <p:cNvSpPr>
                <a:spLocks/>
              </p:cNvSpPr>
              <p:nvPr/>
            </p:nvSpPr>
            <p:spPr bwMode="auto">
              <a:xfrm>
                <a:off x="-1" y="0"/>
                <a:ext cx="1334" cy="839"/>
              </a:xfrm>
              <a:custGeom>
                <a:avLst/>
                <a:gdLst>
                  <a:gd name="T0" fmla="*/ 846 w 1334"/>
                  <a:gd name="T1" fmla="*/ 620 h 839"/>
                  <a:gd name="T2" fmla="*/ 746 w 1334"/>
                  <a:gd name="T3" fmla="*/ 566 h 839"/>
                  <a:gd name="T4" fmla="*/ 627 w 1334"/>
                  <a:gd name="T5" fmla="*/ 552 h 839"/>
                  <a:gd name="T6" fmla="*/ 653 w 1334"/>
                  <a:gd name="T7" fmla="*/ 565 h 839"/>
                  <a:gd name="T8" fmla="*/ 722 w 1334"/>
                  <a:gd name="T9" fmla="*/ 631 h 839"/>
                  <a:gd name="T10" fmla="*/ 737 w 1334"/>
                  <a:gd name="T11" fmla="*/ 745 h 839"/>
                  <a:gd name="T12" fmla="*/ 702 w 1334"/>
                  <a:gd name="T13" fmla="*/ 854 h 839"/>
                  <a:gd name="T14" fmla="*/ 629 w 1334"/>
                  <a:gd name="T15" fmla="*/ 999 h 839"/>
                  <a:gd name="T16" fmla="*/ 615 w 1334"/>
                  <a:gd name="T17" fmla="*/ 1028 h 839"/>
                  <a:gd name="T18" fmla="*/ 766 w 1334"/>
                  <a:gd name="T19" fmla="*/ 904 h 839"/>
                  <a:gd name="T20" fmla="*/ 863 w 1334"/>
                  <a:gd name="T21" fmla="*/ 774 h 839"/>
                  <a:gd name="T22" fmla="*/ 1329 w 1334"/>
                  <a:gd name="T23" fmla="*/ 817 h 839"/>
                  <a:gd name="T24" fmla="*/ 1267 w 1334"/>
                  <a:gd name="T25" fmla="*/ 748 h 839"/>
                  <a:gd name="T26" fmla="*/ 1187 w 1334"/>
                  <a:gd name="T27" fmla="*/ 735 h 839"/>
                  <a:gd name="T28" fmla="*/ 1012 w 1334"/>
                  <a:gd name="T29" fmla="*/ 758 h 839"/>
                  <a:gd name="T30" fmla="*/ 1047 w 1334"/>
                  <a:gd name="T31" fmla="*/ 770 h 839"/>
                  <a:gd name="T32" fmla="*/ 1133 w 1334"/>
                  <a:gd name="T33" fmla="*/ 805 h 839"/>
                  <a:gd name="T34" fmla="*/ 1172 w 1334"/>
                  <a:gd name="T35" fmla="*/ 930 h 839"/>
                  <a:gd name="T36" fmla="*/ 1140 w 1334"/>
                  <a:gd name="T37" fmla="*/ 1003 h 839"/>
                  <a:gd name="T38" fmla="*/ 1021 w 1334"/>
                  <a:gd name="T39" fmla="*/ 1096 h 839"/>
                  <a:gd name="T40" fmla="*/ 870 w 1334"/>
                  <a:gd name="T41" fmla="*/ 1133 h 839"/>
                  <a:gd name="T42" fmla="*/ 732 w 1334"/>
                  <a:gd name="T43" fmla="*/ 1132 h 839"/>
                  <a:gd name="T44" fmla="*/ 597 w 1334"/>
                  <a:gd name="T45" fmla="*/ 1104 h 839"/>
                  <a:gd name="T46" fmla="*/ 587 w 1334"/>
                  <a:gd name="T47" fmla="*/ 927 h 839"/>
                  <a:gd name="T48" fmla="*/ 603 w 1334"/>
                  <a:gd name="T49" fmla="*/ 745 h 839"/>
                  <a:gd name="T50" fmla="*/ 590 w 1334"/>
                  <a:gd name="T51" fmla="*/ 652 h 839"/>
                  <a:gd name="T52" fmla="*/ 541 w 1334"/>
                  <a:gd name="T53" fmla="*/ 563 h 839"/>
                  <a:gd name="T54" fmla="*/ 441 w 1334"/>
                  <a:gd name="T55" fmla="*/ 544 h 839"/>
                  <a:gd name="T56" fmla="*/ 405 w 1334"/>
                  <a:gd name="T57" fmla="*/ 589 h 839"/>
                  <a:gd name="T58" fmla="*/ 452 w 1334"/>
                  <a:gd name="T59" fmla="*/ 660 h 839"/>
                  <a:gd name="T60" fmla="*/ 477 w 1334"/>
                  <a:gd name="T61" fmla="*/ 772 h 839"/>
                  <a:gd name="T62" fmla="*/ 480 w 1334"/>
                  <a:gd name="T63" fmla="*/ 981 h 839"/>
                  <a:gd name="T64" fmla="*/ 456 w 1334"/>
                  <a:gd name="T65" fmla="*/ 999 h 839"/>
                  <a:gd name="T66" fmla="*/ 374 w 1334"/>
                  <a:gd name="T67" fmla="*/ 892 h 839"/>
                  <a:gd name="T68" fmla="*/ 231 w 1334"/>
                  <a:gd name="T69" fmla="*/ 793 h 839"/>
                  <a:gd name="T70" fmla="*/ 160 w 1334"/>
                  <a:gd name="T71" fmla="*/ 786 h 839"/>
                  <a:gd name="T72" fmla="*/ 77 w 1334"/>
                  <a:gd name="T73" fmla="*/ 813 h 839"/>
                  <a:gd name="T74" fmla="*/ 10 w 1334"/>
                  <a:gd name="T75" fmla="*/ 907 h 839"/>
                  <a:gd name="T76" fmla="*/ 17 w 1334"/>
                  <a:gd name="T77" fmla="*/ 1050 h 839"/>
                  <a:gd name="T78" fmla="*/ 78 w 1334"/>
                  <a:gd name="T79" fmla="*/ 1132 h 839"/>
                  <a:gd name="T80" fmla="*/ 171 w 1334"/>
                  <a:gd name="T81" fmla="*/ 1171 h 839"/>
                  <a:gd name="T82" fmla="*/ 291 w 1334"/>
                  <a:gd name="T83" fmla="*/ 1170 h 839"/>
                  <a:gd name="T84" fmla="*/ 411 w 1334"/>
                  <a:gd name="T85" fmla="*/ 1141 h 839"/>
                  <a:gd name="T86" fmla="*/ 315 w 1334"/>
                  <a:gd name="T87" fmla="*/ 1138 h 839"/>
                  <a:gd name="T88" fmla="*/ 198 w 1334"/>
                  <a:gd name="T89" fmla="*/ 1111 h 839"/>
                  <a:gd name="T90" fmla="*/ 112 w 1334"/>
                  <a:gd name="T91" fmla="*/ 1050 h 839"/>
                  <a:gd name="T92" fmla="*/ 117 w 1334"/>
                  <a:gd name="T93" fmla="*/ 927 h 839"/>
                  <a:gd name="T94" fmla="*/ 170 w 1334"/>
                  <a:gd name="T95" fmla="*/ 890 h 839"/>
                  <a:gd name="T96" fmla="*/ 251 w 1334"/>
                  <a:gd name="T97" fmla="*/ 904 h 839"/>
                  <a:gd name="T98" fmla="*/ 373 w 1334"/>
                  <a:gd name="T99" fmla="*/ 991 h 839"/>
                  <a:gd name="T100" fmla="*/ 476 w 1334"/>
                  <a:gd name="T101" fmla="*/ 1079 h 839"/>
                  <a:gd name="T102" fmla="*/ 451 w 1334"/>
                  <a:gd name="T103" fmla="*/ 1240 h 839"/>
                  <a:gd name="T104" fmla="*/ 455 w 1334"/>
                  <a:gd name="T105" fmla="*/ 1332 h 839"/>
                  <a:gd name="T106" fmla="*/ 498 w 1334"/>
                  <a:gd name="T107" fmla="*/ 1374 h 839"/>
                  <a:gd name="T108" fmla="*/ 587 w 1334"/>
                  <a:gd name="T109" fmla="*/ 1338 h 839"/>
                  <a:gd name="T110" fmla="*/ 572 w 1334"/>
                  <a:gd name="T111" fmla="*/ 1287 h 839"/>
                  <a:gd name="T112" fmla="*/ 557 w 1334"/>
                  <a:gd name="T113" fmla="*/ 1202 h 839"/>
                  <a:gd name="T114" fmla="*/ 574 w 1334"/>
                  <a:gd name="T115" fmla="*/ 1133 h 839"/>
                  <a:gd name="T116" fmla="*/ 745 w 1334"/>
                  <a:gd name="T117" fmla="*/ 1186 h 839"/>
                  <a:gd name="T118" fmla="*/ 927 w 1334"/>
                  <a:gd name="T119" fmla="*/ 1199 h 839"/>
                  <a:gd name="T120" fmla="*/ 1071 w 1334"/>
                  <a:gd name="T121" fmla="*/ 1170 h 839"/>
                  <a:gd name="T122" fmla="*/ 1219 w 1334"/>
                  <a:gd name="T123" fmla="*/ 1090 h 839"/>
                  <a:gd name="T124" fmla="*/ 1312 w 1334"/>
                  <a:gd name="T125" fmla="*/ 947 h 83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334" h="839">
                    <a:moveTo>
                      <a:pt x="877" y="176"/>
                    </a:moveTo>
                    <a:lnTo>
                      <a:pt x="877" y="155"/>
                    </a:lnTo>
                    <a:lnTo>
                      <a:pt x="874" y="135"/>
                    </a:lnTo>
                    <a:lnTo>
                      <a:pt x="868" y="116"/>
                    </a:lnTo>
                    <a:lnTo>
                      <a:pt x="859" y="98"/>
                    </a:lnTo>
                    <a:lnTo>
                      <a:pt x="846" y="82"/>
                    </a:lnTo>
                    <a:lnTo>
                      <a:pt x="834" y="70"/>
                    </a:lnTo>
                    <a:lnTo>
                      <a:pt x="821" y="60"/>
                    </a:lnTo>
                    <a:lnTo>
                      <a:pt x="806" y="51"/>
                    </a:lnTo>
                    <a:lnTo>
                      <a:pt x="791" y="43"/>
                    </a:lnTo>
                    <a:lnTo>
                      <a:pt x="769" y="35"/>
                    </a:lnTo>
                    <a:lnTo>
                      <a:pt x="746" y="28"/>
                    </a:lnTo>
                    <a:lnTo>
                      <a:pt x="723" y="23"/>
                    </a:lnTo>
                    <a:lnTo>
                      <a:pt x="700" y="19"/>
                    </a:lnTo>
                    <a:lnTo>
                      <a:pt x="685" y="17"/>
                    </a:lnTo>
                    <a:lnTo>
                      <a:pt x="655" y="14"/>
                    </a:lnTo>
                    <a:lnTo>
                      <a:pt x="627" y="13"/>
                    </a:lnTo>
                    <a:lnTo>
                      <a:pt x="627" y="14"/>
                    </a:lnTo>
                    <a:lnTo>
                      <a:pt x="627" y="15"/>
                    </a:lnTo>
                    <a:lnTo>
                      <a:pt x="630" y="16"/>
                    </a:lnTo>
                    <a:lnTo>
                      <a:pt x="632" y="16"/>
                    </a:lnTo>
                    <a:lnTo>
                      <a:pt x="644" y="21"/>
                    </a:lnTo>
                    <a:lnTo>
                      <a:pt x="653" y="27"/>
                    </a:lnTo>
                    <a:lnTo>
                      <a:pt x="663" y="32"/>
                    </a:lnTo>
                    <a:lnTo>
                      <a:pt x="676" y="41"/>
                    </a:lnTo>
                    <a:lnTo>
                      <a:pt x="688" y="51"/>
                    </a:lnTo>
                    <a:lnTo>
                      <a:pt x="700" y="62"/>
                    </a:lnTo>
                    <a:lnTo>
                      <a:pt x="710" y="75"/>
                    </a:lnTo>
                    <a:lnTo>
                      <a:pt x="722" y="93"/>
                    </a:lnTo>
                    <a:lnTo>
                      <a:pt x="730" y="113"/>
                    </a:lnTo>
                    <a:lnTo>
                      <a:pt x="736" y="134"/>
                    </a:lnTo>
                    <a:lnTo>
                      <a:pt x="739" y="155"/>
                    </a:lnTo>
                    <a:lnTo>
                      <a:pt x="740" y="173"/>
                    </a:lnTo>
                    <a:lnTo>
                      <a:pt x="739" y="190"/>
                    </a:lnTo>
                    <a:lnTo>
                      <a:pt x="737" y="207"/>
                    </a:lnTo>
                    <a:lnTo>
                      <a:pt x="734" y="224"/>
                    </a:lnTo>
                    <a:lnTo>
                      <a:pt x="730" y="240"/>
                    </a:lnTo>
                    <a:lnTo>
                      <a:pt x="726" y="256"/>
                    </a:lnTo>
                    <a:lnTo>
                      <a:pt x="720" y="272"/>
                    </a:lnTo>
                    <a:lnTo>
                      <a:pt x="714" y="288"/>
                    </a:lnTo>
                    <a:lnTo>
                      <a:pt x="702" y="316"/>
                    </a:lnTo>
                    <a:lnTo>
                      <a:pt x="690" y="344"/>
                    </a:lnTo>
                    <a:lnTo>
                      <a:pt x="677" y="372"/>
                    </a:lnTo>
                    <a:lnTo>
                      <a:pt x="663" y="400"/>
                    </a:lnTo>
                    <a:lnTo>
                      <a:pt x="653" y="421"/>
                    </a:lnTo>
                    <a:lnTo>
                      <a:pt x="641" y="441"/>
                    </a:lnTo>
                    <a:lnTo>
                      <a:pt x="629" y="461"/>
                    </a:lnTo>
                    <a:lnTo>
                      <a:pt x="616" y="481"/>
                    </a:lnTo>
                    <a:lnTo>
                      <a:pt x="604" y="497"/>
                    </a:lnTo>
                    <a:lnTo>
                      <a:pt x="605" y="497"/>
                    </a:lnTo>
                    <a:lnTo>
                      <a:pt x="607" y="494"/>
                    </a:lnTo>
                    <a:lnTo>
                      <a:pt x="608" y="494"/>
                    </a:lnTo>
                    <a:lnTo>
                      <a:pt x="615" y="490"/>
                    </a:lnTo>
                    <a:lnTo>
                      <a:pt x="644" y="469"/>
                    </a:lnTo>
                    <a:lnTo>
                      <a:pt x="669" y="450"/>
                    </a:lnTo>
                    <a:lnTo>
                      <a:pt x="693" y="431"/>
                    </a:lnTo>
                    <a:lnTo>
                      <a:pt x="717" y="410"/>
                    </a:lnTo>
                    <a:lnTo>
                      <a:pt x="742" y="389"/>
                    </a:lnTo>
                    <a:lnTo>
                      <a:pt x="766" y="366"/>
                    </a:lnTo>
                    <a:lnTo>
                      <a:pt x="789" y="343"/>
                    </a:lnTo>
                    <a:lnTo>
                      <a:pt x="811" y="318"/>
                    </a:lnTo>
                    <a:lnTo>
                      <a:pt x="826" y="299"/>
                    </a:lnTo>
                    <a:lnTo>
                      <a:pt x="840" y="279"/>
                    </a:lnTo>
                    <a:lnTo>
                      <a:pt x="852" y="258"/>
                    </a:lnTo>
                    <a:lnTo>
                      <a:pt x="863" y="236"/>
                    </a:lnTo>
                    <a:lnTo>
                      <a:pt x="869" y="216"/>
                    </a:lnTo>
                    <a:lnTo>
                      <a:pt x="874" y="196"/>
                    </a:lnTo>
                    <a:lnTo>
                      <a:pt x="877" y="176"/>
                    </a:lnTo>
                    <a:close/>
                    <a:moveTo>
                      <a:pt x="1333" y="333"/>
                    </a:moveTo>
                    <a:lnTo>
                      <a:pt x="1333" y="296"/>
                    </a:lnTo>
                    <a:lnTo>
                      <a:pt x="1329" y="279"/>
                    </a:lnTo>
                    <a:lnTo>
                      <a:pt x="1325" y="267"/>
                    </a:lnTo>
                    <a:lnTo>
                      <a:pt x="1319" y="255"/>
                    </a:lnTo>
                    <a:lnTo>
                      <a:pt x="1312" y="244"/>
                    </a:lnTo>
                    <a:lnTo>
                      <a:pt x="1299" y="230"/>
                    </a:lnTo>
                    <a:lnTo>
                      <a:pt x="1284" y="219"/>
                    </a:lnTo>
                    <a:lnTo>
                      <a:pt x="1267" y="210"/>
                    </a:lnTo>
                    <a:lnTo>
                      <a:pt x="1249" y="204"/>
                    </a:lnTo>
                    <a:lnTo>
                      <a:pt x="1238" y="202"/>
                    </a:lnTo>
                    <a:lnTo>
                      <a:pt x="1226" y="200"/>
                    </a:lnTo>
                    <a:lnTo>
                      <a:pt x="1214" y="198"/>
                    </a:lnTo>
                    <a:lnTo>
                      <a:pt x="1202" y="197"/>
                    </a:lnTo>
                    <a:lnTo>
                      <a:pt x="1187" y="197"/>
                    </a:lnTo>
                    <a:lnTo>
                      <a:pt x="1173" y="197"/>
                    </a:lnTo>
                    <a:lnTo>
                      <a:pt x="1144" y="198"/>
                    </a:lnTo>
                    <a:lnTo>
                      <a:pt x="1114" y="201"/>
                    </a:lnTo>
                    <a:lnTo>
                      <a:pt x="1082" y="206"/>
                    </a:lnTo>
                    <a:lnTo>
                      <a:pt x="1044" y="213"/>
                    </a:lnTo>
                    <a:lnTo>
                      <a:pt x="1012" y="220"/>
                    </a:lnTo>
                    <a:lnTo>
                      <a:pt x="995" y="224"/>
                    </a:lnTo>
                    <a:lnTo>
                      <a:pt x="994" y="224"/>
                    </a:lnTo>
                    <a:lnTo>
                      <a:pt x="994" y="225"/>
                    </a:lnTo>
                    <a:lnTo>
                      <a:pt x="1017" y="227"/>
                    </a:lnTo>
                    <a:lnTo>
                      <a:pt x="1032" y="229"/>
                    </a:lnTo>
                    <a:lnTo>
                      <a:pt x="1047" y="232"/>
                    </a:lnTo>
                    <a:lnTo>
                      <a:pt x="1062" y="235"/>
                    </a:lnTo>
                    <a:lnTo>
                      <a:pt x="1076" y="239"/>
                    </a:lnTo>
                    <a:lnTo>
                      <a:pt x="1092" y="244"/>
                    </a:lnTo>
                    <a:lnTo>
                      <a:pt x="1106" y="250"/>
                    </a:lnTo>
                    <a:lnTo>
                      <a:pt x="1120" y="258"/>
                    </a:lnTo>
                    <a:lnTo>
                      <a:pt x="1133" y="267"/>
                    </a:lnTo>
                    <a:lnTo>
                      <a:pt x="1154" y="287"/>
                    </a:lnTo>
                    <a:lnTo>
                      <a:pt x="1168" y="310"/>
                    </a:lnTo>
                    <a:lnTo>
                      <a:pt x="1175" y="336"/>
                    </a:lnTo>
                    <a:lnTo>
                      <a:pt x="1176" y="364"/>
                    </a:lnTo>
                    <a:lnTo>
                      <a:pt x="1174" y="378"/>
                    </a:lnTo>
                    <a:lnTo>
                      <a:pt x="1172" y="392"/>
                    </a:lnTo>
                    <a:lnTo>
                      <a:pt x="1168" y="406"/>
                    </a:lnTo>
                    <a:lnTo>
                      <a:pt x="1164" y="420"/>
                    </a:lnTo>
                    <a:lnTo>
                      <a:pt x="1160" y="429"/>
                    </a:lnTo>
                    <a:lnTo>
                      <a:pt x="1156" y="439"/>
                    </a:lnTo>
                    <a:lnTo>
                      <a:pt x="1151" y="448"/>
                    </a:lnTo>
                    <a:lnTo>
                      <a:pt x="1140" y="465"/>
                    </a:lnTo>
                    <a:lnTo>
                      <a:pt x="1128" y="480"/>
                    </a:lnTo>
                    <a:lnTo>
                      <a:pt x="1115" y="494"/>
                    </a:lnTo>
                    <a:lnTo>
                      <a:pt x="1100" y="507"/>
                    </a:lnTo>
                    <a:lnTo>
                      <a:pt x="1075" y="527"/>
                    </a:lnTo>
                    <a:lnTo>
                      <a:pt x="1049" y="544"/>
                    </a:lnTo>
                    <a:lnTo>
                      <a:pt x="1021" y="558"/>
                    </a:lnTo>
                    <a:lnTo>
                      <a:pt x="991" y="570"/>
                    </a:lnTo>
                    <a:lnTo>
                      <a:pt x="966" y="578"/>
                    </a:lnTo>
                    <a:lnTo>
                      <a:pt x="941" y="584"/>
                    </a:lnTo>
                    <a:lnTo>
                      <a:pt x="915" y="589"/>
                    </a:lnTo>
                    <a:lnTo>
                      <a:pt x="890" y="593"/>
                    </a:lnTo>
                    <a:lnTo>
                      <a:pt x="870" y="595"/>
                    </a:lnTo>
                    <a:lnTo>
                      <a:pt x="850" y="597"/>
                    </a:lnTo>
                    <a:lnTo>
                      <a:pt x="830" y="598"/>
                    </a:lnTo>
                    <a:lnTo>
                      <a:pt x="810" y="598"/>
                    </a:lnTo>
                    <a:lnTo>
                      <a:pt x="784" y="598"/>
                    </a:lnTo>
                    <a:lnTo>
                      <a:pt x="758" y="596"/>
                    </a:lnTo>
                    <a:lnTo>
                      <a:pt x="732" y="594"/>
                    </a:lnTo>
                    <a:lnTo>
                      <a:pt x="693" y="590"/>
                    </a:lnTo>
                    <a:lnTo>
                      <a:pt x="656" y="584"/>
                    </a:lnTo>
                    <a:lnTo>
                      <a:pt x="644" y="582"/>
                    </a:lnTo>
                    <a:lnTo>
                      <a:pt x="632" y="579"/>
                    </a:lnTo>
                    <a:lnTo>
                      <a:pt x="609" y="571"/>
                    </a:lnTo>
                    <a:lnTo>
                      <a:pt x="597" y="566"/>
                    </a:lnTo>
                    <a:lnTo>
                      <a:pt x="560" y="549"/>
                    </a:lnTo>
                    <a:lnTo>
                      <a:pt x="559" y="548"/>
                    </a:lnTo>
                    <a:lnTo>
                      <a:pt x="569" y="486"/>
                    </a:lnTo>
                    <a:lnTo>
                      <a:pt x="575" y="446"/>
                    </a:lnTo>
                    <a:lnTo>
                      <a:pt x="584" y="399"/>
                    </a:lnTo>
                    <a:lnTo>
                      <a:pt x="587" y="389"/>
                    </a:lnTo>
                    <a:lnTo>
                      <a:pt x="591" y="368"/>
                    </a:lnTo>
                    <a:lnTo>
                      <a:pt x="598" y="323"/>
                    </a:lnTo>
                    <a:lnTo>
                      <a:pt x="601" y="286"/>
                    </a:lnTo>
                    <a:lnTo>
                      <a:pt x="603" y="260"/>
                    </a:lnTo>
                    <a:lnTo>
                      <a:pt x="604" y="234"/>
                    </a:lnTo>
                    <a:lnTo>
                      <a:pt x="603" y="207"/>
                    </a:lnTo>
                    <a:lnTo>
                      <a:pt x="603" y="194"/>
                    </a:lnTo>
                    <a:lnTo>
                      <a:pt x="601" y="178"/>
                    </a:lnTo>
                    <a:lnTo>
                      <a:pt x="600" y="162"/>
                    </a:lnTo>
                    <a:lnTo>
                      <a:pt x="597" y="146"/>
                    </a:lnTo>
                    <a:lnTo>
                      <a:pt x="594" y="130"/>
                    </a:lnTo>
                    <a:lnTo>
                      <a:pt x="590" y="114"/>
                    </a:lnTo>
                    <a:lnTo>
                      <a:pt x="585" y="98"/>
                    </a:lnTo>
                    <a:lnTo>
                      <a:pt x="579" y="82"/>
                    </a:lnTo>
                    <a:lnTo>
                      <a:pt x="572" y="66"/>
                    </a:lnTo>
                    <a:lnTo>
                      <a:pt x="563" y="51"/>
                    </a:lnTo>
                    <a:lnTo>
                      <a:pt x="553" y="37"/>
                    </a:lnTo>
                    <a:lnTo>
                      <a:pt x="541" y="25"/>
                    </a:lnTo>
                    <a:lnTo>
                      <a:pt x="526" y="15"/>
                    </a:lnTo>
                    <a:lnTo>
                      <a:pt x="510" y="6"/>
                    </a:lnTo>
                    <a:lnTo>
                      <a:pt x="493" y="1"/>
                    </a:lnTo>
                    <a:lnTo>
                      <a:pt x="475" y="0"/>
                    </a:lnTo>
                    <a:lnTo>
                      <a:pt x="457" y="2"/>
                    </a:lnTo>
                    <a:lnTo>
                      <a:pt x="441" y="6"/>
                    </a:lnTo>
                    <a:lnTo>
                      <a:pt x="426" y="13"/>
                    </a:lnTo>
                    <a:lnTo>
                      <a:pt x="412" y="21"/>
                    </a:lnTo>
                    <a:lnTo>
                      <a:pt x="388" y="37"/>
                    </a:lnTo>
                    <a:lnTo>
                      <a:pt x="388" y="45"/>
                    </a:lnTo>
                    <a:lnTo>
                      <a:pt x="392" y="44"/>
                    </a:lnTo>
                    <a:lnTo>
                      <a:pt x="405" y="51"/>
                    </a:lnTo>
                    <a:lnTo>
                      <a:pt x="414" y="58"/>
                    </a:lnTo>
                    <a:lnTo>
                      <a:pt x="421" y="67"/>
                    </a:lnTo>
                    <a:lnTo>
                      <a:pt x="431" y="80"/>
                    </a:lnTo>
                    <a:lnTo>
                      <a:pt x="439" y="93"/>
                    </a:lnTo>
                    <a:lnTo>
                      <a:pt x="446" y="107"/>
                    </a:lnTo>
                    <a:lnTo>
                      <a:pt x="452" y="122"/>
                    </a:lnTo>
                    <a:lnTo>
                      <a:pt x="458" y="139"/>
                    </a:lnTo>
                    <a:lnTo>
                      <a:pt x="463" y="156"/>
                    </a:lnTo>
                    <a:lnTo>
                      <a:pt x="467" y="174"/>
                    </a:lnTo>
                    <a:lnTo>
                      <a:pt x="471" y="191"/>
                    </a:lnTo>
                    <a:lnTo>
                      <a:pt x="474" y="213"/>
                    </a:lnTo>
                    <a:lnTo>
                      <a:pt x="477" y="234"/>
                    </a:lnTo>
                    <a:lnTo>
                      <a:pt x="479" y="255"/>
                    </a:lnTo>
                    <a:lnTo>
                      <a:pt x="481" y="277"/>
                    </a:lnTo>
                    <a:lnTo>
                      <a:pt x="482" y="302"/>
                    </a:lnTo>
                    <a:lnTo>
                      <a:pt x="482" y="327"/>
                    </a:lnTo>
                    <a:lnTo>
                      <a:pt x="482" y="352"/>
                    </a:lnTo>
                    <a:lnTo>
                      <a:pt x="480" y="443"/>
                    </a:lnTo>
                    <a:lnTo>
                      <a:pt x="478" y="482"/>
                    </a:lnTo>
                    <a:lnTo>
                      <a:pt x="479" y="483"/>
                    </a:lnTo>
                    <a:lnTo>
                      <a:pt x="478" y="484"/>
                    </a:lnTo>
                    <a:lnTo>
                      <a:pt x="477" y="483"/>
                    </a:lnTo>
                    <a:lnTo>
                      <a:pt x="466" y="472"/>
                    </a:lnTo>
                    <a:lnTo>
                      <a:pt x="456" y="461"/>
                    </a:lnTo>
                    <a:lnTo>
                      <a:pt x="447" y="450"/>
                    </a:lnTo>
                    <a:lnTo>
                      <a:pt x="438" y="437"/>
                    </a:lnTo>
                    <a:lnTo>
                      <a:pt x="424" y="416"/>
                    </a:lnTo>
                    <a:lnTo>
                      <a:pt x="408" y="394"/>
                    </a:lnTo>
                    <a:lnTo>
                      <a:pt x="392" y="374"/>
                    </a:lnTo>
                    <a:lnTo>
                      <a:pt x="374" y="354"/>
                    </a:lnTo>
                    <a:lnTo>
                      <a:pt x="347" y="327"/>
                    </a:lnTo>
                    <a:lnTo>
                      <a:pt x="317" y="303"/>
                    </a:lnTo>
                    <a:lnTo>
                      <a:pt x="285" y="281"/>
                    </a:lnTo>
                    <a:lnTo>
                      <a:pt x="250" y="263"/>
                    </a:lnTo>
                    <a:lnTo>
                      <a:pt x="241" y="259"/>
                    </a:lnTo>
                    <a:lnTo>
                      <a:pt x="231" y="255"/>
                    </a:lnTo>
                    <a:lnTo>
                      <a:pt x="221" y="252"/>
                    </a:lnTo>
                    <a:lnTo>
                      <a:pt x="205" y="250"/>
                    </a:lnTo>
                    <a:lnTo>
                      <a:pt x="195" y="248"/>
                    </a:lnTo>
                    <a:lnTo>
                      <a:pt x="184" y="248"/>
                    </a:lnTo>
                    <a:lnTo>
                      <a:pt x="172" y="247"/>
                    </a:lnTo>
                    <a:lnTo>
                      <a:pt x="160" y="248"/>
                    </a:lnTo>
                    <a:lnTo>
                      <a:pt x="149" y="249"/>
                    </a:lnTo>
                    <a:lnTo>
                      <a:pt x="136" y="252"/>
                    </a:lnTo>
                    <a:lnTo>
                      <a:pt x="124" y="255"/>
                    </a:lnTo>
                    <a:lnTo>
                      <a:pt x="112" y="259"/>
                    </a:lnTo>
                    <a:lnTo>
                      <a:pt x="100" y="264"/>
                    </a:lnTo>
                    <a:lnTo>
                      <a:pt x="77" y="275"/>
                    </a:lnTo>
                    <a:lnTo>
                      <a:pt x="67" y="284"/>
                    </a:lnTo>
                    <a:lnTo>
                      <a:pt x="54" y="297"/>
                    </a:lnTo>
                    <a:lnTo>
                      <a:pt x="42" y="311"/>
                    </a:lnTo>
                    <a:lnTo>
                      <a:pt x="31" y="327"/>
                    </a:lnTo>
                    <a:lnTo>
                      <a:pt x="22" y="343"/>
                    </a:lnTo>
                    <a:lnTo>
                      <a:pt x="10" y="369"/>
                    </a:lnTo>
                    <a:lnTo>
                      <a:pt x="3" y="396"/>
                    </a:lnTo>
                    <a:lnTo>
                      <a:pt x="0" y="423"/>
                    </a:lnTo>
                    <a:lnTo>
                      <a:pt x="1" y="452"/>
                    </a:lnTo>
                    <a:lnTo>
                      <a:pt x="5" y="473"/>
                    </a:lnTo>
                    <a:lnTo>
                      <a:pt x="10" y="493"/>
                    </a:lnTo>
                    <a:lnTo>
                      <a:pt x="17" y="512"/>
                    </a:lnTo>
                    <a:lnTo>
                      <a:pt x="26" y="531"/>
                    </a:lnTo>
                    <a:lnTo>
                      <a:pt x="35" y="546"/>
                    </a:lnTo>
                    <a:lnTo>
                      <a:pt x="44" y="560"/>
                    </a:lnTo>
                    <a:lnTo>
                      <a:pt x="55" y="574"/>
                    </a:lnTo>
                    <a:lnTo>
                      <a:pt x="68" y="586"/>
                    </a:lnTo>
                    <a:lnTo>
                      <a:pt x="78" y="594"/>
                    </a:lnTo>
                    <a:lnTo>
                      <a:pt x="88" y="602"/>
                    </a:lnTo>
                    <a:lnTo>
                      <a:pt x="99" y="609"/>
                    </a:lnTo>
                    <a:lnTo>
                      <a:pt x="110" y="615"/>
                    </a:lnTo>
                    <a:lnTo>
                      <a:pt x="130" y="623"/>
                    </a:lnTo>
                    <a:lnTo>
                      <a:pt x="150" y="629"/>
                    </a:lnTo>
                    <a:lnTo>
                      <a:pt x="171" y="633"/>
                    </a:lnTo>
                    <a:lnTo>
                      <a:pt x="192" y="635"/>
                    </a:lnTo>
                    <a:lnTo>
                      <a:pt x="211" y="637"/>
                    </a:lnTo>
                    <a:lnTo>
                      <a:pt x="230" y="637"/>
                    </a:lnTo>
                    <a:lnTo>
                      <a:pt x="249" y="636"/>
                    </a:lnTo>
                    <a:lnTo>
                      <a:pt x="268" y="634"/>
                    </a:lnTo>
                    <a:lnTo>
                      <a:pt x="291" y="632"/>
                    </a:lnTo>
                    <a:lnTo>
                      <a:pt x="314" y="628"/>
                    </a:lnTo>
                    <a:lnTo>
                      <a:pt x="336" y="623"/>
                    </a:lnTo>
                    <a:lnTo>
                      <a:pt x="359" y="618"/>
                    </a:lnTo>
                    <a:lnTo>
                      <a:pt x="396" y="608"/>
                    </a:lnTo>
                    <a:lnTo>
                      <a:pt x="409" y="603"/>
                    </a:lnTo>
                    <a:lnTo>
                      <a:pt x="411" y="603"/>
                    </a:lnTo>
                    <a:lnTo>
                      <a:pt x="412" y="601"/>
                    </a:lnTo>
                    <a:lnTo>
                      <a:pt x="407" y="601"/>
                    </a:lnTo>
                    <a:lnTo>
                      <a:pt x="402" y="602"/>
                    </a:lnTo>
                    <a:lnTo>
                      <a:pt x="370" y="603"/>
                    </a:lnTo>
                    <a:lnTo>
                      <a:pt x="342" y="602"/>
                    </a:lnTo>
                    <a:lnTo>
                      <a:pt x="315" y="600"/>
                    </a:lnTo>
                    <a:lnTo>
                      <a:pt x="288" y="596"/>
                    </a:lnTo>
                    <a:lnTo>
                      <a:pt x="269" y="593"/>
                    </a:lnTo>
                    <a:lnTo>
                      <a:pt x="251" y="589"/>
                    </a:lnTo>
                    <a:lnTo>
                      <a:pt x="232" y="584"/>
                    </a:lnTo>
                    <a:lnTo>
                      <a:pt x="214" y="579"/>
                    </a:lnTo>
                    <a:lnTo>
                      <a:pt x="198" y="573"/>
                    </a:lnTo>
                    <a:lnTo>
                      <a:pt x="183" y="566"/>
                    </a:lnTo>
                    <a:lnTo>
                      <a:pt x="168" y="558"/>
                    </a:lnTo>
                    <a:lnTo>
                      <a:pt x="154" y="549"/>
                    </a:lnTo>
                    <a:lnTo>
                      <a:pt x="139" y="538"/>
                    </a:lnTo>
                    <a:lnTo>
                      <a:pt x="125" y="526"/>
                    </a:lnTo>
                    <a:lnTo>
                      <a:pt x="112" y="512"/>
                    </a:lnTo>
                    <a:lnTo>
                      <a:pt x="103" y="496"/>
                    </a:lnTo>
                    <a:lnTo>
                      <a:pt x="96" y="476"/>
                    </a:lnTo>
                    <a:lnTo>
                      <a:pt x="95" y="456"/>
                    </a:lnTo>
                    <a:lnTo>
                      <a:pt x="97" y="437"/>
                    </a:lnTo>
                    <a:lnTo>
                      <a:pt x="105" y="410"/>
                    </a:lnTo>
                    <a:lnTo>
                      <a:pt x="117" y="389"/>
                    </a:lnTo>
                    <a:lnTo>
                      <a:pt x="123" y="381"/>
                    </a:lnTo>
                    <a:lnTo>
                      <a:pt x="129" y="374"/>
                    </a:lnTo>
                    <a:lnTo>
                      <a:pt x="138" y="366"/>
                    </a:lnTo>
                    <a:lnTo>
                      <a:pt x="148" y="360"/>
                    </a:lnTo>
                    <a:lnTo>
                      <a:pt x="159" y="356"/>
                    </a:lnTo>
                    <a:lnTo>
                      <a:pt x="170" y="352"/>
                    </a:lnTo>
                    <a:lnTo>
                      <a:pt x="182" y="351"/>
                    </a:lnTo>
                    <a:lnTo>
                      <a:pt x="194" y="351"/>
                    </a:lnTo>
                    <a:lnTo>
                      <a:pt x="207" y="352"/>
                    </a:lnTo>
                    <a:lnTo>
                      <a:pt x="219" y="355"/>
                    </a:lnTo>
                    <a:lnTo>
                      <a:pt x="235" y="360"/>
                    </a:lnTo>
                    <a:lnTo>
                      <a:pt x="251" y="366"/>
                    </a:lnTo>
                    <a:lnTo>
                      <a:pt x="266" y="373"/>
                    </a:lnTo>
                    <a:lnTo>
                      <a:pt x="281" y="382"/>
                    </a:lnTo>
                    <a:lnTo>
                      <a:pt x="306" y="398"/>
                    </a:lnTo>
                    <a:lnTo>
                      <a:pt x="329" y="415"/>
                    </a:lnTo>
                    <a:lnTo>
                      <a:pt x="351" y="433"/>
                    </a:lnTo>
                    <a:lnTo>
                      <a:pt x="373" y="453"/>
                    </a:lnTo>
                    <a:lnTo>
                      <a:pt x="420" y="497"/>
                    </a:lnTo>
                    <a:lnTo>
                      <a:pt x="430" y="506"/>
                    </a:lnTo>
                    <a:lnTo>
                      <a:pt x="441" y="515"/>
                    </a:lnTo>
                    <a:lnTo>
                      <a:pt x="470" y="537"/>
                    </a:lnTo>
                    <a:lnTo>
                      <a:pt x="475" y="540"/>
                    </a:lnTo>
                    <a:lnTo>
                      <a:pt x="476" y="541"/>
                    </a:lnTo>
                    <a:lnTo>
                      <a:pt x="475" y="547"/>
                    </a:lnTo>
                    <a:lnTo>
                      <a:pt x="475" y="551"/>
                    </a:lnTo>
                    <a:lnTo>
                      <a:pt x="473" y="564"/>
                    </a:lnTo>
                    <a:lnTo>
                      <a:pt x="455" y="681"/>
                    </a:lnTo>
                    <a:lnTo>
                      <a:pt x="453" y="692"/>
                    </a:lnTo>
                    <a:lnTo>
                      <a:pt x="451" y="702"/>
                    </a:lnTo>
                    <a:lnTo>
                      <a:pt x="449" y="720"/>
                    </a:lnTo>
                    <a:lnTo>
                      <a:pt x="448" y="738"/>
                    </a:lnTo>
                    <a:lnTo>
                      <a:pt x="448" y="755"/>
                    </a:lnTo>
                    <a:lnTo>
                      <a:pt x="450" y="773"/>
                    </a:lnTo>
                    <a:lnTo>
                      <a:pt x="452" y="783"/>
                    </a:lnTo>
                    <a:lnTo>
                      <a:pt x="455" y="794"/>
                    </a:lnTo>
                    <a:lnTo>
                      <a:pt x="459" y="803"/>
                    </a:lnTo>
                    <a:lnTo>
                      <a:pt x="465" y="813"/>
                    </a:lnTo>
                    <a:lnTo>
                      <a:pt x="471" y="821"/>
                    </a:lnTo>
                    <a:lnTo>
                      <a:pt x="479" y="828"/>
                    </a:lnTo>
                    <a:lnTo>
                      <a:pt x="488" y="833"/>
                    </a:lnTo>
                    <a:lnTo>
                      <a:pt x="498" y="836"/>
                    </a:lnTo>
                    <a:lnTo>
                      <a:pt x="511" y="839"/>
                    </a:lnTo>
                    <a:lnTo>
                      <a:pt x="523" y="837"/>
                    </a:lnTo>
                    <a:lnTo>
                      <a:pt x="535" y="832"/>
                    </a:lnTo>
                    <a:lnTo>
                      <a:pt x="554" y="824"/>
                    </a:lnTo>
                    <a:lnTo>
                      <a:pt x="571" y="813"/>
                    </a:lnTo>
                    <a:lnTo>
                      <a:pt x="587" y="800"/>
                    </a:lnTo>
                    <a:lnTo>
                      <a:pt x="603" y="784"/>
                    </a:lnTo>
                    <a:lnTo>
                      <a:pt x="593" y="779"/>
                    </a:lnTo>
                    <a:lnTo>
                      <a:pt x="587" y="774"/>
                    </a:lnTo>
                    <a:lnTo>
                      <a:pt x="577" y="758"/>
                    </a:lnTo>
                    <a:lnTo>
                      <a:pt x="572" y="749"/>
                    </a:lnTo>
                    <a:lnTo>
                      <a:pt x="566" y="728"/>
                    </a:lnTo>
                    <a:lnTo>
                      <a:pt x="564" y="718"/>
                    </a:lnTo>
                    <a:lnTo>
                      <a:pt x="562" y="707"/>
                    </a:lnTo>
                    <a:lnTo>
                      <a:pt x="560" y="696"/>
                    </a:lnTo>
                    <a:lnTo>
                      <a:pt x="558" y="680"/>
                    </a:lnTo>
                    <a:lnTo>
                      <a:pt x="557" y="664"/>
                    </a:lnTo>
                    <a:lnTo>
                      <a:pt x="557" y="648"/>
                    </a:lnTo>
                    <a:lnTo>
                      <a:pt x="556" y="619"/>
                    </a:lnTo>
                    <a:lnTo>
                      <a:pt x="557" y="606"/>
                    </a:lnTo>
                    <a:lnTo>
                      <a:pt x="557" y="587"/>
                    </a:lnTo>
                    <a:lnTo>
                      <a:pt x="558" y="587"/>
                    </a:lnTo>
                    <a:lnTo>
                      <a:pt x="574" y="595"/>
                    </a:lnTo>
                    <a:lnTo>
                      <a:pt x="596" y="604"/>
                    </a:lnTo>
                    <a:lnTo>
                      <a:pt x="619" y="612"/>
                    </a:lnTo>
                    <a:lnTo>
                      <a:pt x="641" y="620"/>
                    </a:lnTo>
                    <a:lnTo>
                      <a:pt x="664" y="627"/>
                    </a:lnTo>
                    <a:lnTo>
                      <a:pt x="699" y="637"/>
                    </a:lnTo>
                    <a:lnTo>
                      <a:pt x="745" y="648"/>
                    </a:lnTo>
                    <a:lnTo>
                      <a:pt x="779" y="654"/>
                    </a:lnTo>
                    <a:lnTo>
                      <a:pt x="812" y="658"/>
                    </a:lnTo>
                    <a:lnTo>
                      <a:pt x="838" y="660"/>
                    </a:lnTo>
                    <a:lnTo>
                      <a:pt x="865" y="661"/>
                    </a:lnTo>
                    <a:lnTo>
                      <a:pt x="892" y="661"/>
                    </a:lnTo>
                    <a:lnTo>
                      <a:pt x="927" y="661"/>
                    </a:lnTo>
                    <a:lnTo>
                      <a:pt x="948" y="659"/>
                    </a:lnTo>
                    <a:lnTo>
                      <a:pt x="982" y="654"/>
                    </a:lnTo>
                    <a:lnTo>
                      <a:pt x="1005" y="649"/>
                    </a:lnTo>
                    <a:lnTo>
                      <a:pt x="1027" y="644"/>
                    </a:lnTo>
                    <a:lnTo>
                      <a:pt x="1056" y="636"/>
                    </a:lnTo>
                    <a:lnTo>
                      <a:pt x="1071" y="632"/>
                    </a:lnTo>
                    <a:lnTo>
                      <a:pt x="1085" y="627"/>
                    </a:lnTo>
                    <a:lnTo>
                      <a:pt x="1114" y="616"/>
                    </a:lnTo>
                    <a:lnTo>
                      <a:pt x="1141" y="604"/>
                    </a:lnTo>
                    <a:lnTo>
                      <a:pt x="1167" y="589"/>
                    </a:lnTo>
                    <a:lnTo>
                      <a:pt x="1193" y="572"/>
                    </a:lnTo>
                    <a:lnTo>
                      <a:pt x="1219" y="552"/>
                    </a:lnTo>
                    <a:lnTo>
                      <a:pt x="1242" y="529"/>
                    </a:lnTo>
                    <a:lnTo>
                      <a:pt x="1263" y="504"/>
                    </a:lnTo>
                    <a:lnTo>
                      <a:pt x="1281" y="476"/>
                    </a:lnTo>
                    <a:lnTo>
                      <a:pt x="1286" y="466"/>
                    </a:lnTo>
                    <a:lnTo>
                      <a:pt x="1301" y="434"/>
                    </a:lnTo>
                    <a:lnTo>
                      <a:pt x="1312" y="409"/>
                    </a:lnTo>
                    <a:lnTo>
                      <a:pt x="1321" y="385"/>
                    </a:lnTo>
                    <a:lnTo>
                      <a:pt x="1328" y="359"/>
                    </a:lnTo>
                    <a:lnTo>
                      <a:pt x="1333" y="333"/>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6" name="Group 25">
              <a:extLst>
                <a:ext uri="{FF2B5EF4-FFF2-40B4-BE49-F238E27FC236}">
                  <a16:creationId xmlns:a16="http://schemas.microsoft.com/office/drawing/2014/main" id="{11C2A185-B7D7-D9E0-8550-457B3FE20062}"/>
                </a:ext>
              </a:extLst>
            </p:cNvPr>
            <p:cNvGrpSpPr>
              <a:grpSpLocks/>
            </p:cNvGrpSpPr>
            <p:nvPr/>
          </p:nvGrpSpPr>
          <p:grpSpPr bwMode="auto">
            <a:xfrm>
              <a:off x="24" y="883"/>
              <a:ext cx="1410" cy="296"/>
              <a:chOff x="24" y="883"/>
              <a:chExt cx="1410" cy="296"/>
            </a:xfrm>
          </p:grpSpPr>
          <p:pic>
            <p:nvPicPr>
              <p:cNvPr id="30" name="Picture 29">
                <a:extLst>
                  <a:ext uri="{FF2B5EF4-FFF2-40B4-BE49-F238E27FC236}">
                    <a16:creationId xmlns:a16="http://schemas.microsoft.com/office/drawing/2014/main" id="{0F155C58-97A0-8A8A-6A7A-B5236B86FE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 y="884"/>
                <a:ext cx="523" cy="29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D67BAE80-4AC9-730E-DB12-80C6ABE338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 y="884"/>
                <a:ext cx="246" cy="295"/>
              </a:xfrm>
              <a:prstGeom prst="rect">
                <a:avLst/>
              </a:prstGeom>
              <a:noFill/>
              <a:extLst>
                <a:ext uri="{909E8E84-426E-40DD-AFC4-6F175D3DCCD1}">
                  <a14:hiddenFill xmlns:a14="http://schemas.microsoft.com/office/drawing/2010/main">
                    <a:solidFill>
                      <a:srgbClr val="FFFFFF"/>
                    </a:solidFill>
                  </a14:hiddenFill>
                </a:ext>
              </a:extLst>
            </p:spPr>
          </p:pic>
          <p:sp>
            <p:nvSpPr>
              <p:cNvPr id="32" name="AutoShape 371">
                <a:extLst>
                  <a:ext uri="{FF2B5EF4-FFF2-40B4-BE49-F238E27FC236}">
                    <a16:creationId xmlns:a16="http://schemas.microsoft.com/office/drawing/2014/main" id="{80216B33-6E47-E9BA-DA18-3BD076580CAB}"/>
                  </a:ext>
                </a:extLst>
              </p:cNvPr>
              <p:cNvSpPr>
                <a:spLocks/>
              </p:cNvSpPr>
              <p:nvPr/>
            </p:nvSpPr>
            <p:spPr bwMode="auto">
              <a:xfrm>
                <a:off x="864" y="883"/>
                <a:ext cx="570" cy="296"/>
              </a:xfrm>
              <a:custGeom>
                <a:avLst/>
                <a:gdLst>
                  <a:gd name="T0" fmla="*/ 56 w 570"/>
                  <a:gd name="T1" fmla="*/ 1468 h 296"/>
                  <a:gd name="T2" fmla="*/ 0 w 570"/>
                  <a:gd name="T3" fmla="*/ 1468 h 296"/>
                  <a:gd name="T4" fmla="*/ 0 w 570"/>
                  <a:gd name="T5" fmla="*/ 1763 h 296"/>
                  <a:gd name="T6" fmla="*/ 56 w 570"/>
                  <a:gd name="T7" fmla="*/ 1763 h 296"/>
                  <a:gd name="T8" fmla="*/ 56 w 570"/>
                  <a:gd name="T9" fmla="*/ 1468 h 296"/>
                  <a:gd name="T10" fmla="*/ 319 w 570"/>
                  <a:gd name="T11" fmla="*/ 1468 h 296"/>
                  <a:gd name="T12" fmla="*/ 109 w 570"/>
                  <a:gd name="T13" fmla="*/ 1468 h 296"/>
                  <a:gd name="T14" fmla="*/ 109 w 570"/>
                  <a:gd name="T15" fmla="*/ 1518 h 296"/>
                  <a:gd name="T16" fmla="*/ 109 w 570"/>
                  <a:gd name="T17" fmla="*/ 1590 h 296"/>
                  <a:gd name="T18" fmla="*/ 109 w 570"/>
                  <a:gd name="T19" fmla="*/ 1638 h 296"/>
                  <a:gd name="T20" fmla="*/ 109 w 570"/>
                  <a:gd name="T21" fmla="*/ 1714 h 296"/>
                  <a:gd name="T22" fmla="*/ 109 w 570"/>
                  <a:gd name="T23" fmla="*/ 1764 h 296"/>
                  <a:gd name="T24" fmla="*/ 319 w 570"/>
                  <a:gd name="T25" fmla="*/ 1764 h 296"/>
                  <a:gd name="T26" fmla="*/ 319 w 570"/>
                  <a:gd name="T27" fmla="*/ 1714 h 296"/>
                  <a:gd name="T28" fmla="*/ 165 w 570"/>
                  <a:gd name="T29" fmla="*/ 1714 h 296"/>
                  <a:gd name="T30" fmla="*/ 165 w 570"/>
                  <a:gd name="T31" fmla="*/ 1638 h 296"/>
                  <a:gd name="T32" fmla="*/ 298 w 570"/>
                  <a:gd name="T33" fmla="*/ 1638 h 296"/>
                  <a:gd name="T34" fmla="*/ 298 w 570"/>
                  <a:gd name="T35" fmla="*/ 1590 h 296"/>
                  <a:gd name="T36" fmla="*/ 165 w 570"/>
                  <a:gd name="T37" fmla="*/ 1590 h 296"/>
                  <a:gd name="T38" fmla="*/ 165 w 570"/>
                  <a:gd name="T39" fmla="*/ 1518 h 296"/>
                  <a:gd name="T40" fmla="*/ 319 w 570"/>
                  <a:gd name="T41" fmla="*/ 1518 h 296"/>
                  <a:gd name="T42" fmla="*/ 319 w 570"/>
                  <a:gd name="T43" fmla="*/ 1468 h 296"/>
                  <a:gd name="T44" fmla="*/ 570 w 570"/>
                  <a:gd name="T45" fmla="*/ 1468 h 296"/>
                  <a:gd name="T46" fmla="*/ 337 w 570"/>
                  <a:gd name="T47" fmla="*/ 1468 h 296"/>
                  <a:gd name="T48" fmla="*/ 337 w 570"/>
                  <a:gd name="T49" fmla="*/ 1518 h 296"/>
                  <a:gd name="T50" fmla="*/ 425 w 570"/>
                  <a:gd name="T51" fmla="*/ 1518 h 296"/>
                  <a:gd name="T52" fmla="*/ 425 w 570"/>
                  <a:gd name="T53" fmla="*/ 1764 h 296"/>
                  <a:gd name="T54" fmla="*/ 481 w 570"/>
                  <a:gd name="T55" fmla="*/ 1764 h 296"/>
                  <a:gd name="T56" fmla="*/ 481 w 570"/>
                  <a:gd name="T57" fmla="*/ 1518 h 296"/>
                  <a:gd name="T58" fmla="*/ 570 w 570"/>
                  <a:gd name="T59" fmla="*/ 1518 h 296"/>
                  <a:gd name="T60" fmla="*/ 570 w 570"/>
                  <a:gd name="T61" fmla="*/ 1468 h 2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570" h="296">
                    <a:moveTo>
                      <a:pt x="56" y="0"/>
                    </a:moveTo>
                    <a:lnTo>
                      <a:pt x="0" y="0"/>
                    </a:lnTo>
                    <a:lnTo>
                      <a:pt x="0" y="295"/>
                    </a:lnTo>
                    <a:lnTo>
                      <a:pt x="56" y="295"/>
                    </a:lnTo>
                    <a:lnTo>
                      <a:pt x="56" y="0"/>
                    </a:lnTo>
                    <a:close/>
                    <a:moveTo>
                      <a:pt x="319" y="0"/>
                    </a:moveTo>
                    <a:lnTo>
                      <a:pt x="109" y="0"/>
                    </a:lnTo>
                    <a:lnTo>
                      <a:pt x="109" y="50"/>
                    </a:lnTo>
                    <a:lnTo>
                      <a:pt x="109" y="122"/>
                    </a:lnTo>
                    <a:lnTo>
                      <a:pt x="109" y="170"/>
                    </a:lnTo>
                    <a:lnTo>
                      <a:pt x="109" y="246"/>
                    </a:lnTo>
                    <a:lnTo>
                      <a:pt x="109" y="296"/>
                    </a:lnTo>
                    <a:lnTo>
                      <a:pt x="319" y="296"/>
                    </a:lnTo>
                    <a:lnTo>
                      <a:pt x="319" y="246"/>
                    </a:lnTo>
                    <a:lnTo>
                      <a:pt x="165" y="246"/>
                    </a:lnTo>
                    <a:lnTo>
                      <a:pt x="165" y="170"/>
                    </a:lnTo>
                    <a:lnTo>
                      <a:pt x="298" y="170"/>
                    </a:lnTo>
                    <a:lnTo>
                      <a:pt x="298" y="122"/>
                    </a:lnTo>
                    <a:lnTo>
                      <a:pt x="165" y="122"/>
                    </a:lnTo>
                    <a:lnTo>
                      <a:pt x="165" y="50"/>
                    </a:lnTo>
                    <a:lnTo>
                      <a:pt x="319" y="50"/>
                    </a:lnTo>
                    <a:lnTo>
                      <a:pt x="319" y="0"/>
                    </a:lnTo>
                    <a:close/>
                    <a:moveTo>
                      <a:pt x="570" y="0"/>
                    </a:moveTo>
                    <a:lnTo>
                      <a:pt x="337" y="0"/>
                    </a:lnTo>
                    <a:lnTo>
                      <a:pt x="337" y="50"/>
                    </a:lnTo>
                    <a:lnTo>
                      <a:pt x="425" y="50"/>
                    </a:lnTo>
                    <a:lnTo>
                      <a:pt x="425" y="296"/>
                    </a:lnTo>
                    <a:lnTo>
                      <a:pt x="481" y="296"/>
                    </a:lnTo>
                    <a:lnTo>
                      <a:pt x="481" y="50"/>
                    </a:lnTo>
                    <a:lnTo>
                      <a:pt x="570" y="50"/>
                    </a:lnTo>
                    <a:lnTo>
                      <a:pt x="570" y="0"/>
                    </a:lnTo>
                    <a:close/>
                  </a:path>
                </a:pathLst>
              </a:custGeom>
              <a:solidFill>
                <a:srgbClr val="16519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IN"/>
              </a:p>
            </p:txBody>
          </p:sp>
        </p:grpSp>
        <p:grpSp>
          <p:nvGrpSpPr>
            <p:cNvPr id="27" name="Group 26">
              <a:extLst>
                <a:ext uri="{FF2B5EF4-FFF2-40B4-BE49-F238E27FC236}">
                  <a16:creationId xmlns:a16="http://schemas.microsoft.com/office/drawing/2014/main" id="{51AF6337-BC06-885A-1F27-06FEDA281E29}"/>
                </a:ext>
              </a:extLst>
            </p:cNvPr>
            <p:cNvGrpSpPr>
              <a:grpSpLocks/>
            </p:cNvGrpSpPr>
            <p:nvPr/>
          </p:nvGrpSpPr>
          <p:grpSpPr bwMode="auto">
            <a:xfrm>
              <a:off x="191" y="1279"/>
              <a:ext cx="1059" cy="145"/>
              <a:chOff x="191" y="1279"/>
              <a:chExt cx="1059" cy="145"/>
            </a:xfrm>
          </p:grpSpPr>
          <p:pic>
            <p:nvPicPr>
              <p:cNvPr id="28" name="Picture 27">
                <a:extLst>
                  <a:ext uri="{FF2B5EF4-FFF2-40B4-BE49-F238E27FC236}">
                    <a16:creationId xmlns:a16="http://schemas.microsoft.com/office/drawing/2014/main" id="{2261ABB5-23C1-9BA9-C2CF-50BE2A0EC8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1" y="1279"/>
                <a:ext cx="433" cy="12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3A74D7DD-A352-D012-5E75-4142DF79A5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 y="1279"/>
                <a:ext cx="568" cy="145"/>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1" name="Picture 40">
            <a:extLst>
              <a:ext uri="{FF2B5EF4-FFF2-40B4-BE49-F238E27FC236}">
                <a16:creationId xmlns:a16="http://schemas.microsoft.com/office/drawing/2014/main" id="{B99AE074-2124-39F6-3F41-59CD5D79BE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624206" y="181487"/>
            <a:ext cx="1837456" cy="9187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667</Words>
  <Application>Microsoft Office PowerPoint</Application>
  <PresentationFormat>Custom</PresentationFormat>
  <Paragraphs>67</Paragraphs>
  <Slides>11</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Akzidenz-Grotesk Heavy</vt:lpstr>
      <vt:lpstr>Calibri</vt:lpstr>
      <vt:lpstr>Open Sauce</vt:lpstr>
      <vt:lpstr>Open Sauce Bold</vt:lpstr>
      <vt:lpstr>Akzidenz-Grotesk Bold</vt:lpstr>
      <vt:lpstr>Open Sauce Heavy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KPRIET</dc:title>
  <dc:creator>Sridharshini</dc:creator>
  <cp:lastModifiedBy>Samhita Manikandan</cp:lastModifiedBy>
  <cp:revision>8</cp:revision>
  <dcterms:created xsi:type="dcterms:W3CDTF">2006-08-16T00:00:00Z</dcterms:created>
  <dcterms:modified xsi:type="dcterms:W3CDTF">2026-06-08T05:36:23Z</dcterms:modified>
  <dc:identifier>DAHL53mG-rc</dc:identifier>
</cp:coreProperties>
</file>